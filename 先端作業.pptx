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19534-A1BC-5925-CE4F-02BDBA9AD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7ABC93-2C83-0F9D-CD1E-AC122410D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18658-5D3E-E9C6-813F-6085795D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6CC74-CBAD-A5E4-DA72-DEBEACC2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9CC95D-A480-86FF-82E9-EC974586C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22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B5A28-A196-0EE0-AA11-79D3B900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EEA879-4562-01D3-67F0-BAF595AFD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30CBD-92C2-C76E-C833-25426D7E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D46FAA-45BA-99A7-3682-CC987FEC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90A7D8-A7E6-9D89-E87E-43FCFB9B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00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C3863-9180-49FD-DB65-39DBD8F7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53D077-9A21-72C4-647B-06ED9D75C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318F8D-685C-46D7-A8A4-8E620FEF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58B617-6D60-BBD5-6D25-6B1362B9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60CE61-6632-B36B-59DD-BA55C48E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0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FC6C9-5118-38F3-8A06-32E4F9E5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CB702-A5E2-4099-2383-16D649CFC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9C83B7-2D08-0FAA-AC3B-D075AC97B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A5B8F4-379C-2CBC-742E-24D5E155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21829E-4EB0-26DE-7E21-1DC322623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F12368-4201-D5D6-2819-A0AC8F58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52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DD11C-09C6-0E64-878B-F20C7D98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CC30BE-85B0-1FB8-74DF-B68996CCD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011AB8-4AA3-1E4F-B2D2-75AD54CE9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5C07B8-EE5C-21EF-E104-ED0B8A3D2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6409C9-98CD-0D0D-5A88-13F296276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A49E7F-FCA8-1C37-0834-1E31F84A3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FA4FC1-EA8D-6DE3-83B3-278DF1AC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0BEC53-1380-420D-9758-B5F90340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073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754D0-D1E6-AD25-6CBC-308ED417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F84EF2-39F7-F0AD-184F-74390B79A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37FEE7-A2EF-2FBB-0DC2-5B051F9C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7CF24F-410B-CD88-428E-C36B600D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44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1D27EC-08FB-A3A0-D73B-8072D4F3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26841D-FC31-771A-229A-6741E295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B68C-D3F7-066D-26E5-212E3DB3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55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3A55-7AF0-E2A9-DF32-DDED5DBE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736A70-CF13-E122-C959-885572EAA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53E024-FC91-0CDB-5EDD-07FADE088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C710DE-3611-1CD7-3003-666D76EC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54A523-2E51-0AC6-75F4-F6540E3BB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FE2836-B39B-E5C5-652D-E1A30BD0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63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EF5C7-1EC7-73CC-DE31-33FD4B12C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6CF952-34D0-A705-6758-D4A749AFD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73ADB8-D97F-EE02-0D60-C7B756D56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A50D98-DD2A-45B9-0E60-0D5F4E19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D703FB-9037-1A3C-1B87-3BED6F50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743CFD-A179-950B-70D4-419807C8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46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0EFEE-C944-5FAE-8DA3-B26AA61A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14D83A-FED8-9B38-896E-069FD4ED0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3ECA9-464E-C9CD-7F6A-7EE9FF93D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D4DC23-1D22-2BFB-F2B6-8B0BBE6F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18F32-6852-DBB9-A777-F6E3EA60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97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532C21-C932-C1BF-675E-D3574BFFB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CA41C0-3769-9231-16B2-858DC85BA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CEADBA-F12E-FEE5-3BC7-8450C3647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E78DA-EAF6-38F3-314D-2D51F3AE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CF8043-0ADB-C37A-41C6-70D859FA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BB91A0-FD65-0CFD-DBD3-7C9D11AF8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FE6305-27A0-9291-6218-1A325E2E5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E6FB7A-0C60-4644-5A32-F9FB0E366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4294A-EEF0-4B2B-9B26-4255AD51610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6AA86A-9BAB-B786-A1EE-C4DE9A931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4AC43-D6F7-DB2E-127D-E47BDDA1B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B47A1-C80A-439D-BA2E-FAED6F604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30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6FE19F8-41CF-D008-8197-752B840A86B5}"/>
              </a:ext>
            </a:extLst>
          </p:cNvPr>
          <p:cNvSpPr/>
          <p:nvPr/>
        </p:nvSpPr>
        <p:spPr>
          <a:xfrm>
            <a:off x="1129553" y="2421480"/>
            <a:ext cx="2709898" cy="5105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クライアント先</a:t>
            </a:r>
            <a:endParaRPr lang="en-US" altLang="ja-JP" sz="1600" dirty="0"/>
          </a:p>
          <a:p>
            <a:pPr algn="ctr"/>
            <a:r>
              <a:rPr lang="ja-JP" altLang="en-US" sz="1600" dirty="0"/>
              <a:t>服部様</a:t>
            </a:r>
            <a:endParaRPr lang="zh-CN" altLang="en-US"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794EA5-9CF7-5DEC-CB6B-0F78AA6D8A26}"/>
              </a:ext>
            </a:extLst>
          </p:cNvPr>
          <p:cNvSpPr/>
          <p:nvPr/>
        </p:nvSpPr>
        <p:spPr>
          <a:xfrm>
            <a:off x="705971" y="1559859"/>
            <a:ext cx="3845858" cy="430305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22F21F-6C7D-5120-DC3D-9F2C4F5B1125}"/>
              </a:ext>
            </a:extLst>
          </p:cNvPr>
          <p:cNvSpPr/>
          <p:nvPr/>
        </p:nvSpPr>
        <p:spPr>
          <a:xfrm>
            <a:off x="5375667" y="1695339"/>
            <a:ext cx="1805062" cy="39924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NTT</a:t>
            </a:r>
            <a:r>
              <a:rPr lang="ja-JP" altLang="en-US" sz="1400" b="1" dirty="0"/>
              <a:t>データ先端技術</a:t>
            </a:r>
            <a:endParaRPr lang="zh-CN" altLang="en-US" sz="1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B0D949-8D27-1938-0FCC-8C16E7B622F0}"/>
              </a:ext>
            </a:extLst>
          </p:cNvPr>
          <p:cNvSpPr/>
          <p:nvPr/>
        </p:nvSpPr>
        <p:spPr>
          <a:xfrm>
            <a:off x="1129553" y="4059180"/>
            <a:ext cx="2709898" cy="5105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プロジェクトマネージャー</a:t>
            </a:r>
            <a:endParaRPr lang="en-US" altLang="ja-JP" sz="1600" dirty="0"/>
          </a:p>
          <a:p>
            <a:pPr algn="ctr"/>
            <a:r>
              <a:rPr lang="ja-JP" altLang="en-US" sz="1600" dirty="0"/>
              <a:t>北川</a:t>
            </a:r>
            <a:endParaRPr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A58DF3-5E48-BD63-AF94-3DF180D2CD96}"/>
              </a:ext>
            </a:extLst>
          </p:cNvPr>
          <p:cNvSpPr/>
          <p:nvPr/>
        </p:nvSpPr>
        <p:spPr>
          <a:xfrm>
            <a:off x="4820770" y="1559858"/>
            <a:ext cx="6958853" cy="430305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6911C6-CAA3-6A6E-8E43-63C15E4157A0}"/>
              </a:ext>
            </a:extLst>
          </p:cNvPr>
          <p:cNvSpPr/>
          <p:nvPr/>
        </p:nvSpPr>
        <p:spPr>
          <a:xfrm>
            <a:off x="757171" y="1695339"/>
            <a:ext cx="1058750" cy="39924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NTTD</a:t>
            </a:r>
            <a:endParaRPr lang="zh-CN" altLang="en-US" sz="16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1817C8-8E9B-7E24-F7E9-2541C6AC0F63}"/>
              </a:ext>
            </a:extLst>
          </p:cNvPr>
          <p:cNvSpPr/>
          <p:nvPr/>
        </p:nvSpPr>
        <p:spPr>
          <a:xfrm>
            <a:off x="7180729" y="2427250"/>
            <a:ext cx="2709898" cy="5105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プロジェクトリーダー</a:t>
            </a:r>
            <a:endParaRPr lang="en-US" altLang="ja-JP" sz="1600" dirty="0"/>
          </a:p>
          <a:p>
            <a:pPr algn="ctr"/>
            <a:r>
              <a:rPr lang="ja-JP" altLang="en-US" sz="1600" dirty="0"/>
              <a:t>為我井</a:t>
            </a:r>
            <a:endParaRPr lang="zh-CN" altLang="en-US" sz="16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3E02F91-66C5-85AF-6D98-1D866808FCE8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3839451" y="2676769"/>
            <a:ext cx="3341278" cy="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5ADD486-01CF-77A9-7941-39302E6D52B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2484502" y="2932058"/>
            <a:ext cx="0" cy="112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55BDBBCC-9FE6-2E5E-C2CD-53FECE9876BA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3839451" y="2682539"/>
            <a:ext cx="3341278" cy="1631930"/>
          </a:xfrm>
          <a:prstGeom prst="bentConnector3">
            <a:avLst>
              <a:gd name="adj1" fmla="val 351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C4748D8-3A75-1FCF-6159-DCD598778135}"/>
              </a:ext>
            </a:extLst>
          </p:cNvPr>
          <p:cNvSpPr/>
          <p:nvPr/>
        </p:nvSpPr>
        <p:spPr>
          <a:xfrm>
            <a:off x="5134219" y="3637429"/>
            <a:ext cx="6351810" cy="203407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005C7F-32EA-1A43-0175-3D25ECEDC7E6}"/>
              </a:ext>
            </a:extLst>
          </p:cNvPr>
          <p:cNvSpPr/>
          <p:nvPr/>
        </p:nvSpPr>
        <p:spPr>
          <a:xfrm>
            <a:off x="5194399" y="3786758"/>
            <a:ext cx="1042778" cy="16676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b="1" dirty="0"/>
              <a:t>協力会社</a:t>
            </a:r>
            <a:endParaRPr lang="zh-CN" altLang="en-US" sz="1400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90C621-4425-7F1C-5EE2-7CD41A86D249}"/>
              </a:ext>
            </a:extLst>
          </p:cNvPr>
          <p:cNvSpPr/>
          <p:nvPr/>
        </p:nvSpPr>
        <p:spPr>
          <a:xfrm>
            <a:off x="6027960" y="4133138"/>
            <a:ext cx="1042778" cy="4366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監督者</a:t>
            </a:r>
            <a:endParaRPr lang="en-US" altLang="ja-JP" sz="1400" dirty="0"/>
          </a:p>
          <a:p>
            <a:pPr algn="ctr"/>
            <a:r>
              <a:rPr lang="ja-JP" altLang="en-US" sz="1400" dirty="0"/>
              <a:t>酒井</a:t>
            </a:r>
            <a:endParaRPr lang="zh-CN" altLang="en-US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71DDEE-1D24-774E-7646-5DE0CFF952CC}"/>
              </a:ext>
            </a:extLst>
          </p:cNvPr>
          <p:cNvSpPr/>
          <p:nvPr/>
        </p:nvSpPr>
        <p:spPr>
          <a:xfrm>
            <a:off x="5194399" y="5010459"/>
            <a:ext cx="1280360" cy="4366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エンジニア</a:t>
            </a:r>
            <a:endParaRPr lang="en-US" altLang="ja-JP" sz="1400" dirty="0"/>
          </a:p>
          <a:p>
            <a:pPr algn="ctr"/>
            <a:r>
              <a:rPr lang="ja-JP" altLang="en-US" sz="1400" dirty="0"/>
              <a:t>呉</a:t>
            </a:r>
            <a:endParaRPr lang="zh-CN" altLang="en-US" sz="14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3FFCFD-EAA7-AEB0-0A96-476AF6BEBEFA}"/>
              </a:ext>
            </a:extLst>
          </p:cNvPr>
          <p:cNvSpPr/>
          <p:nvPr/>
        </p:nvSpPr>
        <p:spPr>
          <a:xfrm>
            <a:off x="6743700" y="5010459"/>
            <a:ext cx="1202560" cy="4366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エンジニア</a:t>
            </a:r>
            <a:endParaRPr lang="en-US" altLang="ja-JP" sz="1400" dirty="0"/>
          </a:p>
          <a:p>
            <a:pPr algn="ctr"/>
            <a:r>
              <a:rPr lang="ja-JP" altLang="en-US" sz="1400" dirty="0"/>
              <a:t>サミター</a:t>
            </a:r>
            <a:endParaRPr lang="zh-CN" altLang="en-US" sz="1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8C0A8B4-9767-317D-61BE-ED6EDCB032F8}"/>
              </a:ext>
            </a:extLst>
          </p:cNvPr>
          <p:cNvSpPr/>
          <p:nvPr/>
        </p:nvSpPr>
        <p:spPr>
          <a:xfrm>
            <a:off x="10068659" y="4133138"/>
            <a:ext cx="1042778" cy="4366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監督者</a:t>
            </a:r>
            <a:endParaRPr lang="en-US" altLang="ja-JP" sz="1400" dirty="0"/>
          </a:p>
          <a:p>
            <a:pPr algn="ctr"/>
            <a:r>
              <a:rPr lang="ja-JP" altLang="en-US" sz="1400" dirty="0"/>
              <a:t>井上</a:t>
            </a:r>
            <a:endParaRPr lang="zh-CN" altLang="en-US" sz="14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7EBAB5-5990-E0DB-7AC6-6765D26592B9}"/>
              </a:ext>
            </a:extLst>
          </p:cNvPr>
          <p:cNvSpPr/>
          <p:nvPr/>
        </p:nvSpPr>
        <p:spPr>
          <a:xfrm>
            <a:off x="8373189" y="5010459"/>
            <a:ext cx="1280360" cy="4366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エンジニア</a:t>
            </a:r>
            <a:endParaRPr lang="en-US" altLang="ja-JP" sz="1400" dirty="0"/>
          </a:p>
          <a:p>
            <a:pPr algn="ctr"/>
            <a:r>
              <a:rPr lang="ja-JP" altLang="en-US" sz="1400" dirty="0"/>
              <a:t>西脇</a:t>
            </a:r>
            <a:endParaRPr lang="zh-CN" altLang="en-US" sz="14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3479AAA-3650-9C52-F495-0475676C7565}"/>
              </a:ext>
            </a:extLst>
          </p:cNvPr>
          <p:cNvSpPr/>
          <p:nvPr/>
        </p:nvSpPr>
        <p:spPr>
          <a:xfrm>
            <a:off x="9988768" y="5018611"/>
            <a:ext cx="1202560" cy="4366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/>
              <a:t>エンジニア</a:t>
            </a:r>
            <a:endParaRPr lang="en-US" altLang="ja-JP" sz="1400" dirty="0"/>
          </a:p>
          <a:p>
            <a:pPr algn="ctr"/>
            <a:r>
              <a:rPr lang="ja-JP" altLang="en-US" sz="1400" dirty="0"/>
              <a:t>越智</a:t>
            </a:r>
            <a:endParaRPr lang="en-US" altLang="ja-JP" sz="1400" dirty="0"/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BC8A2EA8-B633-3A9D-C794-0A1BE032E2B6}"/>
              </a:ext>
            </a:extLst>
          </p:cNvPr>
          <p:cNvCxnSpPr>
            <a:stCxn id="11" idx="2"/>
            <a:endCxn id="22" idx="0"/>
          </p:cNvCxnSpPr>
          <p:nvPr/>
        </p:nvCxnSpPr>
        <p:spPr>
          <a:xfrm rot="5400000">
            <a:off x="6944859" y="2542319"/>
            <a:ext cx="1195310" cy="19863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37BC593C-0890-46AF-FA85-042EEE94C0E0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 rot="16200000" flipH="1">
            <a:off x="8965208" y="2508298"/>
            <a:ext cx="1195310" cy="20543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D72808D1-D953-D418-1165-67E4B1270FAE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 rot="16200000" flipH="1">
            <a:off x="7738208" y="3735297"/>
            <a:ext cx="2072631" cy="4776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1F1E4F67-DF46-381C-4E5F-67DE15466C97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5971614" y="4432723"/>
            <a:ext cx="440701" cy="7147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6C81BD8E-61CA-2D56-840A-F17CD4940CB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rot="16200000" flipH="1">
            <a:off x="6726814" y="4392292"/>
            <a:ext cx="440701" cy="7956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A6EEADD-8803-B4DF-4776-2EDE69B19993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>
            <a:off x="10590048" y="4569758"/>
            <a:ext cx="0" cy="448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0ED6F7D-C299-8275-606E-A83F9C2CA404}"/>
              </a:ext>
            </a:extLst>
          </p:cNvPr>
          <p:cNvSpPr txBox="1"/>
          <p:nvPr/>
        </p:nvSpPr>
        <p:spPr>
          <a:xfrm>
            <a:off x="540913" y="474497"/>
            <a:ext cx="508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体制図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1022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2E93-7028-9146-F3DD-81A39063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>
            <a:extLst>
              <a:ext uri="{FF2B5EF4-FFF2-40B4-BE49-F238E27FC236}">
                <a16:creationId xmlns:a16="http://schemas.microsoft.com/office/drawing/2014/main" id="{9142F599-28DF-B9D9-812A-CFD5801C3602}"/>
              </a:ext>
            </a:extLst>
          </p:cNvPr>
          <p:cNvSpPr txBox="1"/>
          <p:nvPr/>
        </p:nvSpPr>
        <p:spPr>
          <a:xfrm>
            <a:off x="351307" y="480937"/>
            <a:ext cx="508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スケジュール</a:t>
            </a:r>
            <a:endParaRPr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7E0B755-4A5F-2498-2FA0-603B1BED7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87914"/>
              </p:ext>
            </p:extLst>
          </p:nvPr>
        </p:nvGraphicFramePr>
        <p:xfrm>
          <a:off x="351307" y="1170428"/>
          <a:ext cx="10898395" cy="2950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293">
                  <a:extLst>
                    <a:ext uri="{9D8B030D-6E8A-4147-A177-3AD203B41FA5}">
                      <a16:colId xmlns:a16="http://schemas.microsoft.com/office/drawing/2014/main" val="1056344621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1486432491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3514794858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2988847218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3025705037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3496360037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2756619356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2785627565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965079339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2252933389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3535114955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141859043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3493149267"/>
                    </a:ext>
                  </a:extLst>
                </a:gridCol>
                <a:gridCol w="759854">
                  <a:extLst>
                    <a:ext uri="{9D8B030D-6E8A-4147-A177-3AD203B41FA5}">
                      <a16:colId xmlns:a16="http://schemas.microsoft.com/office/drawing/2014/main" val="2057567976"/>
                    </a:ext>
                  </a:extLst>
                </a:gridCol>
              </a:tblGrid>
              <a:tr h="317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dirty="0"/>
                        <a:t>年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2024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2025</a:t>
                      </a:r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08999"/>
                  </a:ext>
                </a:extLst>
              </a:tr>
              <a:tr h="35700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ja-JP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月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38304"/>
                  </a:ext>
                </a:extLst>
              </a:tr>
              <a:tr h="569075">
                <a:tc>
                  <a:txBody>
                    <a:bodyPr/>
                    <a:lstStyle/>
                    <a:p>
                      <a:r>
                        <a:rPr lang="ja-JP" altLang="en-US" sz="1400" dirty="0"/>
                        <a:t>マイル</a:t>
                      </a:r>
                      <a:endParaRPr lang="en-US" altLang="ja-JP" sz="1400" dirty="0"/>
                    </a:p>
                    <a:p>
                      <a:r>
                        <a:rPr lang="ja-JP" altLang="en-US" sz="1400" dirty="0"/>
                        <a:t>ストーン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936292"/>
                  </a:ext>
                </a:extLst>
              </a:tr>
              <a:tr h="569075">
                <a:tc>
                  <a:txBody>
                    <a:bodyPr/>
                    <a:lstStyle/>
                    <a:p>
                      <a:r>
                        <a:rPr lang="en-US" altLang="ja-JP" sz="1400" dirty="0"/>
                        <a:t>FY24 PoC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322613"/>
                  </a:ext>
                </a:extLst>
              </a:tr>
              <a:tr h="569075">
                <a:tc>
                  <a:txBody>
                    <a:bodyPr/>
                    <a:lstStyle/>
                    <a:p>
                      <a:r>
                        <a:rPr lang="en-US" altLang="ja-JP" sz="1400" dirty="0"/>
                        <a:t>NTT PoC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4370164"/>
                  </a:ext>
                </a:extLst>
              </a:tr>
              <a:tr h="569075">
                <a:tc>
                  <a:txBody>
                    <a:bodyPr/>
                    <a:lstStyle/>
                    <a:p>
                      <a:r>
                        <a:rPr lang="ja-JP" altLang="en-US" sz="1400" dirty="0"/>
                        <a:t>知財 </a:t>
                      </a:r>
                      <a:r>
                        <a:rPr lang="en-US" altLang="ja-JP" sz="1400" dirty="0"/>
                        <a:t>PoC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202346"/>
                  </a:ext>
                </a:extLst>
              </a:tr>
            </a:tbl>
          </a:graphicData>
        </a:graphic>
      </p:graphicFrame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895A9FAE-F2E2-DFC6-F49A-3BE5F5D1402D}"/>
              </a:ext>
            </a:extLst>
          </p:cNvPr>
          <p:cNvSpPr/>
          <p:nvPr/>
        </p:nvSpPr>
        <p:spPr>
          <a:xfrm>
            <a:off x="1410237" y="2511380"/>
            <a:ext cx="1455312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要件定義、設計</a:t>
            </a:r>
            <a:endParaRPr lang="zh-CN" altLang="en-US" sz="1300" dirty="0"/>
          </a:p>
        </p:txBody>
      </p:sp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181ECA54-783F-5B07-4CFB-5056A34E04DA}"/>
              </a:ext>
            </a:extLst>
          </p:cNvPr>
          <p:cNvSpPr/>
          <p:nvPr/>
        </p:nvSpPr>
        <p:spPr>
          <a:xfrm>
            <a:off x="4379531" y="2511380"/>
            <a:ext cx="784897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報告書作成</a:t>
            </a:r>
            <a:endParaRPr lang="zh-CN" altLang="en-US" sz="1300" dirty="0"/>
          </a:p>
        </p:txBody>
      </p:sp>
      <p:sp>
        <p:nvSpPr>
          <p:cNvPr id="15" name="箭头: 五边形 14">
            <a:extLst>
              <a:ext uri="{FF2B5EF4-FFF2-40B4-BE49-F238E27FC236}">
                <a16:creationId xmlns:a16="http://schemas.microsoft.com/office/drawing/2014/main" id="{EC953EAA-8A27-8873-848A-9453ADF03DAF}"/>
              </a:ext>
            </a:extLst>
          </p:cNvPr>
          <p:cNvSpPr/>
          <p:nvPr/>
        </p:nvSpPr>
        <p:spPr>
          <a:xfrm>
            <a:off x="5193763" y="2511380"/>
            <a:ext cx="2237347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先行技術調査</a:t>
            </a:r>
            <a:endParaRPr lang="zh-CN" altLang="en-US" sz="1300" dirty="0"/>
          </a:p>
        </p:txBody>
      </p:sp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B06A3E51-FA93-4450-39E1-409D1E3DCFB9}"/>
              </a:ext>
            </a:extLst>
          </p:cNvPr>
          <p:cNvSpPr/>
          <p:nvPr/>
        </p:nvSpPr>
        <p:spPr>
          <a:xfrm>
            <a:off x="7431110" y="3034381"/>
            <a:ext cx="1259267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要件定義、設計、実装</a:t>
            </a:r>
            <a:endParaRPr lang="zh-CN" altLang="en-US" sz="1300" dirty="0"/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5B7E67D5-E37D-66BF-86D8-AF1561DC3222}"/>
              </a:ext>
            </a:extLst>
          </p:cNvPr>
          <p:cNvSpPr/>
          <p:nvPr/>
        </p:nvSpPr>
        <p:spPr>
          <a:xfrm>
            <a:off x="7431110" y="3656860"/>
            <a:ext cx="1259267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要件定義、設計、実装</a:t>
            </a:r>
            <a:endParaRPr lang="zh-CN" altLang="en-US" sz="1300" dirty="0"/>
          </a:p>
        </p:txBody>
      </p:sp>
      <p:sp>
        <p:nvSpPr>
          <p:cNvPr id="21" name="箭头: 五边形 20">
            <a:extLst>
              <a:ext uri="{FF2B5EF4-FFF2-40B4-BE49-F238E27FC236}">
                <a16:creationId xmlns:a16="http://schemas.microsoft.com/office/drawing/2014/main" id="{645DCCC5-E150-57DF-8C6E-C4EFDE0A5AAD}"/>
              </a:ext>
            </a:extLst>
          </p:cNvPr>
          <p:cNvSpPr/>
          <p:nvPr/>
        </p:nvSpPr>
        <p:spPr>
          <a:xfrm>
            <a:off x="8690377" y="3656860"/>
            <a:ext cx="1780147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検証、受入、報告書作成</a:t>
            </a:r>
            <a:endParaRPr lang="zh-CN" altLang="en-US" sz="1300" dirty="0"/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DC6E485-4309-7F13-A361-34B64D46E297}"/>
              </a:ext>
            </a:extLst>
          </p:cNvPr>
          <p:cNvSpPr/>
          <p:nvPr/>
        </p:nvSpPr>
        <p:spPr>
          <a:xfrm>
            <a:off x="2894884" y="2511380"/>
            <a:ext cx="1484647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実装、検証、受入</a:t>
            </a:r>
            <a:endParaRPr lang="zh-CN" altLang="en-US" sz="1300" dirty="0"/>
          </a:p>
        </p:txBody>
      </p:sp>
      <p:sp>
        <p:nvSpPr>
          <p:cNvPr id="29" name="箭头: 五边形 28">
            <a:extLst>
              <a:ext uri="{FF2B5EF4-FFF2-40B4-BE49-F238E27FC236}">
                <a16:creationId xmlns:a16="http://schemas.microsoft.com/office/drawing/2014/main" id="{2F6FD808-DD2E-ED91-033F-05807F859DA5}"/>
              </a:ext>
            </a:extLst>
          </p:cNvPr>
          <p:cNvSpPr/>
          <p:nvPr/>
        </p:nvSpPr>
        <p:spPr>
          <a:xfrm>
            <a:off x="8690377" y="3034381"/>
            <a:ext cx="1187719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検証、受入、報告書作成</a:t>
            </a:r>
            <a:endParaRPr lang="zh-CN" altLang="en-US" sz="1300" dirty="0"/>
          </a:p>
        </p:txBody>
      </p:sp>
      <p:sp>
        <p:nvSpPr>
          <p:cNvPr id="30" name="箭头: 五边形 29">
            <a:extLst>
              <a:ext uri="{FF2B5EF4-FFF2-40B4-BE49-F238E27FC236}">
                <a16:creationId xmlns:a16="http://schemas.microsoft.com/office/drawing/2014/main" id="{7766AFB7-99CD-4BC5-7EFF-40ADDB682ED1}"/>
              </a:ext>
            </a:extLst>
          </p:cNvPr>
          <p:cNvSpPr/>
          <p:nvPr/>
        </p:nvSpPr>
        <p:spPr>
          <a:xfrm>
            <a:off x="10529910" y="3354206"/>
            <a:ext cx="977363" cy="4056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00" dirty="0"/>
              <a:t>引継ぎ資料作成</a:t>
            </a:r>
            <a:endParaRPr lang="zh-CN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86079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F5E3-90E5-4FB9-C4A6-2FA632D8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>
            <a:extLst>
              <a:ext uri="{FF2B5EF4-FFF2-40B4-BE49-F238E27FC236}">
                <a16:creationId xmlns:a16="http://schemas.microsoft.com/office/drawing/2014/main" id="{CDA97D2B-976B-9C92-2FF5-C7B4CA7705AB}"/>
              </a:ext>
            </a:extLst>
          </p:cNvPr>
          <p:cNvSpPr txBox="1"/>
          <p:nvPr/>
        </p:nvSpPr>
        <p:spPr>
          <a:xfrm>
            <a:off x="351307" y="480937"/>
            <a:ext cx="508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要望・目的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1BE326-511B-BD54-6D52-CF1F58F13C44}"/>
              </a:ext>
            </a:extLst>
          </p:cNvPr>
          <p:cNvSpPr txBox="1"/>
          <p:nvPr/>
        </p:nvSpPr>
        <p:spPr>
          <a:xfrm>
            <a:off x="470079" y="1223493"/>
            <a:ext cx="104061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顧客要望</a:t>
            </a:r>
            <a:endParaRPr lang="en-US" altLang="ja-JP" sz="1600" dirty="0"/>
          </a:p>
          <a:p>
            <a:r>
              <a:rPr lang="ja-JP" altLang="en-US" sz="1600" dirty="0"/>
              <a:t>技術検証を目的として、主に以下の三つの</a:t>
            </a:r>
            <a:r>
              <a:rPr lang="en-US" altLang="ja-JP" sz="1600" dirty="0"/>
              <a:t>PoC</a:t>
            </a:r>
            <a:r>
              <a:rPr lang="ja-JP" altLang="en-US" sz="1600" dirty="0"/>
              <a:t>検証を依頼しました。</a:t>
            </a:r>
            <a:endParaRPr lang="en-US" altLang="ja-JP" sz="1600" dirty="0"/>
          </a:p>
          <a:p>
            <a:endParaRPr lang="en-US" altLang="ja-JP" sz="1600" dirty="0"/>
          </a:p>
          <a:p>
            <a:pPr marL="342900" indent="-342900">
              <a:buAutoNum type="arabicPeriod"/>
            </a:pPr>
            <a:r>
              <a:rPr lang="en-US" altLang="ja-JP" sz="1600" dirty="0"/>
              <a:t>FY24 PoC</a:t>
            </a:r>
            <a:r>
              <a:rPr lang="ja-JP" altLang="en-US" sz="1600" dirty="0"/>
              <a:t>：ユーザーが入力した研究開発テーマに基づき、適切な</a:t>
            </a:r>
            <a:r>
              <a:rPr lang="en-US" altLang="ja-JP" sz="1600" dirty="0"/>
              <a:t>IPC</a:t>
            </a:r>
            <a:r>
              <a:rPr lang="ja-JP" altLang="en-US" sz="1600" dirty="0"/>
              <a:t>サブグループレベルの分類コードを提示します。これを利用して特許検索論理式を自動構築し、当該論理式による</a:t>
            </a:r>
            <a:r>
              <a:rPr lang="en-US" altLang="ja-JP" sz="1600" dirty="0"/>
              <a:t>J-</a:t>
            </a:r>
            <a:r>
              <a:rPr lang="en-US" altLang="ja-JP" sz="1600" dirty="0" err="1"/>
              <a:t>PlatPat</a:t>
            </a:r>
            <a:r>
              <a:rPr lang="ja-JP" altLang="en-US" sz="1600" dirty="0"/>
              <a:t>形式の特許データベースへの検索と結果表示を実現します。</a:t>
            </a:r>
            <a:endParaRPr lang="en-US" altLang="ja-JP" sz="1600" dirty="0"/>
          </a:p>
          <a:p>
            <a:pPr marL="342900" indent="-342900">
              <a:buAutoNum type="arabicPeriod"/>
            </a:pPr>
            <a:endParaRPr lang="en-US" altLang="zh-CN" sz="1600" dirty="0"/>
          </a:p>
          <a:p>
            <a:pPr marL="342900" indent="-342900">
              <a:buAutoNum type="arabicPeriod"/>
            </a:pPr>
            <a:r>
              <a:rPr lang="en-US" altLang="zh-CN" sz="1600" dirty="0"/>
              <a:t>NTT PoC</a:t>
            </a:r>
            <a:r>
              <a:rPr lang="ja-JP" altLang="en-US" sz="1600" dirty="0"/>
              <a:t>：ユーザーがアップロードした発明提案書の構成要素（項目）を分解・分析し、</a:t>
            </a:r>
            <a:r>
              <a:rPr lang="en-US" altLang="ja-JP" sz="1600" dirty="0"/>
              <a:t> LLM</a:t>
            </a:r>
            <a:r>
              <a:rPr lang="ja-JP" altLang="en-US" sz="1600" dirty="0"/>
              <a:t>が知財専門家の役割を担います。具体的には、提案書の構成項目のレビュー、技術的観点からの日本語表現の推敲（校正）、および特許化に向けたアドバイスを提供します。</a:t>
            </a:r>
            <a:endParaRPr lang="en-US" altLang="zh-CN" sz="1600" dirty="0"/>
          </a:p>
          <a:p>
            <a:pPr marL="342900" indent="-342900">
              <a:buAutoNum type="arabicPeriod"/>
            </a:pPr>
            <a:endParaRPr lang="en-US" altLang="zh-CN" sz="1600" dirty="0"/>
          </a:p>
          <a:p>
            <a:pPr marL="342900" indent="-342900">
              <a:buAutoNum type="arabicPeriod"/>
            </a:pPr>
            <a:r>
              <a:rPr lang="ja-JP" altLang="en-US" sz="1600" dirty="0"/>
              <a:t>知財 </a:t>
            </a:r>
            <a:r>
              <a:rPr lang="en-US" altLang="ja-JP" sz="1600" dirty="0"/>
              <a:t>PoC</a:t>
            </a:r>
            <a:r>
              <a:rPr lang="ja-JP" altLang="en-US" sz="1600" dirty="0"/>
              <a:t>：侵害予防調査を目的とし、ユーザーが入力した調査対象技術または調査観点に基づき、最適な </a:t>
            </a:r>
            <a:r>
              <a:rPr lang="en-US" altLang="ja-JP" sz="1600" dirty="0"/>
              <a:t>IPC</a:t>
            </a:r>
            <a:r>
              <a:rPr lang="ja-JP" altLang="en-US" sz="1600" dirty="0"/>
              <a:t>メイングループレベルの分類コードと検索キーワードを提示します。これらを用いて、</a:t>
            </a:r>
            <a:r>
              <a:rPr lang="en-US" altLang="ja-JP" sz="1600" dirty="0" err="1"/>
              <a:t>PatentSquare</a:t>
            </a:r>
            <a:r>
              <a:rPr lang="ja-JP" altLang="en-US" sz="1600" dirty="0"/>
              <a:t>という特許データベースで実行可能な検索論理式を構築します。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9077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60C1-1BC2-9C95-34B3-2ED4B4ED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>
            <a:extLst>
              <a:ext uri="{FF2B5EF4-FFF2-40B4-BE49-F238E27FC236}">
                <a16:creationId xmlns:a16="http://schemas.microsoft.com/office/drawing/2014/main" id="{F5A97F59-17D0-A969-C0BE-F1EFA2080015}"/>
              </a:ext>
            </a:extLst>
          </p:cNvPr>
          <p:cNvSpPr txBox="1"/>
          <p:nvPr/>
        </p:nvSpPr>
        <p:spPr>
          <a:xfrm>
            <a:off x="351307" y="480937"/>
            <a:ext cx="508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実施内容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BAE305-DBFD-E829-1445-E12F4C32FE48}"/>
              </a:ext>
            </a:extLst>
          </p:cNvPr>
          <p:cNvSpPr txBox="1"/>
          <p:nvPr/>
        </p:nvSpPr>
        <p:spPr>
          <a:xfrm>
            <a:off x="470079" y="1223493"/>
            <a:ext cx="104061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ja-JP" sz="1600" dirty="0"/>
              <a:t>FY24 PoC</a:t>
            </a:r>
            <a:r>
              <a:rPr lang="ja-JP" altLang="en-US" sz="1600" dirty="0"/>
              <a:t>：検索論理式構築及び特許データ検索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98215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447</Words>
  <Application>Microsoft Office PowerPoint</Application>
  <PresentationFormat>宽屏</PresentationFormat>
  <Paragraphs>65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天鑰 呉</dc:creator>
  <cp:lastModifiedBy>天鑰 呉</cp:lastModifiedBy>
  <cp:revision>51</cp:revision>
  <dcterms:created xsi:type="dcterms:W3CDTF">2025-11-24T08:43:39Z</dcterms:created>
  <dcterms:modified xsi:type="dcterms:W3CDTF">2025-11-25T10:13:02Z</dcterms:modified>
</cp:coreProperties>
</file>