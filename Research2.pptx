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6"/>
  </p:notesMasterIdLst>
  <p:sldIdLst>
    <p:sldId id="257" r:id="rId2"/>
    <p:sldId id="258" r:id="rId3"/>
    <p:sldId id="259" r:id="rId4"/>
    <p:sldId id="26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883E1A-24A0-4B05-AA4C-56243B89A804}" type="datetimeFigureOut">
              <a:rPr lang="zh-CN" altLang="en-US" smtClean="0"/>
              <a:t>2025/4/3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2AB785-1501-48CC-961B-897741EA03FF}" type="slidenum">
              <a:rPr lang="zh-CN" altLang="en-US" smtClean="0"/>
              <a:t>‹#›</a:t>
            </a:fld>
            <a:endParaRPr lang="zh-CN" altLang="en-US"/>
          </a:p>
        </p:txBody>
      </p:sp>
    </p:spTree>
    <p:extLst>
      <p:ext uri="{BB962C8B-B14F-4D97-AF65-F5344CB8AC3E}">
        <p14:creationId xmlns:p14="http://schemas.microsoft.com/office/powerpoint/2010/main" val="1993624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1298936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60122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zh-CN" altLang="en-US"/>
              <a:t>单击此处编辑母版标题样式</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475230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CN" altLang="en-US"/>
              <a:t>单击此处编辑母版标题样式</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2556900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Content Placeholder 3"/>
          <p:cNvSpPr>
            <a:spLocks noGrp="1"/>
          </p:cNvSpPr>
          <p:nvPr>
            <p:ph sz="quarter" idx="13"/>
          </p:nvPr>
        </p:nvSpPr>
        <p:spPr>
          <a:xfrm>
            <a:off x="913774" y="3051012"/>
            <a:ext cx="5106027" cy="27401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3" name="Content Placeholder 5"/>
          <p:cNvSpPr>
            <a:spLocks noGrp="1"/>
          </p:cNvSpPr>
          <p:nvPr>
            <p:ph sz="quarter" idx="14"/>
          </p:nvPr>
        </p:nvSpPr>
        <p:spPr>
          <a:xfrm>
            <a:off x="6172200" y="3051012"/>
            <a:ext cx="5105401" cy="27401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966000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1033860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1258734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zh-CN" altLang="en-US"/>
              <a:t>单击此处编辑母版标题样式</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994861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3093752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2720390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6477981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6A9CA3-D27C-423B-9FCE-E66F5AB7D541}" type="slidenum">
              <a:rPr lang="zh-CN" altLang="en-US" smtClean="0"/>
              <a:t>‹#›</a:t>
            </a:fld>
            <a:endParaRPr lang="zh-CN" alt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79403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1396768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1922472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4045825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单击此处编辑母版标题样式</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298767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zh-CN" altLang="en-US"/>
              <a:t>单击此处编辑母版标题样式</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800F3C6-200C-4F82-8057-425A24E0A80A}" type="datetimeFigureOut">
              <a:rPr lang="zh-CN" altLang="en-US" smtClean="0"/>
              <a:t>2025/4/3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2332694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3800F3C6-200C-4F82-8057-425A24E0A80A}" type="datetimeFigureOut">
              <a:rPr lang="zh-CN" altLang="en-US" smtClean="0"/>
              <a:t>2025/4/3</a:t>
            </a:fld>
            <a:endParaRPr lang="zh-CN"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zh-CN"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1D6A9CA3-D27C-423B-9FCE-E66F5AB7D541}" type="slidenum">
              <a:rPr lang="zh-CN" altLang="en-US" smtClean="0"/>
              <a:t>‹#›</a:t>
            </a:fld>
            <a:endParaRPr lang="zh-CN" altLang="en-US"/>
          </a:p>
        </p:txBody>
      </p:sp>
    </p:spTree>
    <p:extLst>
      <p:ext uri="{BB962C8B-B14F-4D97-AF65-F5344CB8AC3E}">
        <p14:creationId xmlns:p14="http://schemas.microsoft.com/office/powerpoint/2010/main" val="337609751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zure.microsoft.com/en-us/pricing/details/synapse-analytics/" TargetMode="External"/><Relationship Id="rId2" Type="http://schemas.openxmlformats.org/officeDocument/2006/relationships/hyperlink" Target="https://learn.microsoft.com/en-us/azure/synapse-analytics/sql-data-warehouse/sql-data-warehouse-service-capacity-limits#workload-management"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azure.microsoft.com/en-us/pricing/details/storage/data-lake/#overview" TargetMode="External"/><Relationship Id="rId2" Type="http://schemas.openxmlformats.org/officeDocument/2006/relationships/hyperlink" Target="https://azure.microsoft.com/en-us/pricing/details/search/"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FF330-4145-E08D-1B89-3CF0A9465D5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C4A58AA-5172-61E1-E7C3-B665BFF79156}"/>
              </a:ext>
            </a:extLst>
          </p:cNvPr>
          <p:cNvSpPr txBox="1"/>
          <p:nvPr/>
        </p:nvSpPr>
        <p:spPr>
          <a:xfrm>
            <a:off x="575036" y="707011"/>
            <a:ext cx="10246936"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Azure Synapse Analytics</a:t>
            </a:r>
            <a:r>
              <a:rPr lang="ja-JP" altLang="en-US" dirty="0">
                <a:latin typeface="Arial" panose="020B0604020202020204" pitchFamily="34" charset="0"/>
                <a:cs typeface="Arial" panose="020B0604020202020204" pitchFamily="34" charset="0"/>
              </a:rPr>
              <a:t>に対する調査 </a:t>
            </a:r>
            <a:endParaRPr lang="zh-CN" altLang="en-US" dirty="0">
              <a:latin typeface="Arial" panose="020B0604020202020204" pitchFamily="34" charset="0"/>
              <a:cs typeface="Arial" panose="020B0604020202020204" pitchFamily="34" charset="0"/>
            </a:endParaRPr>
          </a:p>
        </p:txBody>
      </p:sp>
      <p:cxnSp>
        <p:nvCxnSpPr>
          <p:cNvPr id="6" name="直接连接符 5">
            <a:extLst>
              <a:ext uri="{FF2B5EF4-FFF2-40B4-BE49-F238E27FC236}">
                <a16:creationId xmlns:a16="http://schemas.microsoft.com/office/drawing/2014/main" id="{DD39CF93-52F2-5976-126E-6D86539733C2}"/>
              </a:ext>
            </a:extLst>
          </p:cNvPr>
          <p:cNvCxnSpPr>
            <a:cxnSpLocks/>
          </p:cNvCxnSpPr>
          <p:nvPr/>
        </p:nvCxnSpPr>
        <p:spPr>
          <a:xfrm>
            <a:off x="480767" y="1216058"/>
            <a:ext cx="11019934"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47B9DB1B-91BD-558A-AC02-0C7345E81BCA}"/>
              </a:ext>
            </a:extLst>
          </p:cNvPr>
          <p:cNvSpPr txBox="1"/>
          <p:nvPr/>
        </p:nvSpPr>
        <p:spPr>
          <a:xfrm>
            <a:off x="575036" y="1517714"/>
            <a:ext cx="10595728" cy="3416320"/>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Synapse Analytics</a:t>
            </a:r>
            <a:r>
              <a:rPr lang="ja-JP" altLang="en-US" dirty="0">
                <a:latin typeface="Arial" panose="020B0604020202020204" pitchFamily="34" charset="0"/>
                <a:cs typeface="Arial" panose="020B0604020202020204" pitchFamily="34" charset="0"/>
              </a:rPr>
              <a:t>の主要機能：</a:t>
            </a:r>
            <a:endParaRPr lang="en-US" altLang="ja-JP"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SQL</a:t>
            </a:r>
            <a:r>
              <a:rPr lang="ja-JP" altLang="en-US" dirty="0">
                <a:latin typeface="Arial" panose="020B0604020202020204" pitchFamily="34" charset="0"/>
                <a:cs typeface="Arial" panose="020B0604020202020204" pitchFamily="34" charset="0"/>
              </a:rPr>
              <a:t> </a:t>
            </a:r>
            <a:r>
              <a:rPr lang="en-US" altLang="ja-JP" dirty="0">
                <a:latin typeface="Arial" panose="020B0604020202020204" pitchFamily="34" charset="0"/>
                <a:cs typeface="Arial" panose="020B0604020202020204" pitchFamily="34" charset="0"/>
              </a:rPr>
              <a:t>query</a:t>
            </a:r>
            <a:r>
              <a:rPr lang="ja-JP" altLang="en-US" dirty="0">
                <a:latin typeface="Arial" panose="020B0604020202020204" pitchFamily="34" charset="0"/>
                <a:cs typeface="Arial" panose="020B0604020202020204" pitchFamily="34" charset="0"/>
              </a:rPr>
              <a:t>検索</a:t>
            </a:r>
            <a:r>
              <a:rPr lang="en-US" altLang="ja-JP" dirty="0">
                <a:latin typeface="Arial" panose="020B0604020202020204" pitchFamily="34" charset="0"/>
                <a:cs typeface="Arial" panose="020B0604020202020204" pitchFamily="34" charset="0"/>
              </a:rPr>
              <a:t>(RDB</a:t>
            </a:r>
            <a:r>
              <a:rPr lang="ja-JP" altLang="en-US" dirty="0">
                <a:latin typeface="Arial" panose="020B0604020202020204" pitchFamily="34" charset="0"/>
                <a:cs typeface="Arial" panose="020B0604020202020204" pitchFamily="34" charset="0"/>
              </a:rPr>
              <a:t>、</a:t>
            </a:r>
            <a:r>
              <a:rPr lang="en-US" altLang="ja-JP" dirty="0">
                <a:latin typeface="Arial" panose="020B0604020202020204" pitchFamily="34" charset="0"/>
                <a:cs typeface="Arial" panose="020B0604020202020204" pitchFamily="34" charset="0"/>
              </a:rPr>
              <a:t>NoSQL</a:t>
            </a:r>
            <a:r>
              <a:rPr lang="ja-JP" altLang="en-US" dirty="0">
                <a:latin typeface="Arial" panose="020B0604020202020204" pitchFamily="34" charset="0"/>
                <a:cs typeface="Arial" panose="020B0604020202020204" pitchFamily="34" charset="0"/>
              </a:rPr>
              <a:t> </a:t>
            </a:r>
            <a:r>
              <a:rPr lang="en-US" altLang="ja-JP" dirty="0">
                <a:latin typeface="Arial" panose="020B0604020202020204" pitchFamily="34" charset="0"/>
                <a:cs typeface="Arial" panose="020B0604020202020204" pitchFamily="34" charset="0"/>
              </a:rPr>
              <a:t>DB)</a:t>
            </a:r>
            <a:r>
              <a:rPr lang="ja-JP" altLang="en-US" dirty="0">
                <a:latin typeface="Arial" panose="020B0604020202020204" pitchFamily="34" charset="0"/>
                <a:cs typeface="Arial" panose="020B0604020202020204" pitchFamily="34" charset="0"/>
              </a:rPr>
              <a:t>：異なるタイプの</a:t>
            </a:r>
            <a:r>
              <a:rPr lang="en-US" altLang="ja-JP" dirty="0">
                <a:latin typeface="Arial" panose="020B0604020202020204" pitchFamily="34" charset="0"/>
                <a:cs typeface="Arial" panose="020B0604020202020204" pitchFamily="34" charset="0"/>
              </a:rPr>
              <a:t>DB</a:t>
            </a:r>
            <a:r>
              <a:rPr lang="ja-JP" altLang="en-US" dirty="0">
                <a:latin typeface="Arial" panose="020B0604020202020204" pitchFamily="34" charset="0"/>
                <a:cs typeface="Arial" panose="020B0604020202020204" pitchFamily="34" charset="0"/>
              </a:rPr>
              <a:t>に検索してデータを抽出できる</a:t>
            </a:r>
            <a:endParaRPr lang="en-US" altLang="ja-JP" dirty="0">
              <a:latin typeface="Arial" panose="020B0604020202020204" pitchFamily="34" charset="0"/>
              <a:cs typeface="Arial" panose="020B0604020202020204" pitchFamily="34" charset="0"/>
            </a:endParaRPr>
          </a:p>
          <a:p>
            <a:pPr lvl="1"/>
            <a:r>
              <a:rPr lang="en-US" altLang="ja-JP" dirty="0">
                <a:latin typeface="Arial" panose="020B0604020202020204" pitchFamily="34" charset="0"/>
                <a:cs typeface="Arial" panose="020B0604020202020204" pitchFamily="34" charset="0"/>
              </a:rPr>
              <a:t>Serverless SQL Pools</a:t>
            </a:r>
          </a:p>
          <a:p>
            <a:pPr lvl="1"/>
            <a:endParaRPr lang="en-US" altLang="ja-JP"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Data</a:t>
            </a:r>
            <a:r>
              <a:rPr lang="ja-JP" altLang="en-US" dirty="0">
                <a:latin typeface="Arial" panose="020B0604020202020204" pitchFamily="34" charset="0"/>
                <a:cs typeface="Arial" panose="020B0604020202020204" pitchFamily="34" charset="0"/>
              </a:rPr>
              <a:t> </a:t>
            </a:r>
            <a:r>
              <a:rPr lang="en-US" altLang="ja-JP" dirty="0">
                <a:latin typeface="Arial" panose="020B0604020202020204" pitchFamily="34" charset="0"/>
                <a:cs typeface="Arial" panose="020B0604020202020204" pitchFamily="34" charset="0"/>
              </a:rPr>
              <a:t>Warehouse</a:t>
            </a:r>
            <a:r>
              <a:rPr lang="ja-JP" altLang="en-US" dirty="0">
                <a:latin typeface="Arial" panose="020B0604020202020204" pitchFamily="34" charset="0"/>
                <a:cs typeface="Arial" panose="020B0604020202020204" pitchFamily="34" charset="0"/>
              </a:rPr>
              <a:t>：</a:t>
            </a:r>
            <a:r>
              <a:rPr lang="en-US" altLang="ja-JP" dirty="0">
                <a:latin typeface="Arial" panose="020B0604020202020204" pitchFamily="34" charset="0"/>
                <a:cs typeface="Arial" panose="020B0604020202020204" pitchFamily="34" charset="0"/>
              </a:rPr>
              <a:t>RDB</a:t>
            </a:r>
            <a:r>
              <a:rPr lang="ja-JP" altLang="en-US" dirty="0">
                <a:latin typeface="Arial" panose="020B0604020202020204" pitchFamily="34" charset="0"/>
                <a:cs typeface="Arial" panose="020B0604020202020204" pitchFamily="34" charset="0"/>
              </a:rPr>
              <a:t>であり、</a:t>
            </a:r>
            <a:r>
              <a:rPr lang="en-US" altLang="ja-JP" dirty="0">
                <a:latin typeface="Arial" panose="020B0604020202020204" pitchFamily="34" charset="0"/>
                <a:cs typeface="Arial" panose="020B0604020202020204" pitchFamily="34" charset="0"/>
              </a:rPr>
              <a:t>Full-Text</a:t>
            </a:r>
            <a:r>
              <a:rPr lang="ja-JP" altLang="en-US" dirty="0">
                <a:latin typeface="Arial" panose="020B0604020202020204" pitchFamily="34" charset="0"/>
                <a:cs typeface="Arial" panose="020B0604020202020204" pitchFamily="34" charset="0"/>
              </a:rPr>
              <a:t>検索ができる</a:t>
            </a:r>
            <a:endParaRPr lang="en-US" altLang="ja-JP" dirty="0">
              <a:latin typeface="Arial" panose="020B0604020202020204" pitchFamily="34" charset="0"/>
              <a:cs typeface="Arial" panose="020B0604020202020204" pitchFamily="34" charset="0"/>
            </a:endParaRPr>
          </a:p>
          <a:p>
            <a:r>
              <a:rPr lang="en-US" altLang="ja-JP" dirty="0">
                <a:latin typeface="Arial" panose="020B0604020202020204" pitchFamily="34" charset="0"/>
                <a:cs typeface="Arial" panose="020B0604020202020204" pitchFamily="34" charset="0"/>
              </a:rPr>
              <a:t>	Dedicated SQL Pools</a:t>
            </a:r>
            <a:r>
              <a:rPr lang="ja-JP" altLang="en-US" dirty="0">
                <a:latin typeface="Arial" panose="020B0604020202020204" pitchFamily="34" charset="0"/>
                <a:cs typeface="Arial" panose="020B0604020202020204" pitchFamily="34" charset="0"/>
              </a:rPr>
              <a:t>（</a:t>
            </a:r>
            <a:r>
              <a:rPr lang="en-US" altLang="ja-JP" dirty="0">
                <a:latin typeface="Arial" panose="020B0604020202020204" pitchFamily="34" charset="0"/>
                <a:cs typeface="Arial" panose="020B0604020202020204" pitchFamily="34" charset="0"/>
              </a:rPr>
              <a:t>Super SQL</a:t>
            </a:r>
            <a:r>
              <a:rPr lang="ja-JP" altLang="en-US" dirty="0">
                <a:latin typeface="Arial" panose="020B0604020202020204" pitchFamily="34" charset="0"/>
                <a:cs typeface="Arial" panose="020B0604020202020204" pitchFamily="34" charset="0"/>
              </a:rPr>
              <a:t> </a:t>
            </a:r>
            <a:r>
              <a:rPr lang="en-US" altLang="ja-JP" dirty="0">
                <a:latin typeface="Arial" panose="020B0604020202020204" pitchFamily="34" charset="0"/>
                <a:cs typeface="Arial" panose="020B0604020202020204" pitchFamily="34" charset="0"/>
              </a:rPr>
              <a:t>Server)</a:t>
            </a:r>
          </a:p>
          <a:p>
            <a:r>
              <a:rPr lang="en-US" altLang="ja-JP"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altLang="ja-JP" dirty="0">
                <a:latin typeface="Arial" panose="020B0604020202020204" pitchFamily="34" charset="0"/>
                <a:cs typeface="Arial" panose="020B0604020202020204" pitchFamily="34" charset="0"/>
              </a:rPr>
              <a:t>Data</a:t>
            </a:r>
            <a:r>
              <a:rPr lang="ja-JP" altLang="en-US" dirty="0">
                <a:latin typeface="Arial" panose="020B0604020202020204" pitchFamily="34" charset="0"/>
                <a:cs typeface="Arial" panose="020B0604020202020204" pitchFamily="34" charset="0"/>
              </a:rPr>
              <a:t>処理（</a:t>
            </a:r>
            <a:r>
              <a:rPr lang="en-US" altLang="ja-JP" dirty="0">
                <a:latin typeface="Arial" panose="020B0604020202020204" pitchFamily="34" charset="0"/>
                <a:cs typeface="Arial" panose="020B0604020202020204" pitchFamily="34" charset="0"/>
              </a:rPr>
              <a:t>ETL</a:t>
            </a:r>
            <a:r>
              <a:rPr lang="ja-JP" altLang="en-US" dirty="0">
                <a:latin typeface="Arial" panose="020B0604020202020204" pitchFamily="34" charset="0"/>
                <a:cs typeface="Arial" panose="020B0604020202020204" pitchFamily="34" charset="0"/>
              </a:rPr>
              <a:t>など）：大規模分散データ処理システム</a:t>
            </a:r>
            <a:endParaRPr lang="en-US" altLang="ja-JP" dirty="0">
              <a:latin typeface="Arial" panose="020B0604020202020204" pitchFamily="34" charset="0"/>
              <a:cs typeface="Arial" panose="020B0604020202020204" pitchFamily="34" charset="0"/>
            </a:endParaRPr>
          </a:p>
          <a:p>
            <a:r>
              <a:rPr lang="en-US" altLang="ja-JP" dirty="0">
                <a:latin typeface="Arial" panose="020B0604020202020204" pitchFamily="34" charset="0"/>
                <a:cs typeface="Arial" panose="020B0604020202020204" pitchFamily="34" charset="0"/>
              </a:rPr>
              <a:t>	Apache Spark for Synapse</a:t>
            </a:r>
          </a:p>
          <a:p>
            <a:pPr marL="285750" indent="-285750">
              <a:buFont typeface="Arial" panose="020B0604020202020204" pitchFamily="34" charset="0"/>
              <a:buChar char="•"/>
            </a:pPr>
            <a:endParaRPr lang="en-US" altLang="ja-JP"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dirty="0">
                <a:latin typeface="Arial" panose="020B0604020202020204" pitchFamily="34" charset="0"/>
                <a:cs typeface="Arial" panose="020B0604020202020204" pitchFamily="34" charset="0"/>
              </a:rPr>
              <a:t>統合データ分析システム</a:t>
            </a:r>
            <a:endParaRPr lang="en-US" altLang="ja-JP"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Synapse Data Explorer</a:t>
            </a:r>
            <a:endParaRPr lang="zh-CN" altLang="en-US" dirty="0">
              <a:latin typeface="Arial" panose="020B0604020202020204" pitchFamily="34" charset="0"/>
              <a:cs typeface="Arial" panose="020B0604020202020204" pitchFamily="34" charset="0"/>
            </a:endParaRPr>
          </a:p>
        </p:txBody>
      </p:sp>
      <p:pic>
        <p:nvPicPr>
          <p:cNvPr id="1026" name="Picture 2" descr="Azure Synapse Analytics 体系结构图表。">
            <a:extLst>
              <a:ext uri="{FF2B5EF4-FFF2-40B4-BE49-F238E27FC236}">
                <a16:creationId xmlns:a16="http://schemas.microsoft.com/office/drawing/2014/main" id="{C146B1BC-ECB2-43F4-8DB7-14336ADA0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3436" y="4129021"/>
            <a:ext cx="6617265" cy="2213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070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9B828-5C88-8128-26C1-E8427A779A27}"/>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B7DEEDB-FBB7-B68E-089B-BA270B9F32BF}"/>
              </a:ext>
            </a:extLst>
          </p:cNvPr>
          <p:cNvSpPr txBox="1"/>
          <p:nvPr/>
        </p:nvSpPr>
        <p:spPr>
          <a:xfrm>
            <a:off x="575036" y="707011"/>
            <a:ext cx="10246936"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Azure Synapse Analytics</a:t>
            </a:r>
            <a:r>
              <a:rPr lang="ja-JP" altLang="en-US" dirty="0">
                <a:latin typeface="Arial" panose="020B0604020202020204" pitchFamily="34" charset="0"/>
                <a:cs typeface="Arial" panose="020B0604020202020204" pitchFamily="34" charset="0"/>
              </a:rPr>
              <a:t>に対する調査 </a:t>
            </a:r>
            <a:endParaRPr lang="zh-CN" altLang="en-US" dirty="0">
              <a:latin typeface="Arial" panose="020B0604020202020204" pitchFamily="34" charset="0"/>
              <a:cs typeface="Arial" panose="020B0604020202020204" pitchFamily="34" charset="0"/>
            </a:endParaRPr>
          </a:p>
        </p:txBody>
      </p:sp>
      <p:cxnSp>
        <p:nvCxnSpPr>
          <p:cNvPr id="6" name="直接连接符 5">
            <a:extLst>
              <a:ext uri="{FF2B5EF4-FFF2-40B4-BE49-F238E27FC236}">
                <a16:creationId xmlns:a16="http://schemas.microsoft.com/office/drawing/2014/main" id="{8CCD8F64-B848-EC47-4527-BB67122B56A0}"/>
              </a:ext>
            </a:extLst>
          </p:cNvPr>
          <p:cNvCxnSpPr>
            <a:cxnSpLocks/>
          </p:cNvCxnSpPr>
          <p:nvPr/>
        </p:nvCxnSpPr>
        <p:spPr>
          <a:xfrm>
            <a:off x="480767" y="1216058"/>
            <a:ext cx="11019934"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9A4BF3E-8089-27A2-3DF2-83566593813B}"/>
              </a:ext>
            </a:extLst>
          </p:cNvPr>
          <p:cNvSpPr txBox="1"/>
          <p:nvPr/>
        </p:nvSpPr>
        <p:spPr>
          <a:xfrm>
            <a:off x="575036" y="1507986"/>
            <a:ext cx="10595728" cy="5262979"/>
          </a:xfrm>
          <a:prstGeom prst="rect">
            <a:avLst/>
          </a:prstGeom>
          <a:noFill/>
        </p:spPr>
        <p:txBody>
          <a:bodyPr wrap="square" rtlCol="0">
            <a:spAutoFit/>
          </a:bodyPr>
          <a:lstStyle/>
          <a:p>
            <a:r>
              <a:rPr lang="en-US" altLang="ja-JP" sz="1600" dirty="0">
                <a:latin typeface="Arial" panose="020B0604020202020204" pitchFamily="34" charset="0"/>
                <a:cs typeface="Arial" panose="020B0604020202020204" pitchFamily="34" charset="0"/>
              </a:rPr>
              <a:t>Data</a:t>
            </a:r>
            <a:r>
              <a:rPr lang="ja-JP" altLang="en-US" sz="1600" dirty="0">
                <a:latin typeface="Arial" panose="020B0604020202020204" pitchFamily="34" charset="0"/>
                <a:cs typeface="Arial" panose="020B0604020202020204" pitchFamily="34" charset="0"/>
              </a:rPr>
              <a:t>　</a:t>
            </a:r>
            <a:r>
              <a:rPr lang="en-US" altLang="ja-JP" sz="1600" dirty="0">
                <a:latin typeface="Arial" panose="020B0604020202020204" pitchFamily="34" charset="0"/>
                <a:cs typeface="Arial" panose="020B0604020202020204" pitchFamily="34" charset="0"/>
              </a:rPr>
              <a:t>Warehouse</a:t>
            </a:r>
            <a:r>
              <a:rPr lang="ja-JP" altLang="en-US" sz="1600" dirty="0">
                <a:latin typeface="Arial" panose="020B0604020202020204" pitchFamily="34" charset="0"/>
                <a:cs typeface="Arial" panose="020B0604020202020204" pitchFamily="34" charset="0"/>
              </a:rPr>
              <a:t>に対する調査：</a:t>
            </a: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b="1" dirty="0">
                <a:latin typeface="Arial" panose="020B0604020202020204" pitchFamily="34" charset="0"/>
                <a:cs typeface="Arial" panose="020B0604020202020204" pitchFamily="34" charset="0"/>
              </a:rPr>
              <a:t>レコードの仕様と１レコードのサイズ上限</a:t>
            </a:r>
            <a:endParaRPr lang="en-US" altLang="ja-JP" sz="1600" b="1" dirty="0">
              <a:latin typeface="Arial" panose="020B0604020202020204" pitchFamily="34" charset="0"/>
              <a:cs typeface="Arial" panose="020B0604020202020204" pitchFamily="34" charset="0"/>
            </a:endParaRPr>
          </a:p>
          <a:p>
            <a:r>
              <a:rPr lang="en-US" altLang="ja-JP" sz="1600" dirty="0">
                <a:latin typeface="Arial" panose="020B0604020202020204" pitchFamily="34" charset="0"/>
                <a:cs typeface="Arial" panose="020B0604020202020204" pitchFamily="34" charset="0"/>
              </a:rPr>
              <a:t>	RDB</a:t>
            </a:r>
            <a:r>
              <a:rPr lang="ja-JP" altLang="en-US" sz="1600" dirty="0">
                <a:latin typeface="Arial" panose="020B0604020202020204" pitchFamily="34" charset="0"/>
                <a:cs typeface="Arial" panose="020B0604020202020204" pitchFamily="34" charset="0"/>
              </a:rPr>
              <a:t>なので、行の上限は８０</a:t>
            </a:r>
            <a:r>
              <a:rPr lang="en-US" altLang="ja-JP" sz="1600" dirty="0">
                <a:latin typeface="Arial" panose="020B0604020202020204" pitchFamily="34" charset="0"/>
                <a:cs typeface="Arial" panose="020B0604020202020204" pitchFamily="34" charset="0"/>
              </a:rPr>
              <a:t>60</a:t>
            </a:r>
            <a:r>
              <a:rPr lang="ja-JP" altLang="en-US" sz="1600" dirty="0">
                <a:latin typeface="Arial" panose="020B0604020202020204" pitchFamily="34" charset="0"/>
                <a:cs typeface="Arial" panose="020B0604020202020204" pitchFamily="34" charset="0"/>
              </a:rPr>
              <a:t>バイト、カラム数上限は１０２４カラム。</a:t>
            </a:r>
            <a:r>
              <a:rPr lang="en-US" altLang="ja-JP" sz="1600" u="sng"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Reference</a:t>
            </a:r>
            <a:r>
              <a:rPr lang="en-US" altLang="ja-JP" sz="1600" u="sng" dirty="0">
                <a:latin typeface="Arial" panose="020B0604020202020204" pitchFamily="34" charset="0"/>
                <a:cs typeface="Arial" panose="020B0604020202020204" pitchFamily="34" charset="0"/>
              </a:rPr>
              <a:t> </a:t>
            </a:r>
          </a:p>
          <a:p>
            <a:r>
              <a:rPr lang="en-US" altLang="ja-JP" sz="1600" dirty="0">
                <a:latin typeface="Arial" panose="020B0604020202020204" pitchFamily="34" charset="0"/>
                <a:cs typeface="Arial" panose="020B0604020202020204" pitchFamily="34" charset="0"/>
              </a:rPr>
              <a:t>	</a:t>
            </a:r>
            <a:r>
              <a:rPr lang="ja-JP" altLang="en-US" sz="1600" dirty="0">
                <a:latin typeface="Arial" panose="020B0604020202020204" pitchFamily="34" charset="0"/>
                <a:cs typeface="Arial" panose="020B0604020202020204" pitchFamily="34" charset="0"/>
              </a:rPr>
              <a:t>（テキストの格納サイズ上限は２</a:t>
            </a:r>
            <a:r>
              <a:rPr lang="en-US" altLang="ja-JP" sz="1600" dirty="0">
                <a:latin typeface="Arial" panose="020B0604020202020204" pitchFamily="34" charset="0"/>
                <a:cs typeface="Arial" panose="020B0604020202020204" pitchFamily="34" charset="0"/>
              </a:rPr>
              <a:t>GB</a:t>
            </a:r>
            <a:r>
              <a:rPr lang="ja-JP" altLang="en-US" sz="1600" dirty="0">
                <a:latin typeface="Arial" panose="020B0604020202020204" pitchFamily="34" charset="0"/>
                <a:cs typeface="Arial" panose="020B0604020202020204" pitchFamily="34" charset="0"/>
              </a:rPr>
              <a:t>、テーブルにポインターしか格納しない）</a:t>
            </a: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zh-C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rPr>
              <a:t>拡張性</a:t>
            </a:r>
            <a:endParaRPr lang="en-US" altLang="ja-JP" sz="1600" dirty="0">
              <a:latin typeface="Arial" panose="020B0604020202020204" pitchFamily="34" charset="0"/>
              <a:cs typeface="Arial" panose="020B0604020202020204" pitchFamily="34" charset="0"/>
            </a:endParaRPr>
          </a:p>
          <a:p>
            <a:r>
              <a:rPr lang="en-US" altLang="zh-CN" sz="1600" dirty="0">
                <a:latin typeface="Arial" panose="020B0604020202020204" pitchFamily="34" charset="0"/>
                <a:cs typeface="Arial" panose="020B0604020202020204" pitchFamily="34" charset="0"/>
              </a:rPr>
              <a:t>	</a:t>
            </a:r>
            <a:r>
              <a:rPr lang="ja-JP" altLang="en-US" sz="1600" dirty="0">
                <a:latin typeface="Arial" panose="020B0604020202020204" pitchFamily="34" charset="0"/>
                <a:cs typeface="Arial" panose="020B0604020202020204" pitchFamily="34" charset="0"/>
              </a:rPr>
              <a:t>ストレージは自動的に拡張し、計算リソースは</a:t>
            </a:r>
            <a:r>
              <a:rPr lang="en-US" altLang="ja-JP" sz="1600" dirty="0">
                <a:latin typeface="Arial" panose="020B0604020202020204" pitchFamily="34" charset="0"/>
                <a:cs typeface="Arial" panose="020B0604020202020204" pitchFamily="34" charset="0"/>
              </a:rPr>
              <a:t>DWU</a:t>
            </a:r>
            <a:r>
              <a:rPr lang="ja-JP" altLang="en-US" sz="1600" dirty="0">
                <a:latin typeface="Arial" panose="020B0604020202020204" pitchFamily="34" charset="0"/>
                <a:cs typeface="Arial" panose="020B0604020202020204" pitchFamily="34" charset="0"/>
              </a:rPr>
              <a:t>単位で調整できる</a:t>
            </a:r>
            <a:endParaRPr lang="en-US" altLang="ja-JP" sz="1600" dirty="0">
              <a:latin typeface="Arial" panose="020B0604020202020204" pitchFamily="34" charset="0"/>
              <a:cs typeface="Arial" panose="020B0604020202020204" pitchFamily="34" charset="0"/>
            </a:endParaRPr>
          </a:p>
          <a:p>
            <a:endParaRPr lang="en-US" altLang="zh-C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rPr>
              <a:t>データ登録と検索：共に</a:t>
            </a:r>
            <a:r>
              <a:rPr lang="en-US" altLang="ja-JP" sz="1600" dirty="0">
                <a:latin typeface="Arial" panose="020B0604020202020204" pitchFamily="34" charset="0"/>
                <a:cs typeface="Arial" panose="020B0604020202020204" pitchFamily="34" charset="0"/>
              </a:rPr>
              <a:t>Python</a:t>
            </a:r>
            <a:r>
              <a:rPr lang="ja-JP" altLang="en-US" sz="1600" dirty="0">
                <a:latin typeface="Arial" panose="020B0604020202020204" pitchFamily="34" charset="0"/>
                <a:cs typeface="Arial" panose="020B0604020202020204" pitchFamily="34" charset="0"/>
              </a:rPr>
              <a:t>　</a:t>
            </a:r>
            <a:r>
              <a:rPr lang="en-US" altLang="ja-JP" sz="1600" dirty="0">
                <a:latin typeface="Arial" panose="020B0604020202020204" pitchFamily="34" charset="0"/>
                <a:cs typeface="Arial" panose="020B0604020202020204" pitchFamily="34" charset="0"/>
              </a:rPr>
              <a:t>SDK</a:t>
            </a:r>
            <a:r>
              <a:rPr lang="ja-JP" altLang="en-US" sz="1600" dirty="0">
                <a:latin typeface="Arial" panose="020B0604020202020204" pitchFamily="34" charset="0"/>
                <a:cs typeface="Arial" panose="020B0604020202020204" pitchFamily="34" charset="0"/>
              </a:rPr>
              <a:t>で作業できる</a:t>
            </a:r>
            <a:endParaRPr lang="en-US" altLang="ja-JP" sz="1600" dirty="0">
              <a:latin typeface="Arial" panose="020B0604020202020204" pitchFamily="34" charset="0"/>
              <a:cs typeface="Arial" panose="020B0604020202020204" pitchFamily="34" charset="0"/>
            </a:endParaRPr>
          </a:p>
          <a:p>
            <a:r>
              <a:rPr lang="en-US" altLang="zh-CN" sz="1600" dirty="0">
                <a:latin typeface="Arial" panose="020B0604020202020204" pitchFamily="34" charset="0"/>
                <a:cs typeface="Arial" panose="020B0604020202020204" pitchFamily="34" charset="0"/>
              </a:rPr>
              <a:t>	</a:t>
            </a:r>
            <a:r>
              <a:rPr lang="ja-JP" altLang="en-US" sz="1600" dirty="0">
                <a:latin typeface="Arial" panose="020B0604020202020204" pitchFamily="34" charset="0"/>
                <a:cs typeface="Arial" panose="020B0604020202020204" pitchFamily="34" charset="0"/>
              </a:rPr>
              <a:t>登録：</a:t>
            </a:r>
            <a:r>
              <a:rPr lang="en-US" altLang="ja-JP" sz="1600" dirty="0">
                <a:latin typeface="Arial" panose="020B0604020202020204" pitchFamily="34" charset="0"/>
                <a:cs typeface="Arial" panose="020B0604020202020204" pitchFamily="34" charset="0"/>
              </a:rPr>
              <a:t>(Blob</a:t>
            </a:r>
            <a:r>
              <a:rPr lang="ja-JP" altLang="en-US" sz="1600" dirty="0">
                <a:latin typeface="Arial" panose="020B0604020202020204" pitchFamily="34" charset="0"/>
                <a:cs typeface="Arial" panose="020B0604020202020204" pitchFamily="34" charset="0"/>
              </a:rPr>
              <a:t>の</a:t>
            </a:r>
            <a:r>
              <a:rPr lang="en-US" altLang="ja-JP" sz="1600" dirty="0">
                <a:latin typeface="Arial" panose="020B0604020202020204" pitchFamily="34" charset="0"/>
                <a:cs typeface="Arial" panose="020B0604020202020204" pitchFamily="34" charset="0"/>
              </a:rPr>
              <a:t>CSV</a:t>
            </a:r>
            <a:r>
              <a:rPr lang="ja-JP" altLang="en-US" sz="1600" dirty="0">
                <a:latin typeface="Arial" panose="020B0604020202020204" pitchFamily="34" charset="0"/>
                <a:cs typeface="Arial" panose="020B0604020202020204" pitchFamily="34" charset="0"/>
              </a:rPr>
              <a:t>から</a:t>
            </a:r>
            <a:r>
              <a:rPr lang="en-US" altLang="ja-JP" sz="1600" dirty="0">
                <a:latin typeface="Arial" panose="020B0604020202020204" pitchFamily="34" charset="0"/>
                <a:cs typeface="Arial" panose="020B0604020202020204" pitchFamily="34" charset="0"/>
              </a:rPr>
              <a:t>)</a:t>
            </a:r>
            <a:r>
              <a:rPr lang="ja-JP" altLang="en-US" sz="1600" dirty="0">
                <a:latin typeface="Arial" panose="020B0604020202020204" pitchFamily="34" charset="0"/>
                <a:cs typeface="Arial" panose="020B0604020202020204" pitchFamily="34" charset="0"/>
              </a:rPr>
              <a:t>　</a:t>
            </a:r>
            <a:r>
              <a:rPr lang="en-US" altLang="ja-JP" sz="1600" dirty="0">
                <a:latin typeface="Arial" panose="020B0604020202020204" pitchFamily="34" charset="0"/>
                <a:cs typeface="Arial" panose="020B0604020202020204" pitchFamily="34" charset="0"/>
              </a:rPr>
              <a:t>COPY INTO</a:t>
            </a:r>
          </a:p>
          <a:p>
            <a:r>
              <a:rPr lang="en-US" altLang="ja-JP" sz="1600" dirty="0">
                <a:latin typeface="Arial" panose="020B0604020202020204" pitchFamily="34" charset="0"/>
                <a:cs typeface="Arial" panose="020B0604020202020204" pitchFamily="34" charset="0"/>
              </a:rPr>
              <a:t>	</a:t>
            </a:r>
            <a:r>
              <a:rPr lang="ja-JP" altLang="en-US" sz="1600" dirty="0">
                <a:latin typeface="Arial" panose="020B0604020202020204" pitchFamily="34" charset="0"/>
                <a:cs typeface="Arial" panose="020B0604020202020204" pitchFamily="34" charset="0"/>
              </a:rPr>
              <a:t>検索：</a:t>
            </a:r>
            <a:r>
              <a:rPr lang="en-US" altLang="ja-JP" sz="1600" dirty="0">
                <a:latin typeface="Arial" panose="020B0604020202020204" pitchFamily="34" charset="0"/>
                <a:cs typeface="Arial" panose="020B0604020202020204" pitchFamily="34" charset="0"/>
              </a:rPr>
              <a:t>T-SQL</a:t>
            </a:r>
            <a:r>
              <a:rPr lang="ja-JP" altLang="en-US" sz="1600" dirty="0">
                <a:latin typeface="Arial" panose="020B0604020202020204" pitchFamily="34" charset="0"/>
                <a:cs typeface="Arial" panose="020B0604020202020204" pitchFamily="34" charset="0"/>
              </a:rPr>
              <a:t>クエリ</a:t>
            </a:r>
            <a:endParaRPr lang="en-US" altLang="ja-JP" sz="1600" dirty="0">
              <a:latin typeface="Arial" panose="020B0604020202020204" pitchFamily="34" charset="0"/>
              <a:cs typeface="Arial" panose="020B0604020202020204" pitchFamily="34" charset="0"/>
            </a:endParaRPr>
          </a:p>
          <a:p>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rPr>
              <a:t>ベクトル検索、近傍検索：不可</a:t>
            </a: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rPr>
              <a:t>完全一致、部分一致、前方一致、後方一致、</a:t>
            </a:r>
            <a:r>
              <a:rPr lang="en-US" altLang="ja-JP" sz="1600" dirty="0">
                <a:latin typeface="Arial" panose="020B0604020202020204" pitchFamily="34" charset="0"/>
                <a:cs typeface="Arial" panose="020B0604020202020204" pitchFamily="34" charset="0"/>
              </a:rPr>
              <a:t>Not</a:t>
            </a:r>
            <a:r>
              <a:rPr lang="ja-JP" altLang="en-US" sz="1600" dirty="0">
                <a:latin typeface="Arial" panose="020B0604020202020204" pitchFamily="34" charset="0"/>
                <a:cs typeface="Arial" panose="020B0604020202020204" pitchFamily="34" charset="0"/>
              </a:rPr>
              <a:t>演算子：可</a:t>
            </a: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rPr>
              <a:t>検索性能：大規模分散式データソースに対するデータ処理を特化した分析システム</a:t>
            </a: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rPr>
              <a:t>索引管理：カラムを手動で指定する</a:t>
            </a: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zh-C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価格</a:t>
            </a:r>
            <a:r>
              <a:rPr lang="ja-JP" altLang="en-US" sz="1600" dirty="0">
                <a:latin typeface="Arial" panose="020B0604020202020204" pitchFamily="34" charset="0"/>
                <a:cs typeface="Arial" panose="020B0604020202020204" pitchFamily="34" charset="0"/>
                <a:sym typeface="Wingdings" panose="05000000000000000000" pitchFamily="2" charset="2"/>
              </a:rPr>
              <a:t>：</a:t>
            </a:r>
            <a:r>
              <a:rPr lang="en-US" altLang="ja-JP" sz="1600" dirty="0">
                <a:latin typeface="Arial" panose="020B0604020202020204" pitchFamily="34" charset="0"/>
                <a:cs typeface="Arial" panose="020B0604020202020204" pitchFamily="34" charset="0"/>
                <a:sym typeface="Wingdings" panose="05000000000000000000" pitchFamily="2" charset="2"/>
              </a:rPr>
              <a:t>DW100c</a:t>
            </a:r>
            <a:r>
              <a:rPr lang="ja-JP" altLang="en-US" sz="1600" dirty="0">
                <a:latin typeface="Arial" panose="020B0604020202020204" pitchFamily="34" charset="0"/>
                <a:cs typeface="Arial" panose="020B0604020202020204" pitchFamily="34" charset="0"/>
                <a:sym typeface="Wingdings" panose="05000000000000000000" pitchFamily="2" charset="2"/>
              </a:rPr>
              <a:t>　</a:t>
            </a:r>
            <a:r>
              <a:rPr lang="en-US" altLang="ja-JP" sz="1600" dirty="0">
                <a:latin typeface="Arial" panose="020B0604020202020204" pitchFamily="34" charset="0"/>
                <a:cs typeface="Arial" panose="020B0604020202020204" pitchFamily="34" charset="0"/>
                <a:sym typeface="Wingdings" panose="05000000000000000000" pitchFamily="2" charset="2"/>
              </a:rPr>
              <a:t>¥199,503.086/</a:t>
            </a:r>
            <a:r>
              <a:rPr lang="ja-JP" altLang="en-US" sz="1600" dirty="0">
                <a:latin typeface="Arial" panose="020B0604020202020204" pitchFamily="34" charset="0"/>
                <a:cs typeface="Arial" panose="020B0604020202020204" pitchFamily="34" charset="0"/>
                <a:sym typeface="Wingdings" panose="05000000000000000000" pitchFamily="2" charset="2"/>
              </a:rPr>
              <a:t>月 </a:t>
            </a:r>
            <a:r>
              <a:rPr lang="en-US" altLang="ja-JP" sz="1600" dirty="0">
                <a:latin typeface="Arial" panose="020B0604020202020204" pitchFamily="34" charset="0"/>
                <a:cs typeface="Arial" panose="020B0604020202020204" pitchFamily="34" charset="0"/>
                <a:sym typeface="Wingdings" panose="05000000000000000000" pitchFamily="2" charset="2"/>
              </a:rPr>
              <a:t>- DW200c</a:t>
            </a:r>
            <a:r>
              <a:rPr lang="ja-JP" altLang="en-US" sz="1600" dirty="0">
                <a:latin typeface="Arial" panose="020B0604020202020204" pitchFamily="34" charset="0"/>
                <a:cs typeface="Arial" panose="020B0604020202020204" pitchFamily="34" charset="0"/>
                <a:sym typeface="Wingdings" panose="05000000000000000000" pitchFamily="2" charset="2"/>
              </a:rPr>
              <a:t>　</a:t>
            </a:r>
            <a:r>
              <a:rPr lang="en-US" altLang="ja-JP" sz="1600" dirty="0">
                <a:latin typeface="Arial" panose="020B0604020202020204" pitchFamily="34" charset="0"/>
                <a:cs typeface="Arial" panose="020B0604020202020204" pitchFamily="34" charset="0"/>
                <a:sym typeface="Wingdings" panose="05000000000000000000" pitchFamily="2" charset="2"/>
              </a:rPr>
              <a:t>¥399,006.172/</a:t>
            </a:r>
            <a:r>
              <a:rPr lang="ja-JP" altLang="en-US" sz="1600" dirty="0">
                <a:latin typeface="Arial" panose="020B0604020202020204" pitchFamily="34" charset="0"/>
                <a:cs typeface="Arial" panose="020B0604020202020204" pitchFamily="34" charset="0"/>
                <a:sym typeface="Wingdings" panose="05000000000000000000" pitchFamily="2" charset="2"/>
              </a:rPr>
              <a:t>月 </a:t>
            </a:r>
            <a:endParaRPr lang="zh-CN" alt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6246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F8991-8554-16E2-B25E-64D787AB577A}"/>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A474CDF-3FD3-5C92-3021-3E8727954049}"/>
              </a:ext>
            </a:extLst>
          </p:cNvPr>
          <p:cNvSpPr txBox="1"/>
          <p:nvPr/>
        </p:nvSpPr>
        <p:spPr>
          <a:xfrm>
            <a:off x="575036" y="707011"/>
            <a:ext cx="10246936"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Azure Synapse Analytics</a:t>
            </a:r>
            <a:r>
              <a:rPr lang="ja-JP" altLang="en-US" dirty="0">
                <a:latin typeface="Arial" panose="020B0604020202020204" pitchFamily="34" charset="0"/>
                <a:cs typeface="Arial" panose="020B0604020202020204" pitchFamily="34" charset="0"/>
              </a:rPr>
              <a:t>に対する感想 </a:t>
            </a:r>
            <a:endParaRPr lang="zh-CN" altLang="en-US" dirty="0">
              <a:latin typeface="Arial" panose="020B0604020202020204" pitchFamily="34" charset="0"/>
              <a:cs typeface="Arial" panose="020B0604020202020204" pitchFamily="34" charset="0"/>
            </a:endParaRPr>
          </a:p>
        </p:txBody>
      </p:sp>
      <p:cxnSp>
        <p:nvCxnSpPr>
          <p:cNvPr id="6" name="直接连接符 5">
            <a:extLst>
              <a:ext uri="{FF2B5EF4-FFF2-40B4-BE49-F238E27FC236}">
                <a16:creationId xmlns:a16="http://schemas.microsoft.com/office/drawing/2014/main" id="{3A487ADB-825B-24F5-50C3-EC7EC4AE91FA}"/>
              </a:ext>
            </a:extLst>
          </p:cNvPr>
          <p:cNvCxnSpPr>
            <a:cxnSpLocks/>
          </p:cNvCxnSpPr>
          <p:nvPr/>
        </p:nvCxnSpPr>
        <p:spPr>
          <a:xfrm>
            <a:off x="480767" y="1216058"/>
            <a:ext cx="11019934"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E3D2129D-CBB4-C6BB-B6D0-573A100D6D69}"/>
              </a:ext>
            </a:extLst>
          </p:cNvPr>
          <p:cNvSpPr txBox="1"/>
          <p:nvPr/>
        </p:nvSpPr>
        <p:spPr>
          <a:xfrm>
            <a:off x="575036" y="1459348"/>
            <a:ext cx="10595728" cy="2062103"/>
          </a:xfrm>
          <a:prstGeom prst="rect">
            <a:avLst/>
          </a:prstGeom>
          <a:noFill/>
        </p:spPr>
        <p:txBody>
          <a:bodyPr wrap="square" rtlCol="0">
            <a:spAutoFit/>
          </a:bodyPr>
          <a:lstStyle/>
          <a:p>
            <a:pPr marL="285750" indent="-285750">
              <a:buFont typeface="Arial" panose="020B0604020202020204" pitchFamily="34" charset="0"/>
              <a:buChar char="•"/>
            </a:pPr>
            <a:r>
              <a:rPr lang="en-US" altLang="ja-JP" sz="1600" dirty="0">
                <a:latin typeface="Arial" panose="020B0604020202020204" pitchFamily="34" charset="0"/>
                <a:cs typeface="Arial" panose="020B0604020202020204" pitchFamily="34" charset="0"/>
              </a:rPr>
              <a:t>Azure Synapse Analytics</a:t>
            </a:r>
            <a:r>
              <a:rPr lang="ja-JP" altLang="en-US" sz="1600" dirty="0">
                <a:latin typeface="Arial" panose="020B0604020202020204" pitchFamily="34" charset="0"/>
                <a:cs typeface="Arial" panose="020B0604020202020204" pitchFamily="34" charset="0"/>
              </a:rPr>
              <a:t>（旧</a:t>
            </a:r>
            <a:r>
              <a:rPr lang="en-US" altLang="ja-JP" sz="1600" dirty="0">
                <a:latin typeface="Arial" panose="020B0604020202020204" pitchFamily="34" charset="0"/>
                <a:cs typeface="Arial" panose="020B0604020202020204" pitchFamily="34" charset="0"/>
              </a:rPr>
              <a:t>Azure Data Warehouse</a:t>
            </a:r>
            <a:r>
              <a:rPr lang="ja-JP" altLang="en-US" sz="1600" dirty="0">
                <a:latin typeface="Arial" panose="020B0604020202020204" pitchFamily="34" charset="0"/>
                <a:cs typeface="Arial" panose="020B0604020202020204" pitchFamily="34" charset="0"/>
              </a:rPr>
              <a:t>）は、その名の通り、</a:t>
            </a:r>
            <a:r>
              <a:rPr lang="en-US" altLang="ja-JP" sz="1600" dirty="0">
                <a:latin typeface="Arial" panose="020B0604020202020204" pitchFamily="34" charset="0"/>
                <a:cs typeface="Arial" panose="020B0604020202020204" pitchFamily="34" charset="0"/>
              </a:rPr>
              <a:t>TB/PB</a:t>
            </a:r>
            <a:r>
              <a:rPr lang="ja-JP" altLang="en-US" sz="1600" dirty="0">
                <a:latin typeface="Arial" panose="020B0604020202020204" pitchFamily="34" charset="0"/>
                <a:cs typeface="Arial" panose="020B0604020202020204" pitchFamily="34" charset="0"/>
              </a:rPr>
              <a:t>レベルの大規模データ分析用の分析基盤（</a:t>
            </a:r>
            <a:r>
              <a:rPr lang="en-US" altLang="ja-JP" sz="1600" dirty="0">
                <a:latin typeface="Arial" panose="020B0604020202020204" pitchFamily="34" charset="0"/>
                <a:cs typeface="Arial" panose="020B0604020202020204" pitchFamily="34" charset="0"/>
              </a:rPr>
              <a:t>OLAP</a:t>
            </a:r>
            <a:r>
              <a:rPr lang="ja-JP" altLang="en-US" sz="1600" dirty="0">
                <a:latin typeface="Arial" panose="020B0604020202020204" pitchFamily="34" charset="0"/>
                <a:cs typeface="Arial" panose="020B0604020202020204" pitchFamily="34" charset="0"/>
              </a:rPr>
              <a:t>）です。</a:t>
            </a:r>
            <a:r>
              <a:rPr lang="en-US" altLang="ja-JP" sz="1600" dirty="0">
                <a:latin typeface="Arial" panose="020B0604020202020204" pitchFamily="34" charset="0"/>
                <a:cs typeface="Arial" panose="020B0604020202020204" pitchFamily="34" charset="0"/>
              </a:rPr>
              <a:t>ETL</a:t>
            </a:r>
            <a:r>
              <a:rPr lang="ja-JP" altLang="en-US" sz="1600" dirty="0">
                <a:latin typeface="Arial" panose="020B0604020202020204" pitchFamily="34" charset="0"/>
                <a:cs typeface="Arial" panose="020B0604020202020204" pitchFamily="34" charset="0"/>
              </a:rPr>
              <a:t>、</a:t>
            </a:r>
            <a:r>
              <a:rPr lang="en-US" altLang="ja-JP" sz="1600" dirty="0">
                <a:latin typeface="Arial" panose="020B0604020202020204" pitchFamily="34" charset="0"/>
                <a:cs typeface="Arial" panose="020B0604020202020204" pitchFamily="34" charset="0"/>
              </a:rPr>
              <a:t>DW</a:t>
            </a:r>
            <a:r>
              <a:rPr lang="ja-JP" altLang="en-US" sz="1600" dirty="0">
                <a:latin typeface="Arial" panose="020B0604020202020204" pitchFamily="34" charset="0"/>
                <a:cs typeface="Arial" panose="020B0604020202020204" pitchFamily="34" charset="0"/>
              </a:rPr>
              <a:t>、データ処理、</a:t>
            </a:r>
            <a:r>
              <a:rPr lang="en-US" altLang="ja-JP" sz="1600" dirty="0">
                <a:latin typeface="Arial" panose="020B0604020202020204" pitchFamily="34" charset="0"/>
                <a:cs typeface="Arial" panose="020B0604020202020204" pitchFamily="34" charset="0"/>
              </a:rPr>
              <a:t>BI</a:t>
            </a:r>
            <a:r>
              <a:rPr lang="ja-JP" altLang="en-US" sz="1600" dirty="0">
                <a:latin typeface="Arial" panose="020B0604020202020204" pitchFamily="34" charset="0"/>
                <a:cs typeface="Arial" panose="020B0604020202020204" pitchFamily="34" charset="0"/>
              </a:rPr>
              <a:t>などの作業に適しています。</a:t>
            </a: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zh-C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ja-JP" sz="1600" dirty="0">
                <a:latin typeface="Arial" panose="020B0604020202020204" pitchFamily="34" charset="0"/>
                <a:cs typeface="Arial" panose="020B0604020202020204" pitchFamily="34" charset="0"/>
              </a:rPr>
              <a:t>Cosmos DB</a:t>
            </a:r>
            <a:r>
              <a:rPr lang="ja-JP" altLang="en-US" sz="1600" dirty="0">
                <a:latin typeface="Arial" panose="020B0604020202020204" pitchFamily="34" charset="0"/>
                <a:cs typeface="Arial" panose="020B0604020202020204" pitchFamily="34" charset="0"/>
              </a:rPr>
              <a:t>はトランザクション処理（</a:t>
            </a:r>
            <a:r>
              <a:rPr lang="en-US" altLang="ja-JP" sz="1600" dirty="0">
                <a:latin typeface="Arial" panose="020B0604020202020204" pitchFamily="34" charset="0"/>
                <a:cs typeface="Arial" panose="020B0604020202020204" pitchFamily="34" charset="0"/>
              </a:rPr>
              <a:t>OLTP</a:t>
            </a:r>
            <a:r>
              <a:rPr lang="ja-JP" altLang="en-US" sz="1600" dirty="0">
                <a:latin typeface="Arial" panose="020B0604020202020204" pitchFamily="34" charset="0"/>
                <a:cs typeface="Arial" panose="020B0604020202020204" pitchFamily="34" charset="0"/>
              </a:rPr>
              <a:t>）向けのデータベースであるため、特定の範囲内におけるリアルタイムなデータ登録や検索作業に適しています。</a:t>
            </a: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rPr>
              <a:t>総論としては、 </a:t>
            </a:r>
            <a:r>
              <a:rPr lang="en-US" altLang="ja-JP" sz="1600" dirty="0">
                <a:latin typeface="Arial" panose="020B0604020202020204" pitchFamily="34" charset="0"/>
                <a:cs typeface="Arial" panose="020B0604020202020204" pitchFamily="34" charset="0"/>
              </a:rPr>
              <a:t>Azure Synapse Analytics</a:t>
            </a:r>
            <a:r>
              <a:rPr lang="ja-JP" altLang="en-US" sz="1600" dirty="0">
                <a:latin typeface="Arial" panose="020B0604020202020204" pitchFamily="34" charset="0"/>
                <a:cs typeface="Arial" panose="020B0604020202020204" pitchFamily="34" charset="0"/>
              </a:rPr>
              <a:t>はデータ分析向けの</a:t>
            </a:r>
            <a:r>
              <a:rPr lang="en-US" altLang="ja-JP" sz="1600" dirty="0">
                <a:latin typeface="Arial" panose="020B0604020202020204" pitchFamily="34" charset="0"/>
                <a:cs typeface="Arial" panose="020B0604020202020204" pitchFamily="34" charset="0"/>
              </a:rPr>
              <a:t>Azure</a:t>
            </a:r>
            <a:r>
              <a:rPr lang="ja-JP" altLang="en-US" sz="1600" dirty="0">
                <a:latin typeface="Arial" panose="020B0604020202020204" pitchFamily="34" charset="0"/>
                <a:cs typeface="Arial" panose="020B0604020202020204" pitchFamily="34" charset="0"/>
              </a:rPr>
              <a:t>ツールであり、リアルタイムのベクトル検索や近傍検索には向かないと考えられます。</a:t>
            </a:r>
            <a:endParaRPr lang="en-US" altLang="ja-JP"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9093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68E7C-54F4-58F9-D796-F4117E8EBA19}"/>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152D51D-CBC8-6C0D-EFA1-7B56D2CD8935}"/>
              </a:ext>
            </a:extLst>
          </p:cNvPr>
          <p:cNvSpPr txBox="1"/>
          <p:nvPr/>
        </p:nvSpPr>
        <p:spPr>
          <a:xfrm>
            <a:off x="575036" y="707011"/>
            <a:ext cx="10246936" cy="369332"/>
          </a:xfrm>
          <a:prstGeom prst="rect">
            <a:avLst/>
          </a:prstGeom>
          <a:noFill/>
        </p:spPr>
        <p:txBody>
          <a:bodyPr wrap="square" rtlCol="0">
            <a:spAutoFit/>
          </a:bodyPr>
          <a:lstStyle/>
          <a:p>
            <a:r>
              <a:rPr lang="ja-JP" altLang="en-US" dirty="0">
                <a:latin typeface="Arial" panose="020B0604020202020204" pitchFamily="34" charset="0"/>
                <a:cs typeface="Arial" panose="020B0604020202020204" pitchFamily="34" charset="0"/>
              </a:rPr>
              <a:t>ベクトル検索、近傍検索と全文データのストレージ</a:t>
            </a:r>
            <a:endParaRPr lang="zh-CN" altLang="en-US" dirty="0">
              <a:latin typeface="Arial" panose="020B0604020202020204" pitchFamily="34" charset="0"/>
              <a:cs typeface="Arial" panose="020B0604020202020204" pitchFamily="34" charset="0"/>
            </a:endParaRPr>
          </a:p>
        </p:txBody>
      </p:sp>
      <p:cxnSp>
        <p:nvCxnSpPr>
          <p:cNvPr id="6" name="直接连接符 5">
            <a:extLst>
              <a:ext uri="{FF2B5EF4-FFF2-40B4-BE49-F238E27FC236}">
                <a16:creationId xmlns:a16="http://schemas.microsoft.com/office/drawing/2014/main" id="{8FBFE9D3-F26E-F0B1-C05F-DB87A7F497E6}"/>
              </a:ext>
            </a:extLst>
          </p:cNvPr>
          <p:cNvCxnSpPr>
            <a:cxnSpLocks/>
          </p:cNvCxnSpPr>
          <p:nvPr/>
        </p:nvCxnSpPr>
        <p:spPr>
          <a:xfrm>
            <a:off x="480767" y="1216058"/>
            <a:ext cx="11019934"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F7256BF6-E8D9-6E15-4AE4-79F2B8298AA8}"/>
              </a:ext>
            </a:extLst>
          </p:cNvPr>
          <p:cNvSpPr txBox="1"/>
          <p:nvPr/>
        </p:nvSpPr>
        <p:spPr>
          <a:xfrm>
            <a:off x="575036" y="1459348"/>
            <a:ext cx="10595728" cy="3293209"/>
          </a:xfrm>
          <a:prstGeom prst="rect">
            <a:avLst/>
          </a:prstGeom>
          <a:noFill/>
        </p:spPr>
        <p:txBody>
          <a:bodyPr wrap="square" rtlCol="0">
            <a:spAutoFit/>
          </a:bodyPr>
          <a:lstStyle/>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rPr>
              <a:t>調査によると、</a:t>
            </a:r>
            <a:r>
              <a:rPr lang="en-US" altLang="ja-JP" sz="1600" dirty="0">
                <a:latin typeface="Arial" panose="020B0604020202020204" pitchFamily="34" charset="0"/>
                <a:cs typeface="Arial" panose="020B0604020202020204" pitchFamily="34" charset="0"/>
              </a:rPr>
              <a:t>Azure AI Search</a:t>
            </a:r>
            <a:r>
              <a:rPr lang="ja-JP" altLang="en-US" sz="1600" dirty="0">
                <a:latin typeface="Arial" panose="020B0604020202020204" pitchFamily="34" charset="0"/>
                <a:cs typeface="Arial" panose="020B0604020202020204" pitchFamily="34" charset="0"/>
              </a:rPr>
              <a:t>は近傍検索機能が強力であり、ベクトル検索も可能です。近傍検索を実装するために、</a:t>
            </a:r>
            <a:r>
              <a:rPr lang="en-US" altLang="ja-JP" sz="1600" dirty="0">
                <a:latin typeface="Arial" panose="020B0604020202020204" pitchFamily="34" charset="0"/>
                <a:cs typeface="Arial" panose="020B0604020202020204" pitchFamily="34" charset="0"/>
              </a:rPr>
              <a:t>Azure AI Search</a:t>
            </a:r>
            <a:r>
              <a:rPr lang="ja-JP" altLang="en-US" sz="1600" dirty="0">
                <a:latin typeface="Arial" panose="020B0604020202020204" pitchFamily="34" charset="0"/>
                <a:cs typeface="Arial" panose="020B0604020202020204" pitchFamily="34" charset="0"/>
              </a:rPr>
              <a:t>でクエリを実行できるよう、</a:t>
            </a:r>
            <a:r>
              <a:rPr lang="en-US" altLang="ja-JP" sz="1600" dirty="0">
                <a:latin typeface="Arial" panose="020B0604020202020204" pitchFamily="34" charset="0"/>
                <a:cs typeface="Arial" panose="020B0604020202020204" pitchFamily="34" charset="0"/>
              </a:rPr>
              <a:t>Cosmos DB</a:t>
            </a:r>
            <a:r>
              <a:rPr lang="ja-JP" altLang="en-US" sz="1600" dirty="0">
                <a:latin typeface="Arial" panose="020B0604020202020204" pitchFamily="34" charset="0"/>
                <a:cs typeface="Arial" panose="020B0604020202020204" pitchFamily="34" charset="0"/>
              </a:rPr>
              <a:t>から</a:t>
            </a:r>
            <a:r>
              <a:rPr lang="en-US" altLang="ja-JP" sz="1600" dirty="0">
                <a:latin typeface="Arial" panose="020B0604020202020204" pitchFamily="34" charset="0"/>
                <a:cs typeface="Arial" panose="020B0604020202020204" pitchFamily="34" charset="0"/>
              </a:rPr>
              <a:t>AB</a:t>
            </a:r>
            <a:r>
              <a:rPr lang="ja-JP" altLang="en-US" sz="1600" dirty="0">
                <a:latin typeface="Arial" panose="020B0604020202020204" pitchFamily="34" charset="0"/>
                <a:cs typeface="Arial" panose="020B0604020202020204" pitchFamily="34" charset="0"/>
              </a:rPr>
              <a:t>データと</a:t>
            </a:r>
            <a:r>
              <a:rPr lang="en-US" altLang="ja-JP" sz="1600" dirty="0">
                <a:latin typeface="Arial" panose="020B0604020202020204" pitchFamily="34" charset="0"/>
                <a:cs typeface="Arial" panose="020B0604020202020204" pitchFamily="34" charset="0"/>
              </a:rPr>
              <a:t>CL</a:t>
            </a:r>
            <a:r>
              <a:rPr lang="ja-JP" altLang="en-US" sz="1600" dirty="0">
                <a:latin typeface="Arial" panose="020B0604020202020204" pitchFamily="34" charset="0"/>
                <a:cs typeface="Arial" panose="020B0604020202020204" pitchFamily="34" charset="0"/>
              </a:rPr>
              <a:t>データのみのインデックスを作成します。</a:t>
            </a: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ja-JP" sz="1600" dirty="0">
                <a:latin typeface="Arial" panose="020B0604020202020204" pitchFamily="34" charset="0"/>
                <a:cs typeface="Arial" panose="020B0604020202020204" pitchFamily="34" charset="0"/>
              </a:rPr>
              <a:t>Azure AI Search</a:t>
            </a:r>
            <a:r>
              <a:rPr lang="ja-JP" altLang="en-US" sz="1600" dirty="0">
                <a:latin typeface="Arial" panose="020B0604020202020204" pitchFamily="34" charset="0"/>
                <a:cs typeface="Arial" panose="020B0604020202020204" pitchFamily="34" charset="0"/>
              </a:rPr>
              <a:t>の価格：</a:t>
            </a:r>
            <a:endParaRPr lang="en-US" altLang="ja-JP" sz="1600" dirty="0">
              <a:latin typeface="Arial" panose="020B0604020202020204" pitchFamily="34" charset="0"/>
              <a:cs typeface="Arial" panose="020B0604020202020204" pitchFamily="34" charset="0"/>
            </a:endParaRPr>
          </a:p>
          <a:p>
            <a:r>
              <a:rPr lang="en-US" altLang="zh-CN" sz="1600" dirty="0">
                <a:latin typeface="Arial" panose="020B0604020202020204" pitchFamily="34" charset="0"/>
                <a:cs typeface="Arial" panose="020B0604020202020204" pitchFamily="34" charset="0"/>
              </a:rPr>
              <a:t>	</a:t>
            </a:r>
            <a:r>
              <a:rPr lang="ja-JP" altLang="en-US" sz="1600"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標準</a:t>
            </a:r>
            <a:r>
              <a:rPr lang="en-US" altLang="ja-JP" sz="1600"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S</a:t>
            </a:r>
            <a:r>
              <a:rPr lang="ja-JP" altLang="en-US" sz="1600"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１</a:t>
            </a:r>
            <a:r>
              <a:rPr lang="ja-JP" altLang="en-US" sz="1600" dirty="0">
                <a:latin typeface="Arial" panose="020B0604020202020204" pitchFamily="34" charset="0"/>
                <a:cs typeface="Arial" panose="020B0604020202020204" pitchFamily="34" charset="0"/>
              </a:rPr>
              <a:t>の場合：</a:t>
            </a:r>
            <a:r>
              <a:rPr lang="en-US" altLang="ja-JP" sz="1600" dirty="0">
                <a:latin typeface="Arial" panose="020B0604020202020204" pitchFamily="34" charset="0"/>
                <a:cs typeface="Arial" panose="020B0604020202020204" pitchFamily="34" charset="0"/>
              </a:rPr>
              <a:t>¥48,938.88</a:t>
            </a:r>
            <a:r>
              <a:rPr lang="en-US" altLang="zh-CN" sz="1600" dirty="0">
                <a:latin typeface="Arial" panose="020B0604020202020204" pitchFamily="34" charset="0"/>
                <a:cs typeface="Arial" panose="020B0604020202020204" pitchFamily="34" charset="0"/>
              </a:rPr>
              <a:t>/SU</a:t>
            </a:r>
            <a:r>
              <a:rPr lang="en-US" altLang="ja-JP" sz="1600" dirty="0">
                <a:latin typeface="Arial" panose="020B0604020202020204" pitchFamily="34" charset="0"/>
                <a:cs typeface="Arial" panose="020B0604020202020204" pitchFamily="34" charset="0"/>
              </a:rPr>
              <a:t>/</a:t>
            </a:r>
            <a:r>
              <a:rPr lang="ja-JP" altLang="en-US" sz="1600" dirty="0">
                <a:latin typeface="Arial" panose="020B0604020202020204" pitchFamily="34" charset="0"/>
                <a:cs typeface="Arial" panose="020B0604020202020204" pitchFamily="34" charset="0"/>
              </a:rPr>
              <a:t>月 </a:t>
            </a:r>
            <a:r>
              <a:rPr lang="en-US" altLang="ja-JP" sz="1600" dirty="0">
                <a:latin typeface="Arial" panose="020B0604020202020204" pitchFamily="34" charset="0"/>
                <a:cs typeface="Arial" panose="020B0604020202020204" pitchFamily="34" charset="0"/>
              </a:rPr>
              <a:t>- 160 GB/SU</a:t>
            </a:r>
            <a:r>
              <a:rPr lang="ja-JP" altLang="en-US" sz="1600" dirty="0">
                <a:latin typeface="Arial" panose="020B0604020202020204" pitchFamily="34" charset="0"/>
                <a:cs typeface="Arial" panose="020B0604020202020204" pitchFamily="34" charset="0"/>
              </a:rPr>
              <a:t>　</a:t>
            </a:r>
            <a:r>
              <a:rPr lang="en-US" altLang="ja-JP" sz="1600" dirty="0">
                <a:latin typeface="Arial" panose="020B0604020202020204" pitchFamily="34" charset="0"/>
                <a:cs typeface="Arial" panose="020B0604020202020204" pitchFamily="34" charset="0"/>
              </a:rPr>
              <a:t>Service Unit,</a:t>
            </a:r>
            <a:r>
              <a:rPr lang="ja-JP" altLang="en-US" sz="1600" dirty="0">
                <a:latin typeface="Arial" panose="020B0604020202020204" pitchFamily="34" charset="0"/>
                <a:cs typeface="Arial" panose="020B0604020202020204" pitchFamily="34" charset="0"/>
              </a:rPr>
              <a:t> 最大１２ユニット </a:t>
            </a:r>
            <a:r>
              <a:rPr lang="en-US" altLang="ja-JP" sz="1600" dirty="0">
                <a:latin typeface="Arial" panose="020B0604020202020204" pitchFamily="34" charset="0"/>
                <a:cs typeface="Arial" panose="020B0604020202020204" pitchFamily="34" charset="0"/>
              </a:rPr>
              <a:t>= 160*12 = 1.9TB</a:t>
            </a:r>
          </a:p>
          <a:p>
            <a:r>
              <a:rPr lang="en-US" altLang="zh-CN" sz="1600" dirty="0">
                <a:latin typeface="Arial" panose="020B0604020202020204" pitchFamily="34" charset="0"/>
                <a:cs typeface="Arial" panose="020B0604020202020204" pitchFamily="34" charset="0"/>
              </a:rPr>
              <a:t>	</a:t>
            </a:r>
            <a:r>
              <a:rPr lang="ja-JP" altLang="en-US" sz="1600" dirty="0">
                <a:latin typeface="Arial" panose="020B0604020202020204" pitchFamily="34" charset="0"/>
                <a:cs typeface="Arial" panose="020B0604020202020204" pitchFamily="34" charset="0"/>
              </a:rPr>
              <a:t>標準</a:t>
            </a:r>
            <a:r>
              <a:rPr lang="en-US" altLang="ja-JP" sz="1600" dirty="0">
                <a:latin typeface="Arial" panose="020B0604020202020204" pitchFamily="34" charset="0"/>
                <a:cs typeface="Arial" panose="020B0604020202020204" pitchFamily="34" charset="0"/>
              </a:rPr>
              <a:t>S</a:t>
            </a:r>
            <a:r>
              <a:rPr lang="ja-JP" altLang="en-US" sz="1600" dirty="0">
                <a:latin typeface="Arial" panose="020B0604020202020204" pitchFamily="34" charset="0"/>
                <a:cs typeface="Arial" panose="020B0604020202020204" pitchFamily="34" charset="0"/>
              </a:rPr>
              <a:t>２の場合：</a:t>
            </a:r>
            <a:r>
              <a:rPr lang="en-US" altLang="ja-JP" sz="1600" dirty="0">
                <a:latin typeface="Arial" panose="020B0604020202020204" pitchFamily="34" charset="0"/>
                <a:cs typeface="Arial" panose="020B0604020202020204" pitchFamily="34" charset="0"/>
              </a:rPr>
              <a:t>¥195,535.07</a:t>
            </a:r>
            <a:r>
              <a:rPr lang="en-US" altLang="zh-CN" sz="1600" dirty="0">
                <a:latin typeface="Arial" panose="020B0604020202020204" pitchFamily="34" charset="0"/>
                <a:cs typeface="Arial" panose="020B0604020202020204" pitchFamily="34" charset="0"/>
              </a:rPr>
              <a:t>/SU </a:t>
            </a:r>
            <a:r>
              <a:rPr lang="en-US" altLang="ja-JP" sz="1600" dirty="0">
                <a:latin typeface="Arial" panose="020B0604020202020204" pitchFamily="34" charset="0"/>
                <a:cs typeface="Arial" panose="020B0604020202020204" pitchFamily="34" charset="0"/>
              </a:rPr>
              <a:t>/</a:t>
            </a:r>
            <a:r>
              <a:rPr lang="ja-JP" altLang="en-US" sz="1600" dirty="0">
                <a:latin typeface="Arial" panose="020B0604020202020204" pitchFamily="34" charset="0"/>
                <a:cs typeface="Arial" panose="020B0604020202020204" pitchFamily="34" charset="0"/>
              </a:rPr>
              <a:t>月 </a:t>
            </a:r>
            <a:r>
              <a:rPr lang="en-US" altLang="ja-JP" sz="1600" dirty="0">
                <a:latin typeface="Arial" panose="020B0604020202020204" pitchFamily="34" charset="0"/>
                <a:cs typeface="Arial" panose="020B0604020202020204" pitchFamily="34" charset="0"/>
              </a:rPr>
              <a:t>- 512 GB/SU</a:t>
            </a:r>
            <a:r>
              <a:rPr lang="ja-JP" altLang="en-US" sz="1600" dirty="0">
                <a:latin typeface="Arial" panose="020B0604020202020204" pitchFamily="34" charset="0"/>
                <a:cs typeface="Arial" panose="020B0604020202020204" pitchFamily="34" charset="0"/>
              </a:rPr>
              <a:t>　</a:t>
            </a:r>
            <a:r>
              <a:rPr lang="en-US" altLang="ja-JP" sz="1600" dirty="0">
                <a:latin typeface="Arial" panose="020B0604020202020204" pitchFamily="34" charset="0"/>
                <a:cs typeface="Arial" panose="020B0604020202020204" pitchFamily="34" charset="0"/>
              </a:rPr>
              <a:t>Service Unit,</a:t>
            </a:r>
            <a:r>
              <a:rPr lang="ja-JP" altLang="en-US" sz="1600" dirty="0">
                <a:latin typeface="Arial" panose="020B0604020202020204" pitchFamily="34" charset="0"/>
                <a:cs typeface="Arial" panose="020B0604020202020204" pitchFamily="34" charset="0"/>
              </a:rPr>
              <a:t> 最大１２ユニット </a:t>
            </a:r>
            <a:r>
              <a:rPr lang="en-US" altLang="ja-JP" sz="1600" dirty="0">
                <a:latin typeface="Arial" panose="020B0604020202020204" pitchFamily="34" charset="0"/>
                <a:cs typeface="Arial" panose="020B0604020202020204" pitchFamily="34" charset="0"/>
              </a:rPr>
              <a:t>= 512*12 = 6TB</a:t>
            </a:r>
          </a:p>
          <a:p>
            <a:endParaRPr lang="en-US" altLang="ja-JP"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1600" dirty="0">
                <a:latin typeface="Arial" panose="020B0604020202020204" pitchFamily="34" charset="0"/>
                <a:cs typeface="Arial" panose="020B0604020202020204" pitchFamily="34" charset="0"/>
              </a:rPr>
              <a:t>他に、全文データのストレージのために、前述の</a:t>
            </a:r>
            <a:r>
              <a:rPr lang="en-US" altLang="ja-JP" sz="1600" dirty="0">
                <a:latin typeface="Arial" panose="020B0604020202020204" pitchFamily="34" charset="0"/>
                <a:cs typeface="Arial" panose="020B0604020202020204" pitchFamily="34" charset="0"/>
              </a:rPr>
              <a:t>Azure Data Lake Storage</a:t>
            </a:r>
            <a:r>
              <a:rPr lang="ja-JP" altLang="en-US" sz="1600" dirty="0">
                <a:latin typeface="Arial" panose="020B0604020202020204" pitchFamily="34" charset="0"/>
                <a:cs typeface="Arial" panose="020B0604020202020204" pitchFamily="34" charset="0"/>
              </a:rPr>
              <a:t>を活用し、特許データの全文は</a:t>
            </a:r>
            <a:r>
              <a:rPr lang="en-US" altLang="ja-JP" sz="1600" dirty="0">
                <a:latin typeface="Arial" panose="020B0604020202020204" pitchFamily="34" charset="0"/>
                <a:cs typeface="Arial" panose="020B0604020202020204" pitchFamily="34" charset="0"/>
              </a:rPr>
              <a:t>Data Lake Storage</a:t>
            </a:r>
            <a:r>
              <a:rPr lang="ja-JP" altLang="en-US" sz="1600" dirty="0">
                <a:latin typeface="Arial" panose="020B0604020202020204" pitchFamily="34" charset="0"/>
                <a:cs typeface="Arial" panose="020B0604020202020204" pitchFamily="34" charset="0"/>
              </a:rPr>
              <a:t>に保存することで、万が一必要な時に全文</a:t>
            </a:r>
            <a:r>
              <a:rPr lang="en-US" altLang="ja-JP" sz="1600" dirty="0">
                <a:latin typeface="Arial" panose="020B0604020202020204" pitchFamily="34" charset="0"/>
                <a:cs typeface="Arial" panose="020B0604020202020204" pitchFamily="34" charset="0"/>
              </a:rPr>
              <a:t>JSON</a:t>
            </a:r>
            <a:r>
              <a:rPr lang="ja-JP" altLang="en-US" sz="1600" dirty="0">
                <a:latin typeface="Arial" panose="020B0604020202020204" pitchFamily="34" charset="0"/>
                <a:cs typeface="Arial" panose="020B0604020202020204" pitchFamily="34" charset="0"/>
              </a:rPr>
              <a:t>も迅速に検索できそうです。</a:t>
            </a:r>
            <a:r>
              <a:rPr lang="en-US" altLang="ja-JP" sz="1600" dirty="0">
                <a:latin typeface="Arial" panose="020B0604020202020204" pitchFamily="34" charset="0"/>
                <a:cs typeface="Arial" panose="020B0604020202020204" pitchFamily="34" charset="0"/>
              </a:rPr>
              <a:t>(</a:t>
            </a:r>
            <a:r>
              <a:rPr lang="ja-JP" altLang="en-US" sz="1600" dirty="0">
                <a:latin typeface="Arial" panose="020B0604020202020204" pitchFamily="34" charset="0"/>
                <a:cs typeface="Arial" panose="020B0604020202020204" pitchFamily="34" charset="0"/>
              </a:rPr>
              <a:t>以下は</a:t>
            </a:r>
            <a:r>
              <a:rPr lang="en-US" altLang="ja-JP" sz="1600" dirty="0">
                <a:latin typeface="Arial" panose="020B0604020202020204" pitchFamily="34" charset="0"/>
                <a:cs typeface="Arial" panose="020B0604020202020204" pitchFamily="34" charset="0"/>
              </a:rPr>
              <a:t>Ho</a:t>
            </a:r>
            <a:r>
              <a:rPr lang="ja-JP" altLang="en-US" sz="1600" dirty="0">
                <a:latin typeface="Arial" panose="020B0604020202020204" pitchFamily="34" charset="0"/>
                <a:cs typeface="Arial" panose="020B0604020202020204" pitchFamily="34" charset="0"/>
              </a:rPr>
              <a:t>ｔの</a:t>
            </a:r>
            <a:r>
              <a:rPr lang="ja-JP" altLang="en-US" sz="1600"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サンプル</a:t>
            </a:r>
            <a:r>
              <a:rPr lang="ja-JP" altLang="en-US" sz="1600" dirty="0">
                <a:latin typeface="Arial" panose="020B0604020202020204" pitchFamily="34" charset="0"/>
                <a:cs typeface="Arial" panose="020B0604020202020204" pitchFamily="34" charset="0"/>
              </a:rPr>
              <a:t>）</a:t>
            </a:r>
            <a:endParaRPr lang="en-US" altLang="ja-JP" sz="1600" dirty="0">
              <a:latin typeface="Arial" panose="020B0604020202020204" pitchFamily="34" charset="0"/>
              <a:cs typeface="Arial" panose="020B0604020202020204" pitchFamily="34" charset="0"/>
            </a:endParaRPr>
          </a:p>
          <a:p>
            <a:r>
              <a:rPr lang="en-US" altLang="ja-JP" sz="1600" dirty="0">
                <a:latin typeface="Arial" panose="020B0604020202020204" pitchFamily="34" charset="0"/>
                <a:cs typeface="Arial" panose="020B0604020202020204" pitchFamily="34" charset="0"/>
              </a:rPr>
              <a:t>	Data Storage: max 51,200 GB / month - ¥3.020 per GB</a:t>
            </a:r>
          </a:p>
          <a:p>
            <a:r>
              <a:rPr lang="en-US" altLang="ja-JP" sz="1600" dirty="0">
                <a:latin typeface="Arial" panose="020B0604020202020204" pitchFamily="34" charset="0"/>
                <a:cs typeface="Arial" panose="020B0604020202020204" pitchFamily="34" charset="0"/>
              </a:rPr>
              <a:t>	Transaction: Write Operations* (every 4 MB, per 10,000)</a:t>
            </a:r>
            <a:r>
              <a:rPr lang="ja-JP" altLang="en-US" sz="1600" dirty="0">
                <a:latin typeface="Arial" panose="020B0604020202020204" pitchFamily="34" charset="0"/>
                <a:cs typeface="Arial" panose="020B0604020202020204" pitchFamily="34" charset="0"/>
              </a:rPr>
              <a:t>　</a:t>
            </a:r>
            <a:r>
              <a:rPr lang="en-US" altLang="ja-JP" sz="1600" dirty="0">
                <a:latin typeface="Arial" panose="020B0604020202020204" pitchFamily="34" charset="0"/>
                <a:cs typeface="Arial" panose="020B0604020202020204" pitchFamily="34" charset="0"/>
              </a:rPr>
              <a:t>¥9.81435</a:t>
            </a:r>
          </a:p>
          <a:p>
            <a:r>
              <a:rPr lang="en-US" altLang="ja-JP" sz="1600" dirty="0">
                <a:latin typeface="Arial" panose="020B0604020202020204" pitchFamily="34" charset="0"/>
                <a:cs typeface="Arial" panose="020B0604020202020204" pitchFamily="34" charset="0"/>
              </a:rPr>
              <a:t>			</a:t>
            </a:r>
            <a:r>
              <a:rPr lang="ja-JP" altLang="en-US" sz="1600" dirty="0">
                <a:latin typeface="Arial" panose="020B0604020202020204" pitchFamily="34" charset="0"/>
                <a:cs typeface="Arial" panose="020B0604020202020204" pitchFamily="34" charset="0"/>
              </a:rPr>
              <a:t>　　</a:t>
            </a:r>
            <a:r>
              <a:rPr lang="en-US" altLang="ja-JP" sz="1600" dirty="0">
                <a:latin typeface="Arial" panose="020B0604020202020204" pitchFamily="34" charset="0"/>
                <a:cs typeface="Arial" panose="020B0604020202020204" pitchFamily="34" charset="0"/>
              </a:rPr>
              <a:t>Read Operations** (every 4 MB, per 10,000)</a:t>
            </a:r>
            <a:r>
              <a:rPr lang="ja-JP" altLang="en-US" sz="1600" dirty="0">
                <a:latin typeface="Arial" panose="020B0604020202020204" pitchFamily="34" charset="0"/>
                <a:cs typeface="Arial" panose="020B0604020202020204" pitchFamily="34" charset="0"/>
              </a:rPr>
              <a:t>　</a:t>
            </a:r>
            <a:r>
              <a:rPr lang="en-US" altLang="ja-JP" sz="1600" dirty="0">
                <a:latin typeface="Arial" panose="020B0604020202020204" pitchFamily="34" charset="0"/>
                <a:cs typeface="Arial" panose="020B0604020202020204" pitchFamily="34" charset="0"/>
              </a:rPr>
              <a:t>¥0.78515</a:t>
            </a:r>
          </a:p>
          <a:p>
            <a:r>
              <a:rPr lang="en-US" altLang="ja-JP" sz="1600" dirty="0">
                <a:latin typeface="Arial" panose="020B0604020202020204" pitchFamily="34" charset="0"/>
                <a:cs typeface="Arial" panose="020B0604020202020204" pitchFamily="34" charset="0"/>
              </a:rPr>
              <a:t>	</a:t>
            </a:r>
          </a:p>
        </p:txBody>
      </p:sp>
      <p:sp>
        <p:nvSpPr>
          <p:cNvPr id="5" name="矩形 4">
            <a:extLst>
              <a:ext uri="{FF2B5EF4-FFF2-40B4-BE49-F238E27FC236}">
                <a16:creationId xmlns:a16="http://schemas.microsoft.com/office/drawing/2014/main" id="{F097F366-F3C9-BC92-3E0C-23A9F7A36928}"/>
              </a:ext>
            </a:extLst>
          </p:cNvPr>
          <p:cNvSpPr/>
          <p:nvPr/>
        </p:nvSpPr>
        <p:spPr>
          <a:xfrm>
            <a:off x="5344999" y="4752557"/>
            <a:ext cx="1809946" cy="49019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ysClr val="windowText" lastClr="000000"/>
                </a:solidFill>
              </a:rPr>
              <a:t>Cosmos DB</a:t>
            </a:r>
          </a:p>
        </p:txBody>
      </p:sp>
      <p:sp>
        <p:nvSpPr>
          <p:cNvPr id="7" name="矩形 6">
            <a:extLst>
              <a:ext uri="{FF2B5EF4-FFF2-40B4-BE49-F238E27FC236}">
                <a16:creationId xmlns:a16="http://schemas.microsoft.com/office/drawing/2014/main" id="{6D293704-5F39-864B-CA0E-28491AA5A4AC}"/>
              </a:ext>
            </a:extLst>
          </p:cNvPr>
          <p:cNvSpPr/>
          <p:nvPr/>
        </p:nvSpPr>
        <p:spPr>
          <a:xfrm>
            <a:off x="5340286" y="5764838"/>
            <a:ext cx="1809946" cy="49019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800" dirty="0">
                <a:solidFill>
                  <a:sysClr val="windowText" lastClr="000000"/>
                </a:solidFill>
                <a:latin typeface="Arial" panose="020B0604020202020204" pitchFamily="34" charset="0"/>
                <a:cs typeface="Arial" panose="020B0604020202020204" pitchFamily="34" charset="0"/>
              </a:rPr>
              <a:t>AI Search</a:t>
            </a:r>
            <a:endParaRPr lang="en-US" altLang="zh-CN" dirty="0">
              <a:solidFill>
                <a:sysClr val="windowText" lastClr="000000"/>
              </a:solidFill>
            </a:endParaRPr>
          </a:p>
        </p:txBody>
      </p:sp>
      <p:cxnSp>
        <p:nvCxnSpPr>
          <p:cNvPr id="9" name="直接箭头连接符 8">
            <a:extLst>
              <a:ext uri="{FF2B5EF4-FFF2-40B4-BE49-F238E27FC236}">
                <a16:creationId xmlns:a16="http://schemas.microsoft.com/office/drawing/2014/main" id="{B536402A-A470-2A4A-E8EC-6F2FB40D4C82}"/>
              </a:ext>
            </a:extLst>
          </p:cNvPr>
          <p:cNvCxnSpPr>
            <a:stCxn id="7" idx="0"/>
            <a:endCxn id="5" idx="2"/>
          </p:cNvCxnSpPr>
          <p:nvPr/>
        </p:nvCxnSpPr>
        <p:spPr>
          <a:xfrm flipV="1">
            <a:off x="6245259" y="5242751"/>
            <a:ext cx="4713" cy="522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CF4B003-4AF8-3F7B-26CB-F2C2FD10BC3A}"/>
              </a:ext>
            </a:extLst>
          </p:cNvPr>
          <p:cNvSpPr txBox="1"/>
          <p:nvPr/>
        </p:nvSpPr>
        <p:spPr>
          <a:xfrm>
            <a:off x="6325385" y="5334517"/>
            <a:ext cx="2031477" cy="338554"/>
          </a:xfrm>
          <a:prstGeom prst="rect">
            <a:avLst/>
          </a:prstGeom>
          <a:noFill/>
        </p:spPr>
        <p:txBody>
          <a:bodyPr wrap="square" rtlCol="0">
            <a:spAutoFit/>
          </a:bodyPr>
          <a:lstStyle/>
          <a:p>
            <a:r>
              <a:rPr lang="ja-JP" altLang="en-US" sz="1600" dirty="0"/>
              <a:t>テキスト索引を作成</a:t>
            </a:r>
            <a:endParaRPr lang="zh-CN" altLang="en-US" sz="1600" dirty="0"/>
          </a:p>
        </p:txBody>
      </p:sp>
      <p:cxnSp>
        <p:nvCxnSpPr>
          <p:cNvPr id="12" name="连接符: 肘形 11">
            <a:extLst>
              <a:ext uri="{FF2B5EF4-FFF2-40B4-BE49-F238E27FC236}">
                <a16:creationId xmlns:a16="http://schemas.microsoft.com/office/drawing/2014/main" id="{650708FF-C951-D4DC-B1DD-D4177F4BBB3B}"/>
              </a:ext>
            </a:extLst>
          </p:cNvPr>
          <p:cNvCxnSpPr>
            <a:cxnSpLocks/>
            <a:endCxn id="7" idx="1"/>
          </p:cNvCxnSpPr>
          <p:nvPr/>
        </p:nvCxnSpPr>
        <p:spPr>
          <a:xfrm>
            <a:off x="2493391" y="5503794"/>
            <a:ext cx="2846895" cy="50614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2DEA0962-BAE4-5540-D7E2-8A9F3E97F99C}"/>
              </a:ext>
            </a:extLst>
          </p:cNvPr>
          <p:cNvCxnSpPr>
            <a:cxnSpLocks/>
            <a:endCxn id="5" idx="1"/>
          </p:cNvCxnSpPr>
          <p:nvPr/>
        </p:nvCxnSpPr>
        <p:spPr>
          <a:xfrm flipV="1">
            <a:off x="2493391" y="4997654"/>
            <a:ext cx="2851608" cy="50614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C7E1C07E-96C6-C369-DDBA-ACF30A2D04A1}"/>
              </a:ext>
            </a:extLst>
          </p:cNvPr>
          <p:cNvSpPr txBox="1"/>
          <p:nvPr/>
        </p:nvSpPr>
        <p:spPr>
          <a:xfrm>
            <a:off x="3916838" y="4698542"/>
            <a:ext cx="1318182" cy="338554"/>
          </a:xfrm>
          <a:prstGeom prst="rect">
            <a:avLst/>
          </a:prstGeom>
          <a:noFill/>
        </p:spPr>
        <p:txBody>
          <a:bodyPr wrap="square" rtlCol="0">
            <a:spAutoFit/>
          </a:bodyPr>
          <a:lstStyle/>
          <a:p>
            <a:r>
              <a:rPr lang="en-US" altLang="ja-JP" sz="1600" dirty="0"/>
              <a:t>Vector Search</a:t>
            </a:r>
            <a:endParaRPr lang="zh-CN" altLang="en-US" sz="1600" dirty="0"/>
          </a:p>
        </p:txBody>
      </p:sp>
      <p:sp>
        <p:nvSpPr>
          <p:cNvPr id="21" name="文本框 20">
            <a:extLst>
              <a:ext uri="{FF2B5EF4-FFF2-40B4-BE49-F238E27FC236}">
                <a16:creationId xmlns:a16="http://schemas.microsoft.com/office/drawing/2014/main" id="{A0015C62-FECA-6B55-CF72-F185AECE9DBF}"/>
              </a:ext>
            </a:extLst>
          </p:cNvPr>
          <p:cNvSpPr txBox="1"/>
          <p:nvPr/>
        </p:nvSpPr>
        <p:spPr>
          <a:xfrm>
            <a:off x="4017391" y="6008245"/>
            <a:ext cx="1318182" cy="338554"/>
          </a:xfrm>
          <a:prstGeom prst="rect">
            <a:avLst/>
          </a:prstGeom>
          <a:noFill/>
        </p:spPr>
        <p:txBody>
          <a:bodyPr wrap="square" rtlCol="0">
            <a:spAutoFit/>
          </a:bodyPr>
          <a:lstStyle/>
          <a:p>
            <a:r>
              <a:rPr lang="en-US" altLang="ja-JP" sz="1600" dirty="0"/>
              <a:t>Text Search</a:t>
            </a:r>
            <a:endParaRPr lang="zh-CN" altLang="en-US" sz="1600" dirty="0"/>
          </a:p>
        </p:txBody>
      </p:sp>
    </p:spTree>
    <p:extLst>
      <p:ext uri="{BB962C8B-B14F-4D97-AF65-F5344CB8AC3E}">
        <p14:creationId xmlns:p14="http://schemas.microsoft.com/office/powerpoint/2010/main" val="255531923"/>
      </p:ext>
    </p:extLst>
  </p:cSld>
  <p:clrMapOvr>
    <a:masterClrMapping/>
  </p:clrMapOvr>
</p:sld>
</file>

<file path=ppt/theme/theme1.xml><?xml version="1.0" encoding="utf-8"?>
<a:theme xmlns:a="http://schemas.openxmlformats.org/drawingml/2006/main" name="水滴">
  <a:themeElements>
    <a:clrScheme name="水滴">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水滴">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水滴">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水滴</Template>
  <TotalTime>6259</TotalTime>
  <Words>682</Words>
  <Application>Microsoft Office PowerPoint</Application>
  <PresentationFormat>宽屏</PresentationFormat>
  <Paragraphs>58</Paragraphs>
  <Slides>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等线</vt:lpstr>
      <vt:lpstr>Arial</vt:lpstr>
      <vt:lpstr>Tw Cen MT</vt:lpstr>
      <vt:lpstr>水滴</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dc:creator>
  <cp:lastModifiedBy>Ken</cp:lastModifiedBy>
  <cp:revision>94</cp:revision>
  <dcterms:created xsi:type="dcterms:W3CDTF">2025-03-30T14:09:38Z</dcterms:created>
  <dcterms:modified xsi:type="dcterms:W3CDTF">2025-04-06T13:27:43Z</dcterms:modified>
</cp:coreProperties>
</file>