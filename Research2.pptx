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4" r:id="rId1"/>
  </p:sldMasterIdLst>
  <p:notesMasterIdLst>
    <p:notesMasterId r:id="rId12"/>
  </p:notesMasterIdLst>
  <p:sldIdLst>
    <p:sldId id="257" r:id="rId2"/>
    <p:sldId id="258" r:id="rId3"/>
    <p:sldId id="259" r:id="rId4"/>
    <p:sldId id="260" r:id="rId5"/>
    <p:sldId id="261" r:id="rId6"/>
    <p:sldId id="262" r:id="rId7"/>
    <p:sldId id="263" r:id="rId8"/>
    <p:sldId id="265" r:id="rId9"/>
    <p:sldId id="266" r:id="rId10"/>
    <p:sldId id="264"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1" d="100"/>
          <a:sy n="81" d="100"/>
        </p:scale>
        <p:origin x="754"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DF0853-1E93-4FBD-B9A4-6B84CEDBF13C}" type="doc">
      <dgm:prSet loTypeId="urn:microsoft.com/office/officeart/2005/8/layout/process2" loCatId="process" qsTypeId="urn:microsoft.com/office/officeart/2005/8/quickstyle/simple1" qsCatId="simple" csTypeId="urn:microsoft.com/office/officeart/2005/8/colors/accent1_2" csCatId="accent1" phldr="1"/>
      <dgm:spPr/>
    </dgm:pt>
    <dgm:pt modelId="{CAC34E20-C952-45A4-81B2-7F4FF57FB1EE}">
      <dgm:prSet phldrT="[文本]"/>
      <dgm:spPr>
        <a:noFill/>
        <a:ln>
          <a:solidFill>
            <a:schemeClr val="accent1"/>
          </a:solidFill>
        </a:ln>
      </dgm:spPr>
      <dgm:t>
        <a:bodyPr/>
        <a:lstStyle/>
        <a:p>
          <a:r>
            <a:rPr lang="en-US" altLang="ja-JP" dirty="0">
              <a:solidFill>
                <a:sysClr val="windowText" lastClr="000000"/>
              </a:solidFill>
            </a:rPr>
            <a:t>VM</a:t>
          </a:r>
          <a:r>
            <a:rPr lang="ja-JP" altLang="en-US" dirty="0">
              <a:solidFill>
                <a:sysClr val="windowText" lastClr="000000"/>
              </a:solidFill>
            </a:rPr>
            <a:t>を立ち上げ</a:t>
          </a:r>
          <a:endParaRPr lang="zh-CN" altLang="en-US" dirty="0">
            <a:solidFill>
              <a:sysClr val="windowText" lastClr="000000"/>
            </a:solidFill>
          </a:endParaRPr>
        </a:p>
      </dgm:t>
    </dgm:pt>
    <dgm:pt modelId="{0F415CC4-4AF1-4FDE-82FB-9CBD68B68980}" type="parTrans" cxnId="{87F72240-9C3C-4C35-A45D-F18A376933AE}">
      <dgm:prSet/>
      <dgm:spPr/>
      <dgm:t>
        <a:bodyPr/>
        <a:lstStyle/>
        <a:p>
          <a:endParaRPr lang="zh-CN" altLang="en-US"/>
        </a:p>
      </dgm:t>
    </dgm:pt>
    <dgm:pt modelId="{FC5A63B9-7B22-4EC2-85C3-EF1B19D05C0A}" type="sibTrans" cxnId="{87F72240-9C3C-4C35-A45D-F18A376933AE}">
      <dgm:prSet/>
      <dgm:spPr>
        <a:solidFill>
          <a:schemeClr val="accent1"/>
        </a:solidFill>
      </dgm:spPr>
      <dgm:t>
        <a:bodyPr/>
        <a:lstStyle/>
        <a:p>
          <a:endParaRPr lang="zh-CN" altLang="en-US"/>
        </a:p>
      </dgm:t>
    </dgm:pt>
    <dgm:pt modelId="{42A58A11-77DE-4962-9DC7-BDA57BE19DFC}">
      <dgm:prSet phldrT="[文本]"/>
      <dgm:spPr>
        <a:noFill/>
        <a:ln>
          <a:solidFill>
            <a:schemeClr val="accent1"/>
          </a:solidFill>
        </a:ln>
      </dgm:spPr>
      <dgm:t>
        <a:bodyPr/>
        <a:lstStyle/>
        <a:p>
          <a:r>
            <a:rPr lang="en-US" altLang="ja-JP" dirty="0">
              <a:solidFill>
                <a:sysClr val="windowText" lastClr="000000"/>
              </a:solidFill>
            </a:rPr>
            <a:t>NTTD</a:t>
          </a:r>
          <a:r>
            <a:rPr lang="ja-JP" altLang="en-US" dirty="0">
              <a:solidFill>
                <a:sysClr val="windowText" lastClr="000000"/>
              </a:solidFill>
            </a:rPr>
            <a:t>のストックからモデルをインポート</a:t>
          </a:r>
          <a:endParaRPr lang="zh-CN" altLang="en-US" dirty="0">
            <a:solidFill>
              <a:sysClr val="windowText" lastClr="000000"/>
            </a:solidFill>
          </a:endParaRPr>
        </a:p>
      </dgm:t>
    </dgm:pt>
    <dgm:pt modelId="{4AA6820C-A156-4E58-8E03-F546661E9652}" type="parTrans" cxnId="{FF35F94C-B156-4B15-AA78-1C6482D49199}">
      <dgm:prSet/>
      <dgm:spPr/>
      <dgm:t>
        <a:bodyPr/>
        <a:lstStyle/>
        <a:p>
          <a:endParaRPr lang="zh-CN" altLang="en-US"/>
        </a:p>
      </dgm:t>
    </dgm:pt>
    <dgm:pt modelId="{01F60ED6-E1CB-4B1E-9437-F083F7A0D94D}" type="sibTrans" cxnId="{FF35F94C-B156-4B15-AA78-1C6482D49199}">
      <dgm:prSet/>
      <dgm:spPr>
        <a:solidFill>
          <a:schemeClr val="accent1"/>
        </a:solidFill>
      </dgm:spPr>
      <dgm:t>
        <a:bodyPr/>
        <a:lstStyle/>
        <a:p>
          <a:endParaRPr lang="zh-CN" altLang="en-US"/>
        </a:p>
      </dgm:t>
    </dgm:pt>
    <dgm:pt modelId="{4F5E516E-1973-4F6D-9ABD-24655B26DC7A}">
      <dgm:prSet phldrT="[文本]"/>
      <dgm:spPr>
        <a:noFill/>
        <a:ln>
          <a:solidFill>
            <a:schemeClr val="accent1"/>
          </a:solidFill>
        </a:ln>
      </dgm:spPr>
      <dgm:t>
        <a:bodyPr/>
        <a:lstStyle/>
        <a:p>
          <a:r>
            <a:rPr lang="ja-JP" altLang="en-US" dirty="0">
              <a:solidFill>
                <a:sysClr val="windowText" lastClr="000000"/>
              </a:solidFill>
            </a:rPr>
            <a:t>モデルを運用するための</a:t>
          </a:r>
          <a:r>
            <a:rPr lang="en-US" altLang="ja-JP" dirty="0">
              <a:solidFill>
                <a:sysClr val="windowText" lastClr="000000"/>
              </a:solidFill>
            </a:rPr>
            <a:t>Python</a:t>
          </a:r>
          <a:r>
            <a:rPr lang="ja-JP" altLang="en-US" dirty="0">
              <a:solidFill>
                <a:sysClr val="windowText" lastClr="000000"/>
              </a:solidFill>
            </a:rPr>
            <a:t>スクリプトを構築</a:t>
          </a:r>
          <a:endParaRPr lang="zh-CN" altLang="en-US" dirty="0">
            <a:solidFill>
              <a:sysClr val="windowText" lastClr="000000"/>
            </a:solidFill>
          </a:endParaRPr>
        </a:p>
      </dgm:t>
    </dgm:pt>
    <dgm:pt modelId="{F72A7717-D6B6-47A8-AB94-0A6411D4A1CD}" type="parTrans" cxnId="{DDED5280-780F-4334-9DE2-DE514AB56942}">
      <dgm:prSet/>
      <dgm:spPr/>
      <dgm:t>
        <a:bodyPr/>
        <a:lstStyle/>
        <a:p>
          <a:endParaRPr lang="zh-CN" altLang="en-US"/>
        </a:p>
      </dgm:t>
    </dgm:pt>
    <dgm:pt modelId="{2F00350B-F4C0-4EBB-A717-2A46DA4A8E13}" type="sibTrans" cxnId="{DDED5280-780F-4334-9DE2-DE514AB56942}">
      <dgm:prSet/>
      <dgm:spPr>
        <a:solidFill>
          <a:schemeClr val="accent1"/>
        </a:solidFill>
      </dgm:spPr>
      <dgm:t>
        <a:bodyPr/>
        <a:lstStyle/>
        <a:p>
          <a:endParaRPr lang="zh-CN" altLang="en-US"/>
        </a:p>
      </dgm:t>
    </dgm:pt>
    <dgm:pt modelId="{44BB4CFD-1F4F-4651-B90B-ED21DCD7D262}">
      <dgm:prSet phldrT="[文本]"/>
      <dgm:spPr>
        <a:noFill/>
        <a:ln>
          <a:solidFill>
            <a:schemeClr val="accent1"/>
          </a:solidFill>
        </a:ln>
      </dgm:spPr>
      <dgm:t>
        <a:bodyPr/>
        <a:lstStyle/>
        <a:p>
          <a:r>
            <a:rPr lang="en-US" altLang="ja-JP" dirty="0">
              <a:solidFill>
                <a:sysClr val="windowText" lastClr="000000"/>
              </a:solidFill>
            </a:rPr>
            <a:t>Backend Web API</a:t>
          </a:r>
          <a:r>
            <a:rPr lang="ja-JP" altLang="en-US" dirty="0">
              <a:solidFill>
                <a:sysClr val="windowText" lastClr="000000"/>
              </a:solidFill>
            </a:rPr>
            <a:t>を構築</a:t>
          </a:r>
          <a:endParaRPr lang="zh-CN" altLang="en-US" dirty="0">
            <a:solidFill>
              <a:sysClr val="windowText" lastClr="000000"/>
            </a:solidFill>
          </a:endParaRPr>
        </a:p>
      </dgm:t>
    </dgm:pt>
    <dgm:pt modelId="{D28101F7-E1C4-4080-B633-0C9CC5A94B10}" type="parTrans" cxnId="{737F982A-E8CD-4767-A477-B292CBAC320B}">
      <dgm:prSet/>
      <dgm:spPr/>
      <dgm:t>
        <a:bodyPr/>
        <a:lstStyle/>
        <a:p>
          <a:endParaRPr lang="zh-CN" altLang="en-US"/>
        </a:p>
      </dgm:t>
    </dgm:pt>
    <dgm:pt modelId="{F9A0CFA8-FFB4-4C49-B26B-BCF058447EA2}" type="sibTrans" cxnId="{737F982A-E8CD-4767-A477-B292CBAC320B}">
      <dgm:prSet/>
      <dgm:spPr/>
      <dgm:t>
        <a:bodyPr/>
        <a:lstStyle/>
        <a:p>
          <a:endParaRPr lang="zh-CN" altLang="en-US"/>
        </a:p>
      </dgm:t>
    </dgm:pt>
    <dgm:pt modelId="{D4A7E2D7-3A5A-4D7C-B84E-6022C9A6D031}" type="pres">
      <dgm:prSet presAssocID="{78DF0853-1E93-4FBD-B9A4-6B84CEDBF13C}" presName="linearFlow" presStyleCnt="0">
        <dgm:presLayoutVars>
          <dgm:resizeHandles val="exact"/>
        </dgm:presLayoutVars>
      </dgm:prSet>
      <dgm:spPr/>
    </dgm:pt>
    <dgm:pt modelId="{D3837411-41C7-4DE5-97D5-B34C6364E634}" type="pres">
      <dgm:prSet presAssocID="{CAC34E20-C952-45A4-81B2-7F4FF57FB1EE}" presName="node" presStyleLbl="node1" presStyleIdx="0" presStyleCnt="4" custScaleX="174688">
        <dgm:presLayoutVars>
          <dgm:bulletEnabled val="1"/>
        </dgm:presLayoutVars>
      </dgm:prSet>
      <dgm:spPr/>
    </dgm:pt>
    <dgm:pt modelId="{626DAB27-9F86-460B-A679-E3B2FA162F97}" type="pres">
      <dgm:prSet presAssocID="{FC5A63B9-7B22-4EC2-85C3-EF1B19D05C0A}" presName="sibTrans" presStyleLbl="sibTrans2D1" presStyleIdx="0" presStyleCnt="3"/>
      <dgm:spPr/>
    </dgm:pt>
    <dgm:pt modelId="{17E7F6A6-871A-4F3C-856B-FFCB4CC2E196}" type="pres">
      <dgm:prSet presAssocID="{FC5A63B9-7B22-4EC2-85C3-EF1B19D05C0A}" presName="connectorText" presStyleLbl="sibTrans2D1" presStyleIdx="0" presStyleCnt="3"/>
      <dgm:spPr/>
    </dgm:pt>
    <dgm:pt modelId="{B40D48C8-DA59-4AC0-92EB-312F9FC7D680}" type="pres">
      <dgm:prSet presAssocID="{42A58A11-77DE-4962-9DC7-BDA57BE19DFC}" presName="node" presStyleLbl="node1" presStyleIdx="1" presStyleCnt="4" custScaleX="171371">
        <dgm:presLayoutVars>
          <dgm:bulletEnabled val="1"/>
        </dgm:presLayoutVars>
      </dgm:prSet>
      <dgm:spPr/>
    </dgm:pt>
    <dgm:pt modelId="{477D7827-8CDB-4155-A924-BE6A88222EE1}" type="pres">
      <dgm:prSet presAssocID="{01F60ED6-E1CB-4B1E-9437-F083F7A0D94D}" presName="sibTrans" presStyleLbl="sibTrans2D1" presStyleIdx="1" presStyleCnt="3"/>
      <dgm:spPr/>
    </dgm:pt>
    <dgm:pt modelId="{D0E50F8D-3089-4A53-BD0C-9743E1A0B6D9}" type="pres">
      <dgm:prSet presAssocID="{01F60ED6-E1CB-4B1E-9437-F083F7A0D94D}" presName="connectorText" presStyleLbl="sibTrans2D1" presStyleIdx="1" presStyleCnt="3"/>
      <dgm:spPr/>
    </dgm:pt>
    <dgm:pt modelId="{5B97AECC-C614-4525-9B79-0D1B8C18594C}" type="pres">
      <dgm:prSet presAssocID="{4F5E516E-1973-4F6D-9ABD-24655B26DC7A}" presName="node" presStyleLbl="node1" presStyleIdx="2" presStyleCnt="4" custScaleX="172201">
        <dgm:presLayoutVars>
          <dgm:bulletEnabled val="1"/>
        </dgm:presLayoutVars>
      </dgm:prSet>
      <dgm:spPr/>
    </dgm:pt>
    <dgm:pt modelId="{9E46CF40-DAD8-4225-8652-3209D90093F1}" type="pres">
      <dgm:prSet presAssocID="{2F00350B-F4C0-4EBB-A717-2A46DA4A8E13}" presName="sibTrans" presStyleLbl="sibTrans2D1" presStyleIdx="2" presStyleCnt="3"/>
      <dgm:spPr/>
    </dgm:pt>
    <dgm:pt modelId="{85343B09-9C8A-4378-B9A2-9D6316ECC336}" type="pres">
      <dgm:prSet presAssocID="{2F00350B-F4C0-4EBB-A717-2A46DA4A8E13}" presName="connectorText" presStyleLbl="sibTrans2D1" presStyleIdx="2" presStyleCnt="3"/>
      <dgm:spPr/>
    </dgm:pt>
    <dgm:pt modelId="{01229549-49BA-400B-B223-091CA56B2AFA}" type="pres">
      <dgm:prSet presAssocID="{44BB4CFD-1F4F-4651-B90B-ED21DCD7D262}" presName="node" presStyleLbl="node1" presStyleIdx="3" presStyleCnt="4" custScaleX="170260">
        <dgm:presLayoutVars>
          <dgm:bulletEnabled val="1"/>
        </dgm:presLayoutVars>
      </dgm:prSet>
      <dgm:spPr/>
    </dgm:pt>
  </dgm:ptLst>
  <dgm:cxnLst>
    <dgm:cxn modelId="{41419712-2F5D-46F5-984A-81C4F32BD324}" type="presOf" srcId="{78DF0853-1E93-4FBD-B9A4-6B84CEDBF13C}" destId="{D4A7E2D7-3A5A-4D7C-B84E-6022C9A6D031}" srcOrd="0" destOrd="0" presId="urn:microsoft.com/office/officeart/2005/8/layout/process2"/>
    <dgm:cxn modelId="{2C433418-8EB2-4A2D-929B-792B1B09C996}" type="presOf" srcId="{2F00350B-F4C0-4EBB-A717-2A46DA4A8E13}" destId="{85343B09-9C8A-4378-B9A2-9D6316ECC336}" srcOrd="1" destOrd="0" presId="urn:microsoft.com/office/officeart/2005/8/layout/process2"/>
    <dgm:cxn modelId="{737F982A-E8CD-4767-A477-B292CBAC320B}" srcId="{78DF0853-1E93-4FBD-B9A4-6B84CEDBF13C}" destId="{44BB4CFD-1F4F-4651-B90B-ED21DCD7D262}" srcOrd="3" destOrd="0" parTransId="{D28101F7-E1C4-4080-B633-0C9CC5A94B10}" sibTransId="{F9A0CFA8-FFB4-4C49-B26B-BCF058447EA2}"/>
    <dgm:cxn modelId="{D9523230-A12E-4240-864A-83035EFCABEC}" type="presOf" srcId="{4F5E516E-1973-4F6D-9ABD-24655B26DC7A}" destId="{5B97AECC-C614-4525-9B79-0D1B8C18594C}" srcOrd="0" destOrd="0" presId="urn:microsoft.com/office/officeart/2005/8/layout/process2"/>
    <dgm:cxn modelId="{87F72240-9C3C-4C35-A45D-F18A376933AE}" srcId="{78DF0853-1E93-4FBD-B9A4-6B84CEDBF13C}" destId="{CAC34E20-C952-45A4-81B2-7F4FF57FB1EE}" srcOrd="0" destOrd="0" parTransId="{0F415CC4-4AF1-4FDE-82FB-9CBD68B68980}" sibTransId="{FC5A63B9-7B22-4EC2-85C3-EF1B19D05C0A}"/>
    <dgm:cxn modelId="{0ED2E85E-1212-4AD9-90E2-32C0AF5BC309}" type="presOf" srcId="{2F00350B-F4C0-4EBB-A717-2A46DA4A8E13}" destId="{9E46CF40-DAD8-4225-8652-3209D90093F1}" srcOrd="0" destOrd="0" presId="urn:microsoft.com/office/officeart/2005/8/layout/process2"/>
    <dgm:cxn modelId="{6FD9D260-07EC-44EE-9E54-5D38EFA1DF5C}" type="presOf" srcId="{44BB4CFD-1F4F-4651-B90B-ED21DCD7D262}" destId="{01229549-49BA-400B-B223-091CA56B2AFA}" srcOrd="0" destOrd="0" presId="urn:microsoft.com/office/officeart/2005/8/layout/process2"/>
    <dgm:cxn modelId="{FF35F94C-B156-4B15-AA78-1C6482D49199}" srcId="{78DF0853-1E93-4FBD-B9A4-6B84CEDBF13C}" destId="{42A58A11-77DE-4962-9DC7-BDA57BE19DFC}" srcOrd="1" destOrd="0" parTransId="{4AA6820C-A156-4E58-8E03-F546661E9652}" sibTransId="{01F60ED6-E1CB-4B1E-9437-F083F7A0D94D}"/>
    <dgm:cxn modelId="{DDED5280-780F-4334-9DE2-DE514AB56942}" srcId="{78DF0853-1E93-4FBD-B9A4-6B84CEDBF13C}" destId="{4F5E516E-1973-4F6D-9ABD-24655B26DC7A}" srcOrd="2" destOrd="0" parTransId="{F72A7717-D6B6-47A8-AB94-0A6411D4A1CD}" sibTransId="{2F00350B-F4C0-4EBB-A717-2A46DA4A8E13}"/>
    <dgm:cxn modelId="{1B98D684-1D44-413D-8583-EA84DC378A34}" type="presOf" srcId="{01F60ED6-E1CB-4B1E-9437-F083F7A0D94D}" destId="{477D7827-8CDB-4155-A924-BE6A88222EE1}" srcOrd="0" destOrd="0" presId="urn:microsoft.com/office/officeart/2005/8/layout/process2"/>
    <dgm:cxn modelId="{32C93F8D-03D5-46F6-99DF-1D6BA5CEAD17}" type="presOf" srcId="{FC5A63B9-7B22-4EC2-85C3-EF1B19D05C0A}" destId="{17E7F6A6-871A-4F3C-856B-FFCB4CC2E196}" srcOrd="1" destOrd="0" presId="urn:microsoft.com/office/officeart/2005/8/layout/process2"/>
    <dgm:cxn modelId="{E8BB7191-068C-4181-A1F0-2787469F4C25}" type="presOf" srcId="{42A58A11-77DE-4962-9DC7-BDA57BE19DFC}" destId="{B40D48C8-DA59-4AC0-92EB-312F9FC7D680}" srcOrd="0" destOrd="0" presId="urn:microsoft.com/office/officeart/2005/8/layout/process2"/>
    <dgm:cxn modelId="{09DC849F-459C-414E-82E9-79F6D9CE026F}" type="presOf" srcId="{CAC34E20-C952-45A4-81B2-7F4FF57FB1EE}" destId="{D3837411-41C7-4DE5-97D5-B34C6364E634}" srcOrd="0" destOrd="0" presId="urn:microsoft.com/office/officeart/2005/8/layout/process2"/>
    <dgm:cxn modelId="{0198E1C5-A68A-4029-AEEE-2D3553F0E15D}" type="presOf" srcId="{01F60ED6-E1CB-4B1E-9437-F083F7A0D94D}" destId="{D0E50F8D-3089-4A53-BD0C-9743E1A0B6D9}" srcOrd="1" destOrd="0" presId="urn:microsoft.com/office/officeart/2005/8/layout/process2"/>
    <dgm:cxn modelId="{02D59FD6-5119-4F0B-A16C-FD4ED7A97033}" type="presOf" srcId="{FC5A63B9-7B22-4EC2-85C3-EF1B19D05C0A}" destId="{626DAB27-9F86-460B-A679-E3B2FA162F97}" srcOrd="0" destOrd="0" presId="urn:microsoft.com/office/officeart/2005/8/layout/process2"/>
    <dgm:cxn modelId="{ADBEA92D-E3D1-492C-858D-A8FC85D07414}" type="presParOf" srcId="{D4A7E2D7-3A5A-4D7C-B84E-6022C9A6D031}" destId="{D3837411-41C7-4DE5-97D5-B34C6364E634}" srcOrd="0" destOrd="0" presId="urn:microsoft.com/office/officeart/2005/8/layout/process2"/>
    <dgm:cxn modelId="{75332F20-8087-42D3-B08E-818C4CE53441}" type="presParOf" srcId="{D4A7E2D7-3A5A-4D7C-B84E-6022C9A6D031}" destId="{626DAB27-9F86-460B-A679-E3B2FA162F97}" srcOrd="1" destOrd="0" presId="urn:microsoft.com/office/officeart/2005/8/layout/process2"/>
    <dgm:cxn modelId="{0F5EC9AA-3106-40F2-BBEF-9B67F14A51F9}" type="presParOf" srcId="{626DAB27-9F86-460B-A679-E3B2FA162F97}" destId="{17E7F6A6-871A-4F3C-856B-FFCB4CC2E196}" srcOrd="0" destOrd="0" presId="urn:microsoft.com/office/officeart/2005/8/layout/process2"/>
    <dgm:cxn modelId="{CAEF53D9-6A01-4FD3-BA77-03A6452580C4}" type="presParOf" srcId="{D4A7E2D7-3A5A-4D7C-B84E-6022C9A6D031}" destId="{B40D48C8-DA59-4AC0-92EB-312F9FC7D680}" srcOrd="2" destOrd="0" presId="urn:microsoft.com/office/officeart/2005/8/layout/process2"/>
    <dgm:cxn modelId="{793616EF-1630-4EB5-AE91-67E76FAADEFB}" type="presParOf" srcId="{D4A7E2D7-3A5A-4D7C-B84E-6022C9A6D031}" destId="{477D7827-8CDB-4155-A924-BE6A88222EE1}" srcOrd="3" destOrd="0" presId="urn:microsoft.com/office/officeart/2005/8/layout/process2"/>
    <dgm:cxn modelId="{6C3BB5C9-57F8-49FF-B8AF-2DF7DE92C0EA}" type="presParOf" srcId="{477D7827-8CDB-4155-A924-BE6A88222EE1}" destId="{D0E50F8D-3089-4A53-BD0C-9743E1A0B6D9}" srcOrd="0" destOrd="0" presId="urn:microsoft.com/office/officeart/2005/8/layout/process2"/>
    <dgm:cxn modelId="{B14D6FF6-46AB-4C93-8FDE-3196DFEC08C2}" type="presParOf" srcId="{D4A7E2D7-3A5A-4D7C-B84E-6022C9A6D031}" destId="{5B97AECC-C614-4525-9B79-0D1B8C18594C}" srcOrd="4" destOrd="0" presId="urn:microsoft.com/office/officeart/2005/8/layout/process2"/>
    <dgm:cxn modelId="{0C1CE81A-0272-4A8D-BA9D-87E7E1E6F3BA}" type="presParOf" srcId="{D4A7E2D7-3A5A-4D7C-B84E-6022C9A6D031}" destId="{9E46CF40-DAD8-4225-8652-3209D90093F1}" srcOrd="5" destOrd="0" presId="urn:microsoft.com/office/officeart/2005/8/layout/process2"/>
    <dgm:cxn modelId="{A3DAC725-9F22-401E-8C3E-D9300E565B93}" type="presParOf" srcId="{9E46CF40-DAD8-4225-8652-3209D90093F1}" destId="{85343B09-9C8A-4378-B9A2-9D6316ECC336}" srcOrd="0" destOrd="0" presId="urn:microsoft.com/office/officeart/2005/8/layout/process2"/>
    <dgm:cxn modelId="{777AC690-DF36-48F3-9466-1C97FFEA98E9}" type="presParOf" srcId="{D4A7E2D7-3A5A-4D7C-B84E-6022C9A6D031}" destId="{01229549-49BA-400B-B223-091CA56B2AFA}"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8DF0853-1E93-4FBD-B9A4-6B84CEDBF13C}" type="doc">
      <dgm:prSet loTypeId="urn:microsoft.com/office/officeart/2005/8/layout/process2" loCatId="process" qsTypeId="urn:microsoft.com/office/officeart/2005/8/quickstyle/simple1" qsCatId="simple" csTypeId="urn:microsoft.com/office/officeart/2005/8/colors/accent1_2" csCatId="accent1" phldr="1"/>
      <dgm:spPr/>
    </dgm:pt>
    <dgm:pt modelId="{CAC34E20-C952-45A4-81B2-7F4FF57FB1EE}">
      <dgm:prSet phldrT="[文本]"/>
      <dgm:spPr>
        <a:noFill/>
        <a:ln>
          <a:solidFill>
            <a:schemeClr val="accent1"/>
          </a:solidFill>
        </a:ln>
      </dgm:spPr>
      <dgm:t>
        <a:bodyPr/>
        <a:lstStyle/>
        <a:p>
          <a:r>
            <a:rPr lang="ja-JP" altLang="en-US" dirty="0">
              <a:solidFill>
                <a:sysClr val="windowText" lastClr="000000"/>
              </a:solidFill>
            </a:rPr>
            <a:t>モデル</a:t>
          </a:r>
          <a:r>
            <a:rPr lang="en-US" altLang="ja-JP" dirty="0">
              <a:solidFill>
                <a:sysClr val="windowText" lastClr="000000"/>
              </a:solidFill>
            </a:rPr>
            <a:t>API</a:t>
          </a:r>
          <a:r>
            <a:rPr lang="ja-JP" altLang="en-US" dirty="0">
              <a:solidFill>
                <a:sysClr val="windowText" lastClr="000000"/>
              </a:solidFill>
            </a:rPr>
            <a:t>を呼び出し</a:t>
          </a:r>
          <a:endParaRPr lang="zh-CN" altLang="en-US" dirty="0">
            <a:solidFill>
              <a:sysClr val="windowText" lastClr="000000"/>
            </a:solidFill>
          </a:endParaRPr>
        </a:p>
      </dgm:t>
    </dgm:pt>
    <dgm:pt modelId="{0F415CC4-4AF1-4FDE-82FB-9CBD68B68980}" type="parTrans" cxnId="{87F72240-9C3C-4C35-A45D-F18A376933AE}">
      <dgm:prSet/>
      <dgm:spPr/>
      <dgm:t>
        <a:bodyPr/>
        <a:lstStyle/>
        <a:p>
          <a:endParaRPr lang="zh-CN" altLang="en-US">
            <a:solidFill>
              <a:sysClr val="windowText" lastClr="000000"/>
            </a:solidFill>
          </a:endParaRPr>
        </a:p>
      </dgm:t>
    </dgm:pt>
    <dgm:pt modelId="{FC5A63B9-7B22-4EC2-85C3-EF1B19D05C0A}" type="sibTrans" cxnId="{87F72240-9C3C-4C35-A45D-F18A376933AE}">
      <dgm:prSet/>
      <dgm:spPr>
        <a:solidFill>
          <a:schemeClr val="accent1"/>
        </a:solidFill>
      </dgm:spPr>
      <dgm:t>
        <a:bodyPr/>
        <a:lstStyle/>
        <a:p>
          <a:endParaRPr lang="zh-CN" altLang="en-US">
            <a:solidFill>
              <a:sysClr val="windowText" lastClr="000000"/>
            </a:solidFill>
          </a:endParaRPr>
        </a:p>
      </dgm:t>
    </dgm:pt>
    <dgm:pt modelId="{42A58A11-77DE-4962-9DC7-BDA57BE19DFC}">
      <dgm:prSet phldrT="[文本]"/>
      <dgm:spPr>
        <a:noFill/>
        <a:ln>
          <a:solidFill>
            <a:schemeClr val="accent1"/>
          </a:solidFill>
        </a:ln>
      </dgm:spPr>
      <dgm:t>
        <a:bodyPr/>
        <a:lstStyle/>
        <a:p>
          <a:r>
            <a:rPr lang="en-US" altLang="ja-JP" dirty="0">
              <a:solidFill>
                <a:sysClr val="windowText" lastClr="000000"/>
              </a:solidFill>
            </a:rPr>
            <a:t>Abstract</a:t>
          </a:r>
          <a:r>
            <a:rPr lang="ja-JP" altLang="en-US" dirty="0">
              <a:solidFill>
                <a:sysClr val="windowText" lastClr="000000"/>
              </a:solidFill>
            </a:rPr>
            <a:t>を渡す</a:t>
          </a:r>
          <a:endParaRPr lang="zh-CN" altLang="en-US" dirty="0">
            <a:solidFill>
              <a:sysClr val="windowText" lastClr="000000"/>
            </a:solidFill>
          </a:endParaRPr>
        </a:p>
      </dgm:t>
    </dgm:pt>
    <dgm:pt modelId="{4AA6820C-A156-4E58-8E03-F546661E9652}" type="parTrans" cxnId="{FF35F94C-B156-4B15-AA78-1C6482D49199}">
      <dgm:prSet/>
      <dgm:spPr/>
      <dgm:t>
        <a:bodyPr/>
        <a:lstStyle/>
        <a:p>
          <a:endParaRPr lang="zh-CN" altLang="en-US">
            <a:solidFill>
              <a:sysClr val="windowText" lastClr="000000"/>
            </a:solidFill>
          </a:endParaRPr>
        </a:p>
      </dgm:t>
    </dgm:pt>
    <dgm:pt modelId="{01F60ED6-E1CB-4B1E-9437-F083F7A0D94D}" type="sibTrans" cxnId="{FF35F94C-B156-4B15-AA78-1C6482D49199}">
      <dgm:prSet/>
      <dgm:spPr>
        <a:solidFill>
          <a:schemeClr val="accent1"/>
        </a:solidFill>
      </dgm:spPr>
      <dgm:t>
        <a:bodyPr/>
        <a:lstStyle/>
        <a:p>
          <a:endParaRPr lang="zh-CN" altLang="en-US">
            <a:solidFill>
              <a:sysClr val="windowText" lastClr="000000"/>
            </a:solidFill>
          </a:endParaRPr>
        </a:p>
      </dgm:t>
    </dgm:pt>
    <dgm:pt modelId="{4F5E516E-1973-4F6D-9ABD-24655B26DC7A}">
      <dgm:prSet phldrT="[文本]"/>
      <dgm:spPr>
        <a:noFill/>
        <a:ln>
          <a:solidFill>
            <a:schemeClr val="accent1"/>
          </a:solidFill>
        </a:ln>
      </dgm:spPr>
      <dgm:t>
        <a:bodyPr/>
        <a:lstStyle/>
        <a:p>
          <a:r>
            <a:rPr lang="ja-JP" altLang="en-US" dirty="0">
              <a:solidFill>
                <a:sysClr val="windowText" lastClr="000000"/>
              </a:solidFill>
            </a:rPr>
            <a:t>入力したテキストを基づいて</a:t>
          </a:r>
          <a:r>
            <a:rPr lang="en-US" altLang="ja-JP" dirty="0">
              <a:solidFill>
                <a:sysClr val="windowText" lastClr="000000"/>
              </a:solidFill>
            </a:rPr>
            <a:t>IPC</a:t>
          </a:r>
          <a:r>
            <a:rPr lang="ja-JP" altLang="en-US" dirty="0">
              <a:solidFill>
                <a:sysClr val="windowText" lastClr="000000"/>
              </a:solidFill>
            </a:rPr>
            <a:t>コードを推理する</a:t>
          </a:r>
          <a:endParaRPr lang="zh-CN" altLang="en-US" dirty="0">
            <a:solidFill>
              <a:sysClr val="windowText" lastClr="000000"/>
            </a:solidFill>
          </a:endParaRPr>
        </a:p>
      </dgm:t>
    </dgm:pt>
    <dgm:pt modelId="{F72A7717-D6B6-47A8-AB94-0A6411D4A1CD}" type="parTrans" cxnId="{DDED5280-780F-4334-9DE2-DE514AB56942}">
      <dgm:prSet/>
      <dgm:spPr/>
      <dgm:t>
        <a:bodyPr/>
        <a:lstStyle/>
        <a:p>
          <a:endParaRPr lang="zh-CN" altLang="en-US">
            <a:solidFill>
              <a:sysClr val="windowText" lastClr="000000"/>
            </a:solidFill>
          </a:endParaRPr>
        </a:p>
      </dgm:t>
    </dgm:pt>
    <dgm:pt modelId="{2F00350B-F4C0-4EBB-A717-2A46DA4A8E13}" type="sibTrans" cxnId="{DDED5280-780F-4334-9DE2-DE514AB56942}">
      <dgm:prSet/>
      <dgm:spPr>
        <a:solidFill>
          <a:schemeClr val="accent1"/>
        </a:solidFill>
      </dgm:spPr>
      <dgm:t>
        <a:bodyPr/>
        <a:lstStyle/>
        <a:p>
          <a:endParaRPr lang="zh-CN" altLang="en-US">
            <a:solidFill>
              <a:sysClr val="windowText" lastClr="000000"/>
            </a:solidFill>
          </a:endParaRPr>
        </a:p>
      </dgm:t>
    </dgm:pt>
    <dgm:pt modelId="{44BB4CFD-1F4F-4651-B90B-ED21DCD7D262}">
      <dgm:prSet phldrT="[文本]"/>
      <dgm:spPr>
        <a:noFill/>
        <a:ln>
          <a:solidFill>
            <a:schemeClr val="accent1"/>
          </a:solidFill>
        </a:ln>
      </dgm:spPr>
      <dgm:t>
        <a:bodyPr/>
        <a:lstStyle/>
        <a:p>
          <a:r>
            <a:rPr lang="ja-JP" altLang="en-US" dirty="0">
              <a:solidFill>
                <a:sysClr val="windowText" lastClr="000000"/>
              </a:solidFill>
            </a:rPr>
            <a:t>予測結果を返す</a:t>
          </a:r>
          <a:endParaRPr lang="zh-CN" altLang="en-US" dirty="0">
            <a:solidFill>
              <a:sysClr val="windowText" lastClr="000000"/>
            </a:solidFill>
          </a:endParaRPr>
        </a:p>
      </dgm:t>
    </dgm:pt>
    <dgm:pt modelId="{D28101F7-E1C4-4080-B633-0C9CC5A94B10}" type="parTrans" cxnId="{737F982A-E8CD-4767-A477-B292CBAC320B}">
      <dgm:prSet/>
      <dgm:spPr/>
      <dgm:t>
        <a:bodyPr/>
        <a:lstStyle/>
        <a:p>
          <a:endParaRPr lang="zh-CN" altLang="en-US">
            <a:solidFill>
              <a:sysClr val="windowText" lastClr="000000"/>
            </a:solidFill>
          </a:endParaRPr>
        </a:p>
      </dgm:t>
    </dgm:pt>
    <dgm:pt modelId="{F9A0CFA8-FFB4-4C49-B26B-BCF058447EA2}" type="sibTrans" cxnId="{737F982A-E8CD-4767-A477-B292CBAC320B}">
      <dgm:prSet/>
      <dgm:spPr/>
      <dgm:t>
        <a:bodyPr/>
        <a:lstStyle/>
        <a:p>
          <a:endParaRPr lang="zh-CN" altLang="en-US">
            <a:solidFill>
              <a:sysClr val="windowText" lastClr="000000"/>
            </a:solidFill>
          </a:endParaRPr>
        </a:p>
      </dgm:t>
    </dgm:pt>
    <dgm:pt modelId="{D4A7E2D7-3A5A-4D7C-B84E-6022C9A6D031}" type="pres">
      <dgm:prSet presAssocID="{78DF0853-1E93-4FBD-B9A4-6B84CEDBF13C}" presName="linearFlow" presStyleCnt="0">
        <dgm:presLayoutVars>
          <dgm:resizeHandles val="exact"/>
        </dgm:presLayoutVars>
      </dgm:prSet>
      <dgm:spPr/>
    </dgm:pt>
    <dgm:pt modelId="{D3837411-41C7-4DE5-97D5-B34C6364E634}" type="pres">
      <dgm:prSet presAssocID="{CAC34E20-C952-45A4-81B2-7F4FF57FB1EE}" presName="node" presStyleLbl="node1" presStyleIdx="0" presStyleCnt="4" custScaleX="174688">
        <dgm:presLayoutVars>
          <dgm:bulletEnabled val="1"/>
        </dgm:presLayoutVars>
      </dgm:prSet>
      <dgm:spPr/>
    </dgm:pt>
    <dgm:pt modelId="{626DAB27-9F86-460B-A679-E3B2FA162F97}" type="pres">
      <dgm:prSet presAssocID="{FC5A63B9-7B22-4EC2-85C3-EF1B19D05C0A}" presName="sibTrans" presStyleLbl="sibTrans2D1" presStyleIdx="0" presStyleCnt="3"/>
      <dgm:spPr/>
    </dgm:pt>
    <dgm:pt modelId="{17E7F6A6-871A-4F3C-856B-FFCB4CC2E196}" type="pres">
      <dgm:prSet presAssocID="{FC5A63B9-7B22-4EC2-85C3-EF1B19D05C0A}" presName="connectorText" presStyleLbl="sibTrans2D1" presStyleIdx="0" presStyleCnt="3"/>
      <dgm:spPr/>
    </dgm:pt>
    <dgm:pt modelId="{B40D48C8-DA59-4AC0-92EB-312F9FC7D680}" type="pres">
      <dgm:prSet presAssocID="{42A58A11-77DE-4962-9DC7-BDA57BE19DFC}" presName="node" presStyleLbl="node1" presStyleIdx="1" presStyleCnt="4" custScaleX="171371">
        <dgm:presLayoutVars>
          <dgm:bulletEnabled val="1"/>
        </dgm:presLayoutVars>
      </dgm:prSet>
      <dgm:spPr/>
    </dgm:pt>
    <dgm:pt modelId="{477D7827-8CDB-4155-A924-BE6A88222EE1}" type="pres">
      <dgm:prSet presAssocID="{01F60ED6-E1CB-4B1E-9437-F083F7A0D94D}" presName="sibTrans" presStyleLbl="sibTrans2D1" presStyleIdx="1" presStyleCnt="3"/>
      <dgm:spPr/>
    </dgm:pt>
    <dgm:pt modelId="{D0E50F8D-3089-4A53-BD0C-9743E1A0B6D9}" type="pres">
      <dgm:prSet presAssocID="{01F60ED6-E1CB-4B1E-9437-F083F7A0D94D}" presName="connectorText" presStyleLbl="sibTrans2D1" presStyleIdx="1" presStyleCnt="3"/>
      <dgm:spPr/>
    </dgm:pt>
    <dgm:pt modelId="{5B97AECC-C614-4525-9B79-0D1B8C18594C}" type="pres">
      <dgm:prSet presAssocID="{4F5E516E-1973-4F6D-9ABD-24655B26DC7A}" presName="node" presStyleLbl="node1" presStyleIdx="2" presStyleCnt="4" custScaleX="172201">
        <dgm:presLayoutVars>
          <dgm:bulletEnabled val="1"/>
        </dgm:presLayoutVars>
      </dgm:prSet>
      <dgm:spPr/>
    </dgm:pt>
    <dgm:pt modelId="{9E46CF40-DAD8-4225-8652-3209D90093F1}" type="pres">
      <dgm:prSet presAssocID="{2F00350B-F4C0-4EBB-A717-2A46DA4A8E13}" presName="sibTrans" presStyleLbl="sibTrans2D1" presStyleIdx="2" presStyleCnt="3"/>
      <dgm:spPr/>
    </dgm:pt>
    <dgm:pt modelId="{85343B09-9C8A-4378-B9A2-9D6316ECC336}" type="pres">
      <dgm:prSet presAssocID="{2F00350B-F4C0-4EBB-A717-2A46DA4A8E13}" presName="connectorText" presStyleLbl="sibTrans2D1" presStyleIdx="2" presStyleCnt="3"/>
      <dgm:spPr/>
    </dgm:pt>
    <dgm:pt modelId="{01229549-49BA-400B-B223-091CA56B2AFA}" type="pres">
      <dgm:prSet presAssocID="{44BB4CFD-1F4F-4651-B90B-ED21DCD7D262}" presName="node" presStyleLbl="node1" presStyleIdx="3" presStyleCnt="4" custScaleX="170260">
        <dgm:presLayoutVars>
          <dgm:bulletEnabled val="1"/>
        </dgm:presLayoutVars>
      </dgm:prSet>
      <dgm:spPr/>
    </dgm:pt>
  </dgm:ptLst>
  <dgm:cxnLst>
    <dgm:cxn modelId="{41419712-2F5D-46F5-984A-81C4F32BD324}" type="presOf" srcId="{78DF0853-1E93-4FBD-B9A4-6B84CEDBF13C}" destId="{D4A7E2D7-3A5A-4D7C-B84E-6022C9A6D031}" srcOrd="0" destOrd="0" presId="urn:microsoft.com/office/officeart/2005/8/layout/process2"/>
    <dgm:cxn modelId="{2C433418-8EB2-4A2D-929B-792B1B09C996}" type="presOf" srcId="{2F00350B-F4C0-4EBB-A717-2A46DA4A8E13}" destId="{85343B09-9C8A-4378-B9A2-9D6316ECC336}" srcOrd="1" destOrd="0" presId="urn:microsoft.com/office/officeart/2005/8/layout/process2"/>
    <dgm:cxn modelId="{737F982A-E8CD-4767-A477-B292CBAC320B}" srcId="{78DF0853-1E93-4FBD-B9A4-6B84CEDBF13C}" destId="{44BB4CFD-1F4F-4651-B90B-ED21DCD7D262}" srcOrd="3" destOrd="0" parTransId="{D28101F7-E1C4-4080-B633-0C9CC5A94B10}" sibTransId="{F9A0CFA8-FFB4-4C49-B26B-BCF058447EA2}"/>
    <dgm:cxn modelId="{D9523230-A12E-4240-864A-83035EFCABEC}" type="presOf" srcId="{4F5E516E-1973-4F6D-9ABD-24655B26DC7A}" destId="{5B97AECC-C614-4525-9B79-0D1B8C18594C}" srcOrd="0" destOrd="0" presId="urn:microsoft.com/office/officeart/2005/8/layout/process2"/>
    <dgm:cxn modelId="{87F72240-9C3C-4C35-A45D-F18A376933AE}" srcId="{78DF0853-1E93-4FBD-B9A4-6B84CEDBF13C}" destId="{CAC34E20-C952-45A4-81B2-7F4FF57FB1EE}" srcOrd="0" destOrd="0" parTransId="{0F415CC4-4AF1-4FDE-82FB-9CBD68B68980}" sibTransId="{FC5A63B9-7B22-4EC2-85C3-EF1B19D05C0A}"/>
    <dgm:cxn modelId="{0ED2E85E-1212-4AD9-90E2-32C0AF5BC309}" type="presOf" srcId="{2F00350B-F4C0-4EBB-A717-2A46DA4A8E13}" destId="{9E46CF40-DAD8-4225-8652-3209D90093F1}" srcOrd="0" destOrd="0" presId="urn:microsoft.com/office/officeart/2005/8/layout/process2"/>
    <dgm:cxn modelId="{6FD9D260-07EC-44EE-9E54-5D38EFA1DF5C}" type="presOf" srcId="{44BB4CFD-1F4F-4651-B90B-ED21DCD7D262}" destId="{01229549-49BA-400B-B223-091CA56B2AFA}" srcOrd="0" destOrd="0" presId="urn:microsoft.com/office/officeart/2005/8/layout/process2"/>
    <dgm:cxn modelId="{FF35F94C-B156-4B15-AA78-1C6482D49199}" srcId="{78DF0853-1E93-4FBD-B9A4-6B84CEDBF13C}" destId="{42A58A11-77DE-4962-9DC7-BDA57BE19DFC}" srcOrd="1" destOrd="0" parTransId="{4AA6820C-A156-4E58-8E03-F546661E9652}" sibTransId="{01F60ED6-E1CB-4B1E-9437-F083F7A0D94D}"/>
    <dgm:cxn modelId="{DDED5280-780F-4334-9DE2-DE514AB56942}" srcId="{78DF0853-1E93-4FBD-B9A4-6B84CEDBF13C}" destId="{4F5E516E-1973-4F6D-9ABD-24655B26DC7A}" srcOrd="2" destOrd="0" parTransId="{F72A7717-D6B6-47A8-AB94-0A6411D4A1CD}" sibTransId="{2F00350B-F4C0-4EBB-A717-2A46DA4A8E13}"/>
    <dgm:cxn modelId="{1B98D684-1D44-413D-8583-EA84DC378A34}" type="presOf" srcId="{01F60ED6-E1CB-4B1E-9437-F083F7A0D94D}" destId="{477D7827-8CDB-4155-A924-BE6A88222EE1}" srcOrd="0" destOrd="0" presId="urn:microsoft.com/office/officeart/2005/8/layout/process2"/>
    <dgm:cxn modelId="{32C93F8D-03D5-46F6-99DF-1D6BA5CEAD17}" type="presOf" srcId="{FC5A63B9-7B22-4EC2-85C3-EF1B19D05C0A}" destId="{17E7F6A6-871A-4F3C-856B-FFCB4CC2E196}" srcOrd="1" destOrd="0" presId="urn:microsoft.com/office/officeart/2005/8/layout/process2"/>
    <dgm:cxn modelId="{E8BB7191-068C-4181-A1F0-2787469F4C25}" type="presOf" srcId="{42A58A11-77DE-4962-9DC7-BDA57BE19DFC}" destId="{B40D48C8-DA59-4AC0-92EB-312F9FC7D680}" srcOrd="0" destOrd="0" presId="urn:microsoft.com/office/officeart/2005/8/layout/process2"/>
    <dgm:cxn modelId="{09DC849F-459C-414E-82E9-79F6D9CE026F}" type="presOf" srcId="{CAC34E20-C952-45A4-81B2-7F4FF57FB1EE}" destId="{D3837411-41C7-4DE5-97D5-B34C6364E634}" srcOrd="0" destOrd="0" presId="urn:microsoft.com/office/officeart/2005/8/layout/process2"/>
    <dgm:cxn modelId="{0198E1C5-A68A-4029-AEEE-2D3553F0E15D}" type="presOf" srcId="{01F60ED6-E1CB-4B1E-9437-F083F7A0D94D}" destId="{D0E50F8D-3089-4A53-BD0C-9743E1A0B6D9}" srcOrd="1" destOrd="0" presId="urn:microsoft.com/office/officeart/2005/8/layout/process2"/>
    <dgm:cxn modelId="{02D59FD6-5119-4F0B-A16C-FD4ED7A97033}" type="presOf" srcId="{FC5A63B9-7B22-4EC2-85C3-EF1B19D05C0A}" destId="{626DAB27-9F86-460B-A679-E3B2FA162F97}" srcOrd="0" destOrd="0" presId="urn:microsoft.com/office/officeart/2005/8/layout/process2"/>
    <dgm:cxn modelId="{ADBEA92D-E3D1-492C-858D-A8FC85D07414}" type="presParOf" srcId="{D4A7E2D7-3A5A-4D7C-B84E-6022C9A6D031}" destId="{D3837411-41C7-4DE5-97D5-B34C6364E634}" srcOrd="0" destOrd="0" presId="urn:microsoft.com/office/officeart/2005/8/layout/process2"/>
    <dgm:cxn modelId="{75332F20-8087-42D3-B08E-818C4CE53441}" type="presParOf" srcId="{D4A7E2D7-3A5A-4D7C-B84E-6022C9A6D031}" destId="{626DAB27-9F86-460B-A679-E3B2FA162F97}" srcOrd="1" destOrd="0" presId="urn:microsoft.com/office/officeart/2005/8/layout/process2"/>
    <dgm:cxn modelId="{0F5EC9AA-3106-40F2-BBEF-9B67F14A51F9}" type="presParOf" srcId="{626DAB27-9F86-460B-A679-E3B2FA162F97}" destId="{17E7F6A6-871A-4F3C-856B-FFCB4CC2E196}" srcOrd="0" destOrd="0" presId="urn:microsoft.com/office/officeart/2005/8/layout/process2"/>
    <dgm:cxn modelId="{CAEF53D9-6A01-4FD3-BA77-03A6452580C4}" type="presParOf" srcId="{D4A7E2D7-3A5A-4D7C-B84E-6022C9A6D031}" destId="{B40D48C8-DA59-4AC0-92EB-312F9FC7D680}" srcOrd="2" destOrd="0" presId="urn:microsoft.com/office/officeart/2005/8/layout/process2"/>
    <dgm:cxn modelId="{793616EF-1630-4EB5-AE91-67E76FAADEFB}" type="presParOf" srcId="{D4A7E2D7-3A5A-4D7C-B84E-6022C9A6D031}" destId="{477D7827-8CDB-4155-A924-BE6A88222EE1}" srcOrd="3" destOrd="0" presId="urn:microsoft.com/office/officeart/2005/8/layout/process2"/>
    <dgm:cxn modelId="{6C3BB5C9-57F8-49FF-B8AF-2DF7DE92C0EA}" type="presParOf" srcId="{477D7827-8CDB-4155-A924-BE6A88222EE1}" destId="{D0E50F8D-3089-4A53-BD0C-9743E1A0B6D9}" srcOrd="0" destOrd="0" presId="urn:microsoft.com/office/officeart/2005/8/layout/process2"/>
    <dgm:cxn modelId="{B14D6FF6-46AB-4C93-8FDE-3196DFEC08C2}" type="presParOf" srcId="{D4A7E2D7-3A5A-4D7C-B84E-6022C9A6D031}" destId="{5B97AECC-C614-4525-9B79-0D1B8C18594C}" srcOrd="4" destOrd="0" presId="urn:microsoft.com/office/officeart/2005/8/layout/process2"/>
    <dgm:cxn modelId="{0C1CE81A-0272-4A8D-BA9D-87E7E1E6F3BA}" type="presParOf" srcId="{D4A7E2D7-3A5A-4D7C-B84E-6022C9A6D031}" destId="{9E46CF40-DAD8-4225-8652-3209D90093F1}" srcOrd="5" destOrd="0" presId="urn:microsoft.com/office/officeart/2005/8/layout/process2"/>
    <dgm:cxn modelId="{A3DAC725-9F22-401E-8C3E-D9300E565B93}" type="presParOf" srcId="{9E46CF40-DAD8-4225-8652-3209D90093F1}" destId="{85343B09-9C8A-4378-B9A2-9D6316ECC336}" srcOrd="0" destOrd="0" presId="urn:microsoft.com/office/officeart/2005/8/layout/process2"/>
    <dgm:cxn modelId="{777AC690-DF36-48F3-9466-1C97FFEA98E9}" type="presParOf" srcId="{D4A7E2D7-3A5A-4D7C-B84E-6022C9A6D031}" destId="{01229549-49BA-400B-B223-091CA56B2AFA}" srcOrd="6" destOrd="0" presId="urn:microsoft.com/office/officeart/2005/8/layout/process2"/>
  </dgm:cxnLst>
  <dgm:bg>
    <a:noFill/>
  </dgm:bg>
  <dgm:whole>
    <a:ln>
      <a:noFill/>
    </a:ln>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837411-41C7-4DE5-97D5-B34C6364E634}">
      <dsp:nvSpPr>
        <dsp:cNvPr id="0" name=""/>
        <dsp:cNvSpPr/>
      </dsp:nvSpPr>
      <dsp:spPr>
        <a:xfrm>
          <a:off x="219348" y="1887"/>
          <a:ext cx="4241187"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VM</a:t>
          </a:r>
          <a:r>
            <a:rPr lang="ja-JP" altLang="en-US" sz="1700" kern="1200" dirty="0">
              <a:solidFill>
                <a:sysClr val="windowText" lastClr="000000"/>
              </a:solidFill>
            </a:rPr>
            <a:t>を立ち上げ</a:t>
          </a:r>
          <a:endParaRPr lang="zh-CN" altLang="en-US" sz="1700" kern="1200" dirty="0">
            <a:solidFill>
              <a:sysClr val="windowText" lastClr="000000"/>
            </a:solidFill>
          </a:endParaRPr>
        </a:p>
      </dsp:txBody>
      <dsp:txXfrm>
        <a:off x="239908" y="22447"/>
        <a:ext cx="4200067" cy="660860"/>
      </dsp:txXfrm>
    </dsp:sp>
    <dsp:sp modelId="{626DAB27-9F86-460B-A679-E3B2FA162F97}">
      <dsp:nvSpPr>
        <dsp:cNvPr id="0" name=""/>
        <dsp:cNvSpPr/>
      </dsp:nvSpPr>
      <dsp:spPr>
        <a:xfrm rot="5400000">
          <a:off x="2208320" y="72141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rot="-5400000">
        <a:off x="2245174" y="747741"/>
        <a:ext cx="189535" cy="184269"/>
      </dsp:txXfrm>
    </dsp:sp>
    <dsp:sp modelId="{B40D48C8-DA59-4AC0-92EB-312F9FC7D680}">
      <dsp:nvSpPr>
        <dsp:cNvPr id="0" name=""/>
        <dsp:cNvSpPr/>
      </dsp:nvSpPr>
      <dsp:spPr>
        <a:xfrm>
          <a:off x="259614" y="1054857"/>
          <a:ext cx="4160655"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NTTD</a:t>
          </a:r>
          <a:r>
            <a:rPr lang="ja-JP" altLang="en-US" sz="1700" kern="1200" dirty="0">
              <a:solidFill>
                <a:sysClr val="windowText" lastClr="000000"/>
              </a:solidFill>
            </a:rPr>
            <a:t>のストックからモデルをインポート</a:t>
          </a:r>
          <a:endParaRPr lang="zh-CN" altLang="en-US" sz="1700" kern="1200" dirty="0">
            <a:solidFill>
              <a:sysClr val="windowText" lastClr="000000"/>
            </a:solidFill>
          </a:endParaRPr>
        </a:p>
      </dsp:txBody>
      <dsp:txXfrm>
        <a:off x="280174" y="1075417"/>
        <a:ext cx="4119535" cy="660860"/>
      </dsp:txXfrm>
    </dsp:sp>
    <dsp:sp modelId="{477D7827-8CDB-4155-A924-BE6A88222EE1}">
      <dsp:nvSpPr>
        <dsp:cNvPr id="0" name=""/>
        <dsp:cNvSpPr/>
      </dsp:nvSpPr>
      <dsp:spPr>
        <a:xfrm rot="5400000">
          <a:off x="2208320" y="177438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rot="-5400000">
        <a:off x="2245174" y="1800711"/>
        <a:ext cx="189535" cy="184269"/>
      </dsp:txXfrm>
    </dsp:sp>
    <dsp:sp modelId="{5B97AECC-C614-4525-9B79-0D1B8C18594C}">
      <dsp:nvSpPr>
        <dsp:cNvPr id="0" name=""/>
        <dsp:cNvSpPr/>
      </dsp:nvSpPr>
      <dsp:spPr>
        <a:xfrm>
          <a:off x="249538" y="2107827"/>
          <a:ext cx="4180806"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モデルを運用するための</a:t>
          </a:r>
          <a:r>
            <a:rPr lang="en-US" altLang="ja-JP" sz="1700" kern="1200" dirty="0">
              <a:solidFill>
                <a:sysClr val="windowText" lastClr="000000"/>
              </a:solidFill>
            </a:rPr>
            <a:t>Python</a:t>
          </a:r>
          <a:r>
            <a:rPr lang="ja-JP" altLang="en-US" sz="1700" kern="1200" dirty="0">
              <a:solidFill>
                <a:sysClr val="windowText" lastClr="000000"/>
              </a:solidFill>
            </a:rPr>
            <a:t>スクリプトを構築</a:t>
          </a:r>
          <a:endParaRPr lang="zh-CN" altLang="en-US" sz="1700" kern="1200" dirty="0">
            <a:solidFill>
              <a:sysClr val="windowText" lastClr="000000"/>
            </a:solidFill>
          </a:endParaRPr>
        </a:p>
      </dsp:txBody>
      <dsp:txXfrm>
        <a:off x="270098" y="2128387"/>
        <a:ext cx="4139686" cy="660860"/>
      </dsp:txXfrm>
    </dsp:sp>
    <dsp:sp modelId="{9E46CF40-DAD8-4225-8652-3209D90093F1}">
      <dsp:nvSpPr>
        <dsp:cNvPr id="0" name=""/>
        <dsp:cNvSpPr/>
      </dsp:nvSpPr>
      <dsp:spPr>
        <a:xfrm rot="5400000">
          <a:off x="2208320" y="2827357"/>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rot="-5400000">
        <a:off x="2245174" y="2853682"/>
        <a:ext cx="189535" cy="184269"/>
      </dsp:txXfrm>
    </dsp:sp>
    <dsp:sp modelId="{01229549-49BA-400B-B223-091CA56B2AFA}">
      <dsp:nvSpPr>
        <dsp:cNvPr id="0" name=""/>
        <dsp:cNvSpPr/>
      </dsp:nvSpPr>
      <dsp:spPr>
        <a:xfrm>
          <a:off x="273101" y="3160797"/>
          <a:ext cx="4133681"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Backend Web API</a:t>
          </a:r>
          <a:r>
            <a:rPr lang="ja-JP" altLang="en-US" sz="1700" kern="1200" dirty="0">
              <a:solidFill>
                <a:sysClr val="windowText" lastClr="000000"/>
              </a:solidFill>
            </a:rPr>
            <a:t>を構築</a:t>
          </a:r>
          <a:endParaRPr lang="zh-CN" altLang="en-US" sz="1700" kern="1200" dirty="0">
            <a:solidFill>
              <a:sysClr val="windowText" lastClr="000000"/>
            </a:solidFill>
          </a:endParaRPr>
        </a:p>
      </dsp:txBody>
      <dsp:txXfrm>
        <a:off x="293661" y="3181357"/>
        <a:ext cx="4092561" cy="660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837411-41C7-4DE5-97D5-B34C6364E634}">
      <dsp:nvSpPr>
        <dsp:cNvPr id="0" name=""/>
        <dsp:cNvSpPr/>
      </dsp:nvSpPr>
      <dsp:spPr>
        <a:xfrm>
          <a:off x="224617" y="1887"/>
          <a:ext cx="4230649"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モデル</a:t>
          </a:r>
          <a:r>
            <a:rPr lang="en-US" altLang="ja-JP" sz="1700" kern="1200" dirty="0">
              <a:solidFill>
                <a:sysClr val="windowText" lastClr="000000"/>
              </a:solidFill>
            </a:rPr>
            <a:t>API</a:t>
          </a:r>
          <a:r>
            <a:rPr lang="ja-JP" altLang="en-US" sz="1700" kern="1200" dirty="0">
              <a:solidFill>
                <a:sysClr val="windowText" lastClr="000000"/>
              </a:solidFill>
            </a:rPr>
            <a:t>を呼び出し</a:t>
          </a:r>
          <a:endParaRPr lang="zh-CN" altLang="en-US" sz="1700" kern="1200" dirty="0">
            <a:solidFill>
              <a:sysClr val="windowText" lastClr="000000"/>
            </a:solidFill>
          </a:endParaRPr>
        </a:p>
      </dsp:txBody>
      <dsp:txXfrm>
        <a:off x="245177" y="22447"/>
        <a:ext cx="4189529" cy="660860"/>
      </dsp:txXfrm>
    </dsp:sp>
    <dsp:sp modelId="{626DAB27-9F86-460B-A679-E3B2FA162F97}">
      <dsp:nvSpPr>
        <dsp:cNvPr id="0" name=""/>
        <dsp:cNvSpPr/>
      </dsp:nvSpPr>
      <dsp:spPr>
        <a:xfrm rot="5400000">
          <a:off x="2208320" y="72141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solidFill>
              <a:sysClr val="windowText" lastClr="000000"/>
            </a:solidFill>
          </a:endParaRPr>
        </a:p>
      </dsp:txBody>
      <dsp:txXfrm rot="-5400000">
        <a:off x="2245174" y="747741"/>
        <a:ext cx="189535" cy="184269"/>
      </dsp:txXfrm>
    </dsp:sp>
    <dsp:sp modelId="{B40D48C8-DA59-4AC0-92EB-312F9FC7D680}">
      <dsp:nvSpPr>
        <dsp:cNvPr id="0" name=""/>
        <dsp:cNvSpPr/>
      </dsp:nvSpPr>
      <dsp:spPr>
        <a:xfrm>
          <a:off x="264783" y="1054857"/>
          <a:ext cx="4150316"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altLang="ja-JP" sz="1700" kern="1200" dirty="0">
              <a:solidFill>
                <a:sysClr val="windowText" lastClr="000000"/>
              </a:solidFill>
            </a:rPr>
            <a:t>Abstract</a:t>
          </a:r>
          <a:r>
            <a:rPr lang="ja-JP" altLang="en-US" sz="1700" kern="1200" dirty="0">
              <a:solidFill>
                <a:sysClr val="windowText" lastClr="000000"/>
              </a:solidFill>
            </a:rPr>
            <a:t>を渡す</a:t>
          </a:r>
          <a:endParaRPr lang="zh-CN" altLang="en-US" sz="1700" kern="1200" dirty="0">
            <a:solidFill>
              <a:sysClr val="windowText" lastClr="000000"/>
            </a:solidFill>
          </a:endParaRPr>
        </a:p>
      </dsp:txBody>
      <dsp:txXfrm>
        <a:off x="285343" y="1075417"/>
        <a:ext cx="4109196" cy="660860"/>
      </dsp:txXfrm>
    </dsp:sp>
    <dsp:sp modelId="{477D7827-8CDB-4155-A924-BE6A88222EE1}">
      <dsp:nvSpPr>
        <dsp:cNvPr id="0" name=""/>
        <dsp:cNvSpPr/>
      </dsp:nvSpPr>
      <dsp:spPr>
        <a:xfrm rot="5400000">
          <a:off x="2208320" y="1774386"/>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solidFill>
              <a:sysClr val="windowText" lastClr="000000"/>
            </a:solidFill>
          </a:endParaRPr>
        </a:p>
      </dsp:txBody>
      <dsp:txXfrm rot="-5400000">
        <a:off x="2245174" y="1800711"/>
        <a:ext cx="189535" cy="184269"/>
      </dsp:txXfrm>
    </dsp:sp>
    <dsp:sp modelId="{5B97AECC-C614-4525-9B79-0D1B8C18594C}">
      <dsp:nvSpPr>
        <dsp:cNvPr id="0" name=""/>
        <dsp:cNvSpPr/>
      </dsp:nvSpPr>
      <dsp:spPr>
        <a:xfrm>
          <a:off x="254732" y="2107827"/>
          <a:ext cx="4170418"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入力したテキストを基づいて</a:t>
          </a:r>
          <a:r>
            <a:rPr lang="en-US" altLang="ja-JP" sz="1700" kern="1200" dirty="0">
              <a:solidFill>
                <a:sysClr val="windowText" lastClr="000000"/>
              </a:solidFill>
            </a:rPr>
            <a:t>IPC</a:t>
          </a:r>
          <a:r>
            <a:rPr lang="ja-JP" altLang="en-US" sz="1700" kern="1200" dirty="0">
              <a:solidFill>
                <a:sysClr val="windowText" lastClr="000000"/>
              </a:solidFill>
            </a:rPr>
            <a:t>コードを推理する</a:t>
          </a:r>
          <a:endParaRPr lang="zh-CN" altLang="en-US" sz="1700" kern="1200" dirty="0">
            <a:solidFill>
              <a:sysClr val="windowText" lastClr="000000"/>
            </a:solidFill>
          </a:endParaRPr>
        </a:p>
      </dsp:txBody>
      <dsp:txXfrm>
        <a:off x="275292" y="2128387"/>
        <a:ext cx="4129298" cy="660860"/>
      </dsp:txXfrm>
    </dsp:sp>
    <dsp:sp modelId="{9E46CF40-DAD8-4225-8652-3209D90093F1}">
      <dsp:nvSpPr>
        <dsp:cNvPr id="0" name=""/>
        <dsp:cNvSpPr/>
      </dsp:nvSpPr>
      <dsp:spPr>
        <a:xfrm rot="5400000">
          <a:off x="2208320" y="2827357"/>
          <a:ext cx="263242" cy="315891"/>
        </a:xfrm>
        <a:prstGeom prst="rightArrow">
          <a:avLst>
            <a:gd name="adj1" fmla="val 60000"/>
            <a:gd name="adj2" fmla="val 50000"/>
          </a:avLst>
        </a:prstGeom>
        <a:solidFill>
          <a:schemeClr val="accent1"/>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solidFill>
              <a:sysClr val="windowText" lastClr="000000"/>
            </a:solidFill>
          </a:endParaRPr>
        </a:p>
      </dsp:txBody>
      <dsp:txXfrm rot="-5400000">
        <a:off x="2245174" y="2853682"/>
        <a:ext cx="189535" cy="184269"/>
      </dsp:txXfrm>
    </dsp:sp>
    <dsp:sp modelId="{01229549-49BA-400B-B223-091CA56B2AFA}">
      <dsp:nvSpPr>
        <dsp:cNvPr id="0" name=""/>
        <dsp:cNvSpPr/>
      </dsp:nvSpPr>
      <dsp:spPr>
        <a:xfrm>
          <a:off x="278236" y="3160797"/>
          <a:ext cx="4123410" cy="701980"/>
        </a:xfrm>
        <a:prstGeom prst="roundRect">
          <a:avLst>
            <a:gd name="adj" fmla="val 10000"/>
          </a:avLst>
        </a:prstGeom>
        <a:noFill/>
        <a:ln w="15875" cap="flat" cmpd="sng" algn="ctr">
          <a:solidFill>
            <a:schemeClr val="accent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ja-JP" altLang="en-US" sz="1700" kern="1200" dirty="0">
              <a:solidFill>
                <a:sysClr val="windowText" lastClr="000000"/>
              </a:solidFill>
            </a:rPr>
            <a:t>予測結果を返す</a:t>
          </a:r>
          <a:endParaRPr lang="zh-CN" altLang="en-US" sz="1700" kern="1200" dirty="0">
            <a:solidFill>
              <a:sysClr val="windowText" lastClr="000000"/>
            </a:solidFill>
          </a:endParaRPr>
        </a:p>
      </dsp:txBody>
      <dsp:txXfrm>
        <a:off x="298796" y="3181357"/>
        <a:ext cx="4082290" cy="660860"/>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883E1A-24A0-4B05-AA4C-56243B89A804}" type="datetimeFigureOut">
              <a:rPr lang="zh-CN" altLang="en-US" smtClean="0"/>
              <a:t>2025/4/17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72AB785-1501-48CC-961B-897741EA03FF}" type="slidenum">
              <a:rPr lang="zh-CN" altLang="en-US" smtClean="0"/>
              <a:t>‹#›</a:t>
            </a:fld>
            <a:endParaRPr lang="zh-CN" altLang="en-US"/>
          </a:p>
        </p:txBody>
      </p:sp>
    </p:spTree>
    <p:extLst>
      <p:ext uri="{BB962C8B-B14F-4D97-AF65-F5344CB8AC3E}">
        <p14:creationId xmlns:p14="http://schemas.microsoft.com/office/powerpoint/2010/main" val="1993624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zh-CN" altLang="en-US"/>
              <a:t>单击此处编辑母版标题样式</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2989369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zh-CN" altLang="en-US"/>
              <a:t>单击此处编辑母版标题样式</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60122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zh-CN" altLang="en-US"/>
              <a:t>单击此处编辑母版标题样式</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4752308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zh-CN" altLang="en-US"/>
              <a:t>单击此处编辑母版标题样式</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5569003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2" name="Content Placeholder 3"/>
          <p:cNvSpPr>
            <a:spLocks noGrp="1"/>
          </p:cNvSpPr>
          <p:nvPr>
            <p:ph sz="quarter" idx="13"/>
          </p:nvPr>
        </p:nvSpPr>
        <p:spPr>
          <a:xfrm>
            <a:off x="913774" y="3051012"/>
            <a:ext cx="5106027" cy="274018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3" name="Content Placeholder 5"/>
          <p:cNvSpPr>
            <a:spLocks noGrp="1"/>
          </p:cNvSpPr>
          <p:nvPr>
            <p:ph sz="quarter" idx="14"/>
          </p:nvPr>
        </p:nvSpPr>
        <p:spPr>
          <a:xfrm>
            <a:off x="6172200" y="3051012"/>
            <a:ext cx="5105401" cy="274018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8" name="Footer Placeholder 7"/>
          <p:cNvSpPr>
            <a:spLocks noGrp="1"/>
          </p:cNvSpPr>
          <p:nvPr>
            <p:ph type="ftr" sz="quarter" idx="11"/>
          </p:nvPr>
        </p:nvSpPr>
        <p:spPr/>
        <p:txBody>
          <a:bodyPr/>
          <a:lstStyle/>
          <a:p>
            <a:endParaRPr lang="zh-CN" altLang="en-US"/>
          </a:p>
        </p:txBody>
      </p:sp>
      <p:sp>
        <p:nvSpPr>
          <p:cNvPr id="9" name="Slide Number Placeholder 8"/>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966000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033860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258734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zh-CN" altLang="en-US"/>
              <a:t>单击此处编辑母版标题样式</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9948616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3093752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带描述的全景图片">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7203907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标题和描述">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zh-CN" altLang="en-US"/>
              <a:t>单击此处编辑母版标题样式</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6477981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带描述的引言">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zh-CN" altLang="en-US"/>
              <a:t>单击此处编辑母版标题样式</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2794037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名片">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zh-CN" altLang="en-US"/>
              <a:t>单击此处编辑母版标题样式</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6" name="Footer Placeholder 5"/>
          <p:cNvSpPr>
            <a:spLocks noGrp="1"/>
          </p:cNvSpPr>
          <p:nvPr>
            <p:ph type="ftr" sz="quarter" idx="11"/>
          </p:nvPr>
        </p:nvSpPr>
        <p:spPr/>
        <p:txBody>
          <a:bodyPr/>
          <a:lstStyle/>
          <a:p>
            <a:endParaRPr lang="zh-CN" altLang="en-US"/>
          </a:p>
        </p:txBody>
      </p:sp>
      <p:sp>
        <p:nvSpPr>
          <p:cNvPr id="7" name="Slide Number Placeholder 6"/>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3967687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栏">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zh-CN" altLang="en-US"/>
              <a:t>单击此处编辑母版标题样式</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3" name="Date Placeholder 2"/>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1922472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图片栏">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zh-CN" altLang="en-US"/>
              <a:t>单击此处编辑母版标题样式</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chemeClr val="bg2">
                <a:lumMod val="60000"/>
                <a:lumOff val="40000"/>
              </a:schemeClr>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zh-CN" altLang="en-US"/>
              <a:t>单击图标添加图片</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3" name="Date Placeholder 2"/>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4" name="Footer Placeholder 3"/>
          <p:cNvSpPr>
            <a:spLocks noGrp="1"/>
          </p:cNvSpPr>
          <p:nvPr>
            <p:ph type="ftr" sz="quarter" idx="11"/>
          </p:nvPr>
        </p:nvSpPr>
        <p:spPr/>
        <p:txBody>
          <a:bodyPr/>
          <a:lstStyle/>
          <a:p>
            <a:endParaRPr lang="zh-CN" altLang="en-US"/>
          </a:p>
        </p:txBody>
      </p:sp>
      <p:sp>
        <p:nvSpPr>
          <p:cNvPr id="5" name="Slide Number Placeholder 4"/>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40458252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zh-CN" altLang="en-US"/>
              <a:t>单击此处编辑母版标题样式</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987679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zh-CN" altLang="en-US"/>
              <a:t>单击此处编辑母版标题样式</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3800F3C6-200C-4F82-8057-425A24E0A80A}" type="datetimeFigureOut">
              <a:rPr lang="zh-CN" altLang="en-US" smtClean="0"/>
              <a:t>2025/4/17</a:t>
            </a:fld>
            <a:endParaRPr lang="zh-CN" altLang="en-US"/>
          </a:p>
        </p:txBody>
      </p:sp>
      <p:sp>
        <p:nvSpPr>
          <p:cNvPr id="5" name="Footer Placeholder 4"/>
          <p:cNvSpPr>
            <a:spLocks noGrp="1"/>
          </p:cNvSpPr>
          <p:nvPr>
            <p:ph type="ftr" sz="quarter" idx="11"/>
          </p:nvPr>
        </p:nvSpPr>
        <p:spPr/>
        <p:txBody>
          <a:bodyPr/>
          <a:lstStyle/>
          <a:p>
            <a:endParaRPr lang="zh-CN" altLang="en-US"/>
          </a:p>
        </p:txBody>
      </p:sp>
      <p:sp>
        <p:nvSpPr>
          <p:cNvPr id="6" name="Slide Number Placeholder 5"/>
          <p:cNvSpPr>
            <a:spLocks noGrp="1"/>
          </p:cNvSpPr>
          <p:nvPr>
            <p:ph type="sldNum" sz="quarter" idx="12"/>
          </p:nvPr>
        </p:nvSpPr>
        <p:spPr/>
        <p:txBody>
          <a:body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2332694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mt="7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3800F3C6-200C-4F82-8057-425A24E0A80A}" type="datetimeFigureOut">
              <a:rPr lang="zh-CN" altLang="en-US" smtClean="0"/>
              <a:t>2025/4/17</a:t>
            </a:fld>
            <a:endParaRPr lang="zh-CN" altLang="en-US"/>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zh-CN" altLang="en-US"/>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1D6A9CA3-D27C-423B-9FCE-E66F5AB7D541}" type="slidenum">
              <a:rPr lang="zh-CN" altLang="en-US" smtClean="0"/>
              <a:t>‹#›</a:t>
            </a:fld>
            <a:endParaRPr lang="zh-CN" altLang="en-US"/>
          </a:p>
        </p:txBody>
      </p:sp>
    </p:spTree>
    <p:extLst>
      <p:ext uri="{BB962C8B-B14F-4D97-AF65-F5344CB8AC3E}">
        <p14:creationId xmlns:p14="http://schemas.microsoft.com/office/powerpoint/2010/main" val="3376097511"/>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 id="2147483731"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zure.microsoft.com/en-us/pricing/details/synapse-analytics/" TargetMode="External"/><Relationship Id="rId2" Type="http://schemas.openxmlformats.org/officeDocument/2006/relationships/hyperlink" Target="https://learn.microsoft.com/en-us/azure/synapse-analytics/sql-data-warehouse/sql-data-warehouse-service-capacity-limits#workload-management"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zure.microsoft.com/en-us/pricing/details/storage/data-lake/#overview" TargetMode="External"/><Relationship Id="rId2" Type="http://schemas.openxmlformats.org/officeDocument/2006/relationships/hyperlink" Target="https://azure.microsoft.com/en-us/pricing/details/search/"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3" Type="http://schemas.openxmlformats.org/officeDocument/2006/relationships/hyperlink" Target="https://aws.amazon.com/ec2/pricing/on-demand/?nc1=h_ls" TargetMode="External"/><Relationship Id="rId2" Type="http://schemas.openxmlformats.org/officeDocument/2006/relationships/hyperlink" Target="https://azure.microsoft.com/en-us/pricing/details/virtual-machines/linux/#pricing" TargetMode="External"/><Relationship Id="rId1" Type="http://schemas.openxmlformats.org/officeDocument/2006/relationships/slideLayout" Target="../slideLayouts/slideLayout1.xml"/><Relationship Id="rId4" Type="http://schemas.openxmlformats.org/officeDocument/2006/relationships/hyperlink" Target="https://cloud.google.com/compute/vm-instance-pricing?hl=en#section-5"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FF330-4145-E08D-1B89-3CF0A9465D5E}"/>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C4A58AA-5172-61E1-E7C3-B665BFF79156}"/>
              </a:ext>
            </a:extLst>
          </p:cNvPr>
          <p:cNvSpPr txBox="1"/>
          <p:nvPr/>
        </p:nvSpPr>
        <p:spPr>
          <a:xfrm>
            <a:off x="575036" y="707011"/>
            <a:ext cx="10246936" cy="369332"/>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Azure Synapse Analytics</a:t>
            </a:r>
            <a:r>
              <a:rPr lang="ja-JP" altLang="en-US" dirty="0">
                <a:latin typeface="Arial" panose="020B0604020202020204" pitchFamily="34" charset="0"/>
                <a:cs typeface="Arial" panose="020B0604020202020204" pitchFamily="34" charset="0"/>
              </a:rPr>
              <a:t>に対する調査 </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DD39CF93-52F2-5976-126E-6D86539733C2}"/>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47B9DB1B-91BD-558A-AC02-0C7345E81BCA}"/>
              </a:ext>
            </a:extLst>
          </p:cNvPr>
          <p:cNvSpPr txBox="1"/>
          <p:nvPr/>
        </p:nvSpPr>
        <p:spPr>
          <a:xfrm>
            <a:off x="575036" y="1517714"/>
            <a:ext cx="10595728" cy="3416320"/>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Synapse Analytics</a:t>
            </a:r>
            <a:r>
              <a:rPr lang="ja-JP" altLang="en-US" dirty="0">
                <a:latin typeface="Arial" panose="020B0604020202020204" pitchFamily="34" charset="0"/>
                <a:cs typeface="Arial" panose="020B0604020202020204" pitchFamily="34" charset="0"/>
              </a:rPr>
              <a:t>の主要機能：</a:t>
            </a:r>
            <a:endParaRPr lang="en-US" altLang="ja-JP"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dirty="0">
                <a:latin typeface="Arial" panose="020B0604020202020204" pitchFamily="34" charset="0"/>
                <a:cs typeface="Arial" panose="020B0604020202020204" pitchFamily="34" charset="0"/>
              </a:rPr>
              <a:t>SQL</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query</a:t>
            </a:r>
            <a:r>
              <a:rPr lang="ja-JP" altLang="en-US" dirty="0">
                <a:latin typeface="Arial" panose="020B0604020202020204" pitchFamily="34" charset="0"/>
                <a:cs typeface="Arial" panose="020B0604020202020204" pitchFamily="34" charset="0"/>
              </a:rPr>
              <a:t>検索</a:t>
            </a:r>
            <a:r>
              <a:rPr lang="en-US" altLang="ja-JP" dirty="0">
                <a:latin typeface="Arial" panose="020B0604020202020204" pitchFamily="34" charset="0"/>
                <a:cs typeface="Arial" panose="020B0604020202020204" pitchFamily="34" charset="0"/>
              </a:rPr>
              <a:t>(RDB</a:t>
            </a:r>
            <a:r>
              <a:rPr lang="ja-JP" altLang="en-US" dirty="0">
                <a:latin typeface="Arial" panose="020B0604020202020204" pitchFamily="34" charset="0"/>
                <a:cs typeface="Arial" panose="020B0604020202020204" pitchFamily="34" charset="0"/>
              </a:rPr>
              <a:t>、</a:t>
            </a:r>
            <a:r>
              <a:rPr lang="en-US" altLang="ja-JP" dirty="0">
                <a:latin typeface="Arial" panose="020B0604020202020204" pitchFamily="34" charset="0"/>
                <a:cs typeface="Arial" panose="020B0604020202020204" pitchFamily="34" charset="0"/>
              </a:rPr>
              <a:t>NoSQL</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DB)</a:t>
            </a:r>
            <a:r>
              <a:rPr lang="ja-JP" altLang="en-US" dirty="0">
                <a:latin typeface="Arial" panose="020B0604020202020204" pitchFamily="34" charset="0"/>
                <a:cs typeface="Arial" panose="020B0604020202020204" pitchFamily="34" charset="0"/>
              </a:rPr>
              <a:t>：異なるタイプの</a:t>
            </a:r>
            <a:r>
              <a:rPr lang="en-US" altLang="ja-JP" dirty="0">
                <a:latin typeface="Arial" panose="020B0604020202020204" pitchFamily="34" charset="0"/>
                <a:cs typeface="Arial" panose="020B0604020202020204" pitchFamily="34" charset="0"/>
              </a:rPr>
              <a:t>DB</a:t>
            </a:r>
            <a:r>
              <a:rPr lang="ja-JP" altLang="en-US" dirty="0">
                <a:latin typeface="Arial" panose="020B0604020202020204" pitchFamily="34" charset="0"/>
                <a:cs typeface="Arial" panose="020B0604020202020204" pitchFamily="34" charset="0"/>
              </a:rPr>
              <a:t>に検索してデータを抽出できる</a:t>
            </a:r>
            <a:endParaRPr lang="en-US" altLang="ja-JP" dirty="0">
              <a:latin typeface="Arial" panose="020B0604020202020204" pitchFamily="34" charset="0"/>
              <a:cs typeface="Arial" panose="020B0604020202020204" pitchFamily="34" charset="0"/>
            </a:endParaRPr>
          </a:p>
          <a:p>
            <a:pPr lvl="1"/>
            <a:r>
              <a:rPr lang="en-US" altLang="ja-JP" dirty="0">
                <a:latin typeface="Arial" panose="020B0604020202020204" pitchFamily="34" charset="0"/>
                <a:cs typeface="Arial" panose="020B0604020202020204" pitchFamily="34" charset="0"/>
              </a:rPr>
              <a:t>Serverless SQL Pools</a:t>
            </a:r>
          </a:p>
          <a:p>
            <a:pPr lvl="1"/>
            <a:endParaRPr lang="en-US" altLang="ja-JP"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dirty="0">
                <a:latin typeface="Arial" panose="020B0604020202020204" pitchFamily="34" charset="0"/>
                <a:cs typeface="Arial" panose="020B0604020202020204" pitchFamily="34" charset="0"/>
              </a:rPr>
              <a:t>Data</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Warehouse</a:t>
            </a:r>
            <a:r>
              <a:rPr lang="ja-JP" altLang="en-US" dirty="0">
                <a:latin typeface="Arial" panose="020B0604020202020204" pitchFamily="34" charset="0"/>
                <a:cs typeface="Arial" panose="020B0604020202020204" pitchFamily="34" charset="0"/>
              </a:rPr>
              <a:t>：</a:t>
            </a:r>
            <a:r>
              <a:rPr lang="en-US" altLang="ja-JP" dirty="0">
                <a:latin typeface="Arial" panose="020B0604020202020204" pitchFamily="34" charset="0"/>
                <a:cs typeface="Arial" panose="020B0604020202020204" pitchFamily="34" charset="0"/>
              </a:rPr>
              <a:t>RDB</a:t>
            </a:r>
            <a:r>
              <a:rPr lang="ja-JP" altLang="en-US" dirty="0">
                <a:latin typeface="Arial" panose="020B0604020202020204" pitchFamily="34" charset="0"/>
                <a:cs typeface="Arial" panose="020B0604020202020204" pitchFamily="34" charset="0"/>
              </a:rPr>
              <a:t>であり、</a:t>
            </a:r>
            <a:r>
              <a:rPr lang="en-US" altLang="ja-JP" dirty="0">
                <a:latin typeface="Arial" panose="020B0604020202020204" pitchFamily="34" charset="0"/>
                <a:cs typeface="Arial" panose="020B0604020202020204" pitchFamily="34" charset="0"/>
              </a:rPr>
              <a:t>Full-Text</a:t>
            </a:r>
            <a:r>
              <a:rPr lang="ja-JP" altLang="en-US" dirty="0">
                <a:latin typeface="Arial" panose="020B0604020202020204" pitchFamily="34" charset="0"/>
                <a:cs typeface="Arial" panose="020B0604020202020204" pitchFamily="34" charset="0"/>
              </a:rPr>
              <a:t>検索ができる</a:t>
            </a:r>
            <a:endParaRPr lang="en-US" altLang="ja-JP" dirty="0">
              <a:latin typeface="Arial" panose="020B0604020202020204" pitchFamily="34" charset="0"/>
              <a:cs typeface="Arial" panose="020B0604020202020204" pitchFamily="34" charset="0"/>
            </a:endParaRPr>
          </a:p>
          <a:p>
            <a:r>
              <a:rPr lang="en-US" altLang="ja-JP" dirty="0">
                <a:latin typeface="Arial" panose="020B0604020202020204" pitchFamily="34" charset="0"/>
                <a:cs typeface="Arial" panose="020B0604020202020204" pitchFamily="34" charset="0"/>
              </a:rPr>
              <a:t>	Dedicated SQL Pools</a:t>
            </a:r>
            <a:r>
              <a:rPr lang="ja-JP" altLang="en-US" dirty="0">
                <a:latin typeface="Arial" panose="020B0604020202020204" pitchFamily="34" charset="0"/>
                <a:cs typeface="Arial" panose="020B0604020202020204" pitchFamily="34" charset="0"/>
              </a:rPr>
              <a:t>（</a:t>
            </a:r>
            <a:r>
              <a:rPr lang="en-US" altLang="ja-JP" dirty="0">
                <a:latin typeface="Arial" panose="020B0604020202020204" pitchFamily="34" charset="0"/>
                <a:cs typeface="Arial" panose="020B0604020202020204" pitchFamily="34" charset="0"/>
              </a:rPr>
              <a:t>Super SQL</a:t>
            </a:r>
            <a:r>
              <a:rPr lang="ja-JP" altLang="en-US" dirty="0">
                <a:latin typeface="Arial" panose="020B0604020202020204" pitchFamily="34" charset="0"/>
                <a:cs typeface="Arial" panose="020B0604020202020204" pitchFamily="34" charset="0"/>
              </a:rPr>
              <a:t> </a:t>
            </a:r>
            <a:r>
              <a:rPr lang="en-US" altLang="ja-JP" dirty="0">
                <a:latin typeface="Arial" panose="020B0604020202020204" pitchFamily="34" charset="0"/>
                <a:cs typeface="Arial" panose="020B0604020202020204" pitchFamily="34" charset="0"/>
              </a:rPr>
              <a:t>Server)</a:t>
            </a:r>
          </a:p>
          <a:p>
            <a:r>
              <a:rPr lang="en-US" altLang="ja-JP"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US" altLang="ja-JP" dirty="0">
                <a:latin typeface="Arial" panose="020B0604020202020204" pitchFamily="34" charset="0"/>
                <a:cs typeface="Arial" panose="020B0604020202020204" pitchFamily="34" charset="0"/>
              </a:rPr>
              <a:t>Data</a:t>
            </a:r>
            <a:r>
              <a:rPr lang="ja-JP" altLang="en-US" dirty="0">
                <a:latin typeface="Arial" panose="020B0604020202020204" pitchFamily="34" charset="0"/>
                <a:cs typeface="Arial" panose="020B0604020202020204" pitchFamily="34" charset="0"/>
              </a:rPr>
              <a:t>処理（</a:t>
            </a:r>
            <a:r>
              <a:rPr lang="en-US" altLang="ja-JP" dirty="0">
                <a:latin typeface="Arial" panose="020B0604020202020204" pitchFamily="34" charset="0"/>
                <a:cs typeface="Arial" panose="020B0604020202020204" pitchFamily="34" charset="0"/>
              </a:rPr>
              <a:t>ETL</a:t>
            </a:r>
            <a:r>
              <a:rPr lang="ja-JP" altLang="en-US" dirty="0">
                <a:latin typeface="Arial" panose="020B0604020202020204" pitchFamily="34" charset="0"/>
                <a:cs typeface="Arial" panose="020B0604020202020204" pitchFamily="34" charset="0"/>
              </a:rPr>
              <a:t>など）：大規模分散データ処理システム</a:t>
            </a:r>
            <a:endParaRPr lang="en-US" altLang="ja-JP" dirty="0">
              <a:latin typeface="Arial" panose="020B0604020202020204" pitchFamily="34" charset="0"/>
              <a:cs typeface="Arial" panose="020B0604020202020204" pitchFamily="34" charset="0"/>
            </a:endParaRPr>
          </a:p>
          <a:p>
            <a:r>
              <a:rPr lang="en-US" altLang="ja-JP" dirty="0">
                <a:latin typeface="Arial" panose="020B0604020202020204" pitchFamily="34" charset="0"/>
                <a:cs typeface="Arial" panose="020B0604020202020204" pitchFamily="34" charset="0"/>
              </a:rPr>
              <a:t>	Apache Spark for Synapse</a:t>
            </a:r>
          </a:p>
          <a:p>
            <a:pPr marL="285750" indent="-285750">
              <a:buFont typeface="Arial" panose="020B0604020202020204" pitchFamily="34" charset="0"/>
              <a:buChar char="•"/>
            </a:pPr>
            <a:endParaRPr lang="en-US" altLang="ja-JP"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dirty="0">
                <a:latin typeface="Arial" panose="020B0604020202020204" pitchFamily="34" charset="0"/>
                <a:cs typeface="Arial" panose="020B0604020202020204" pitchFamily="34" charset="0"/>
              </a:rPr>
              <a:t>統合データ分析システム</a:t>
            </a:r>
            <a:endParaRPr lang="en-US" altLang="ja-JP" dirty="0">
              <a:latin typeface="Arial" panose="020B0604020202020204" pitchFamily="34" charset="0"/>
              <a:cs typeface="Arial" panose="020B0604020202020204" pitchFamily="34" charset="0"/>
            </a:endParaRPr>
          </a:p>
          <a:p>
            <a:r>
              <a:rPr lang="en-US" altLang="zh-CN" dirty="0">
                <a:latin typeface="Arial" panose="020B0604020202020204" pitchFamily="34" charset="0"/>
                <a:cs typeface="Arial" panose="020B0604020202020204" pitchFamily="34" charset="0"/>
              </a:rPr>
              <a:t>	Synapse Data Explorer</a:t>
            </a:r>
            <a:endParaRPr lang="zh-CN" altLang="en-US" dirty="0">
              <a:latin typeface="Arial" panose="020B0604020202020204" pitchFamily="34" charset="0"/>
              <a:cs typeface="Arial" panose="020B0604020202020204" pitchFamily="34" charset="0"/>
            </a:endParaRPr>
          </a:p>
        </p:txBody>
      </p:sp>
      <p:pic>
        <p:nvPicPr>
          <p:cNvPr id="1026" name="Picture 2" descr="Azure Synapse Analytics 体系结构图表。">
            <a:extLst>
              <a:ext uri="{FF2B5EF4-FFF2-40B4-BE49-F238E27FC236}">
                <a16:creationId xmlns:a16="http://schemas.microsoft.com/office/drawing/2014/main" id="{C146B1BC-ECB2-43F4-8DB7-14336ADA00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83436" y="4129021"/>
            <a:ext cx="6617265" cy="22133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8070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9B828-5C88-8128-26C1-E8427A779A27}"/>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B7DEEDB-FBB7-B68E-089B-BA270B9F32BF}"/>
              </a:ext>
            </a:extLst>
          </p:cNvPr>
          <p:cNvSpPr txBox="1"/>
          <p:nvPr/>
        </p:nvSpPr>
        <p:spPr>
          <a:xfrm>
            <a:off x="575036" y="707011"/>
            <a:ext cx="10246936" cy="369332"/>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Azure Synapse Analytics</a:t>
            </a:r>
            <a:r>
              <a:rPr lang="ja-JP" altLang="en-US" dirty="0">
                <a:latin typeface="Arial" panose="020B0604020202020204" pitchFamily="34" charset="0"/>
                <a:cs typeface="Arial" panose="020B0604020202020204" pitchFamily="34" charset="0"/>
              </a:rPr>
              <a:t>に対する調査 </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CCD8F64-B848-EC47-4527-BB67122B56A0}"/>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9A4BF3E-8089-27A2-3DF2-83566593813B}"/>
              </a:ext>
            </a:extLst>
          </p:cNvPr>
          <p:cNvSpPr txBox="1"/>
          <p:nvPr/>
        </p:nvSpPr>
        <p:spPr>
          <a:xfrm>
            <a:off x="575036" y="1507986"/>
            <a:ext cx="10595728" cy="5262979"/>
          </a:xfrm>
          <a:prstGeom prst="rect">
            <a:avLst/>
          </a:prstGeom>
          <a:noFill/>
        </p:spPr>
        <p:txBody>
          <a:bodyPr wrap="square" rtlCol="0">
            <a:spAutoFit/>
          </a:bodyPr>
          <a:lstStyle/>
          <a:p>
            <a:r>
              <a:rPr lang="en-US" altLang="ja-JP" sz="1600" dirty="0">
                <a:latin typeface="Arial" panose="020B0604020202020204" pitchFamily="34" charset="0"/>
                <a:cs typeface="Arial" panose="020B0604020202020204" pitchFamily="34" charset="0"/>
              </a:rPr>
              <a:t>Data</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Warehouse</a:t>
            </a:r>
            <a:r>
              <a:rPr lang="ja-JP" altLang="en-US" sz="1600" dirty="0">
                <a:latin typeface="Arial" panose="020B0604020202020204" pitchFamily="34" charset="0"/>
                <a:cs typeface="Arial" panose="020B0604020202020204" pitchFamily="34" charset="0"/>
              </a:rPr>
              <a:t>に対する調査：</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b="1" dirty="0">
                <a:latin typeface="Arial" panose="020B0604020202020204" pitchFamily="34" charset="0"/>
                <a:cs typeface="Arial" panose="020B0604020202020204" pitchFamily="34" charset="0"/>
              </a:rPr>
              <a:t>レコードの仕様と１レコードのサイズ上限</a:t>
            </a:r>
            <a:endParaRPr lang="en-US" altLang="ja-JP" sz="1600" b="1"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RDB</a:t>
            </a:r>
            <a:r>
              <a:rPr lang="ja-JP" altLang="en-US" sz="1600" dirty="0">
                <a:latin typeface="Arial" panose="020B0604020202020204" pitchFamily="34" charset="0"/>
                <a:cs typeface="Arial" panose="020B0604020202020204" pitchFamily="34" charset="0"/>
              </a:rPr>
              <a:t>なので、行の上限は８０</a:t>
            </a:r>
            <a:r>
              <a:rPr lang="en-US" altLang="ja-JP" sz="1600" dirty="0">
                <a:latin typeface="Arial" panose="020B0604020202020204" pitchFamily="34" charset="0"/>
                <a:cs typeface="Arial" panose="020B0604020202020204" pitchFamily="34" charset="0"/>
              </a:rPr>
              <a:t>60</a:t>
            </a:r>
            <a:r>
              <a:rPr lang="ja-JP" altLang="en-US" sz="1600" dirty="0">
                <a:latin typeface="Arial" panose="020B0604020202020204" pitchFamily="34" charset="0"/>
                <a:cs typeface="Arial" panose="020B0604020202020204" pitchFamily="34" charset="0"/>
              </a:rPr>
              <a:t>バイト、カラム数上限は１０２４カラム。</a:t>
            </a:r>
            <a:r>
              <a:rPr lang="en-US" altLang="ja-JP" sz="1600" u="sng"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Reference</a:t>
            </a:r>
            <a:r>
              <a:rPr lang="en-US" altLang="ja-JP" sz="1600" u="sng" dirty="0">
                <a:latin typeface="Arial" panose="020B0604020202020204" pitchFamily="34" charset="0"/>
                <a:cs typeface="Arial" panose="020B0604020202020204" pitchFamily="34" charset="0"/>
              </a:rPr>
              <a:t> </a:t>
            </a: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（テキストの格納サイズ上限は２</a:t>
            </a:r>
            <a:r>
              <a:rPr lang="en-US" altLang="ja-JP" sz="1600" dirty="0">
                <a:latin typeface="Arial" panose="020B0604020202020204" pitchFamily="34" charset="0"/>
                <a:cs typeface="Arial" panose="020B0604020202020204" pitchFamily="34" charset="0"/>
              </a:rPr>
              <a:t>GB</a:t>
            </a:r>
            <a:r>
              <a:rPr lang="ja-JP" altLang="en-US" sz="1600" dirty="0">
                <a:latin typeface="Arial" panose="020B0604020202020204" pitchFamily="34" charset="0"/>
                <a:cs typeface="Arial" panose="020B0604020202020204" pitchFamily="34" charset="0"/>
              </a:rPr>
              <a:t>、テーブルにポインターしか格納しない）</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拡張性</a:t>
            </a:r>
            <a:endParaRPr lang="en-US" altLang="ja-JP" sz="1600" dirty="0">
              <a:latin typeface="Arial" panose="020B0604020202020204" pitchFamily="34" charset="0"/>
              <a:cs typeface="Arial" panose="020B0604020202020204" pitchFamily="34" charset="0"/>
            </a:endParaRP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ストレージは自動的に拡張し、計算リソースは</a:t>
            </a:r>
            <a:r>
              <a:rPr lang="en-US" altLang="ja-JP" sz="1600" dirty="0">
                <a:latin typeface="Arial" panose="020B0604020202020204" pitchFamily="34" charset="0"/>
                <a:cs typeface="Arial" panose="020B0604020202020204" pitchFamily="34" charset="0"/>
              </a:rPr>
              <a:t>DWU</a:t>
            </a:r>
            <a:r>
              <a:rPr lang="ja-JP" altLang="en-US" sz="1600" dirty="0">
                <a:latin typeface="Arial" panose="020B0604020202020204" pitchFamily="34" charset="0"/>
                <a:cs typeface="Arial" panose="020B0604020202020204" pitchFamily="34" charset="0"/>
              </a:rPr>
              <a:t>単位で調整できる</a:t>
            </a:r>
            <a:endParaRPr lang="en-US" altLang="ja-JP" sz="1600" dirty="0">
              <a:latin typeface="Arial" panose="020B0604020202020204" pitchFamily="34" charset="0"/>
              <a:cs typeface="Arial" panose="020B0604020202020204" pitchFamily="34" charset="0"/>
            </a:endParaRPr>
          </a:p>
          <a:p>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データ登録と検索：共に</a:t>
            </a:r>
            <a:r>
              <a:rPr lang="en-US" altLang="ja-JP" sz="1600" dirty="0">
                <a:latin typeface="Arial" panose="020B0604020202020204" pitchFamily="34" charset="0"/>
                <a:cs typeface="Arial" panose="020B0604020202020204" pitchFamily="34" charset="0"/>
              </a:rPr>
              <a:t>Python</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SDK</a:t>
            </a:r>
            <a:r>
              <a:rPr lang="ja-JP" altLang="en-US" sz="1600" dirty="0">
                <a:latin typeface="Arial" panose="020B0604020202020204" pitchFamily="34" charset="0"/>
                <a:cs typeface="Arial" panose="020B0604020202020204" pitchFamily="34" charset="0"/>
              </a:rPr>
              <a:t>で作業できる</a:t>
            </a:r>
            <a:endParaRPr lang="en-US" altLang="ja-JP" sz="1600" dirty="0">
              <a:latin typeface="Arial" panose="020B0604020202020204" pitchFamily="34" charset="0"/>
              <a:cs typeface="Arial" panose="020B0604020202020204" pitchFamily="34" charset="0"/>
            </a:endParaRP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登録：</a:t>
            </a:r>
            <a:r>
              <a:rPr lang="en-US" altLang="ja-JP" sz="1600" dirty="0">
                <a:latin typeface="Arial" panose="020B0604020202020204" pitchFamily="34" charset="0"/>
                <a:cs typeface="Arial" panose="020B0604020202020204" pitchFamily="34" charset="0"/>
              </a:rPr>
              <a:t>(Blob</a:t>
            </a:r>
            <a:r>
              <a:rPr lang="ja-JP" altLang="en-US" sz="1600" dirty="0">
                <a:latin typeface="Arial" panose="020B0604020202020204" pitchFamily="34" charset="0"/>
                <a:cs typeface="Arial" panose="020B0604020202020204" pitchFamily="34" charset="0"/>
              </a:rPr>
              <a:t>の</a:t>
            </a:r>
            <a:r>
              <a:rPr lang="en-US" altLang="ja-JP" sz="1600" dirty="0">
                <a:latin typeface="Arial" panose="020B0604020202020204" pitchFamily="34" charset="0"/>
                <a:cs typeface="Arial" panose="020B0604020202020204" pitchFamily="34" charset="0"/>
              </a:rPr>
              <a:t>CSV</a:t>
            </a:r>
            <a:r>
              <a:rPr lang="ja-JP" altLang="en-US" sz="1600" dirty="0">
                <a:latin typeface="Arial" panose="020B0604020202020204" pitchFamily="34" charset="0"/>
                <a:cs typeface="Arial" panose="020B0604020202020204" pitchFamily="34" charset="0"/>
              </a:rPr>
              <a:t>から</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COPY INTO</a:t>
            </a: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検索：</a:t>
            </a:r>
            <a:r>
              <a:rPr lang="en-US" altLang="ja-JP" sz="1600" dirty="0">
                <a:latin typeface="Arial" panose="020B0604020202020204" pitchFamily="34" charset="0"/>
                <a:cs typeface="Arial" panose="020B0604020202020204" pitchFamily="34" charset="0"/>
              </a:rPr>
              <a:t>T-SQL</a:t>
            </a:r>
            <a:r>
              <a:rPr lang="ja-JP" altLang="en-US" sz="1600" dirty="0">
                <a:latin typeface="Arial" panose="020B0604020202020204" pitchFamily="34" charset="0"/>
                <a:cs typeface="Arial" panose="020B0604020202020204" pitchFamily="34" charset="0"/>
              </a:rPr>
              <a:t>クエリ</a:t>
            </a:r>
            <a:endParaRPr lang="en-US" altLang="ja-JP" sz="1600" dirty="0">
              <a:latin typeface="Arial" panose="020B0604020202020204" pitchFamily="34" charset="0"/>
              <a:cs typeface="Arial" panose="020B0604020202020204" pitchFamily="34" charset="0"/>
            </a:endParaRPr>
          </a:p>
          <a:p>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ベクトル検索、近傍検索：不可</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完全一致、部分一致、前方一致、後方一致、</a:t>
            </a:r>
            <a:r>
              <a:rPr lang="en-US" altLang="ja-JP" sz="1600" dirty="0">
                <a:latin typeface="Arial" panose="020B0604020202020204" pitchFamily="34" charset="0"/>
                <a:cs typeface="Arial" panose="020B0604020202020204" pitchFamily="34" charset="0"/>
              </a:rPr>
              <a:t>Not</a:t>
            </a:r>
            <a:r>
              <a:rPr lang="ja-JP" altLang="en-US" sz="1600" dirty="0">
                <a:latin typeface="Arial" panose="020B0604020202020204" pitchFamily="34" charset="0"/>
                <a:cs typeface="Arial" panose="020B0604020202020204" pitchFamily="34" charset="0"/>
              </a:rPr>
              <a:t>演算子：可</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検索性能：大規模分散式データソースに対するデータ処理を特化した分析システム</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索引管理：カラムを手動で指定する</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価格</a:t>
            </a:r>
            <a:r>
              <a:rPr lang="ja-JP" altLang="en-US" sz="1600" dirty="0">
                <a:latin typeface="Arial" panose="020B0604020202020204" pitchFamily="34" charset="0"/>
                <a:cs typeface="Arial" panose="020B0604020202020204" pitchFamily="34" charset="0"/>
                <a:sym typeface="Wingdings" panose="05000000000000000000" pitchFamily="2" charset="2"/>
              </a:rPr>
              <a:t>：</a:t>
            </a:r>
            <a:r>
              <a:rPr lang="en-US" altLang="ja-JP" sz="1600" dirty="0">
                <a:latin typeface="Arial" panose="020B0604020202020204" pitchFamily="34" charset="0"/>
                <a:cs typeface="Arial" panose="020B0604020202020204" pitchFamily="34" charset="0"/>
                <a:sym typeface="Wingdings" panose="05000000000000000000" pitchFamily="2" charset="2"/>
              </a:rPr>
              <a:t>DW100c</a:t>
            </a:r>
            <a:r>
              <a:rPr lang="ja-JP" altLang="en-US" sz="1600" dirty="0">
                <a:latin typeface="Arial" panose="020B0604020202020204" pitchFamily="34" charset="0"/>
                <a:cs typeface="Arial" panose="020B0604020202020204" pitchFamily="34" charset="0"/>
                <a:sym typeface="Wingdings" panose="05000000000000000000" pitchFamily="2" charset="2"/>
              </a:rPr>
              <a:t>　</a:t>
            </a:r>
            <a:r>
              <a:rPr lang="en-US" altLang="ja-JP" sz="1600" dirty="0">
                <a:latin typeface="Arial" panose="020B0604020202020204" pitchFamily="34" charset="0"/>
                <a:cs typeface="Arial" panose="020B0604020202020204" pitchFamily="34" charset="0"/>
                <a:sym typeface="Wingdings" panose="05000000000000000000" pitchFamily="2" charset="2"/>
              </a:rPr>
              <a:t>¥199,503.086/</a:t>
            </a:r>
            <a:r>
              <a:rPr lang="ja-JP" altLang="en-US" sz="1600" dirty="0">
                <a:latin typeface="Arial" panose="020B0604020202020204" pitchFamily="34" charset="0"/>
                <a:cs typeface="Arial" panose="020B0604020202020204" pitchFamily="34" charset="0"/>
                <a:sym typeface="Wingdings" panose="05000000000000000000" pitchFamily="2" charset="2"/>
              </a:rPr>
              <a:t>月 </a:t>
            </a:r>
            <a:r>
              <a:rPr lang="en-US" altLang="ja-JP" sz="1600" dirty="0">
                <a:latin typeface="Arial" panose="020B0604020202020204" pitchFamily="34" charset="0"/>
                <a:cs typeface="Arial" panose="020B0604020202020204" pitchFamily="34" charset="0"/>
                <a:sym typeface="Wingdings" panose="05000000000000000000" pitchFamily="2" charset="2"/>
              </a:rPr>
              <a:t>- DW200c</a:t>
            </a:r>
            <a:r>
              <a:rPr lang="ja-JP" altLang="en-US" sz="1600" dirty="0">
                <a:latin typeface="Arial" panose="020B0604020202020204" pitchFamily="34" charset="0"/>
                <a:cs typeface="Arial" panose="020B0604020202020204" pitchFamily="34" charset="0"/>
                <a:sym typeface="Wingdings" panose="05000000000000000000" pitchFamily="2" charset="2"/>
              </a:rPr>
              <a:t>　</a:t>
            </a:r>
            <a:r>
              <a:rPr lang="en-US" altLang="ja-JP" sz="1600" dirty="0">
                <a:latin typeface="Arial" panose="020B0604020202020204" pitchFamily="34" charset="0"/>
                <a:cs typeface="Arial" panose="020B0604020202020204" pitchFamily="34" charset="0"/>
                <a:sym typeface="Wingdings" panose="05000000000000000000" pitchFamily="2" charset="2"/>
              </a:rPr>
              <a:t>¥399,006.172/</a:t>
            </a:r>
            <a:r>
              <a:rPr lang="ja-JP" altLang="en-US" sz="1600" dirty="0">
                <a:latin typeface="Arial" panose="020B0604020202020204" pitchFamily="34" charset="0"/>
                <a:cs typeface="Arial" panose="020B0604020202020204" pitchFamily="34" charset="0"/>
                <a:sym typeface="Wingdings" panose="05000000000000000000" pitchFamily="2" charset="2"/>
              </a:rPr>
              <a:t>月 </a:t>
            </a:r>
            <a:endParaRPr lang="zh-CN" alt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66246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F8991-8554-16E2-B25E-64D787AB577A}"/>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CA474CDF-3FD3-5C92-3021-3E8727954049}"/>
              </a:ext>
            </a:extLst>
          </p:cNvPr>
          <p:cNvSpPr txBox="1"/>
          <p:nvPr/>
        </p:nvSpPr>
        <p:spPr>
          <a:xfrm>
            <a:off x="575036" y="707011"/>
            <a:ext cx="10246936" cy="369332"/>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Azure Synapse Analytics</a:t>
            </a:r>
            <a:r>
              <a:rPr lang="ja-JP" altLang="en-US" dirty="0">
                <a:latin typeface="Arial" panose="020B0604020202020204" pitchFamily="34" charset="0"/>
                <a:cs typeface="Arial" panose="020B0604020202020204" pitchFamily="34" charset="0"/>
              </a:rPr>
              <a:t>に対する感想 </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3A487ADB-825B-24F5-50C3-EC7EC4AE91FA}"/>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E3D2129D-CBB4-C6BB-B6D0-573A100D6D69}"/>
              </a:ext>
            </a:extLst>
          </p:cNvPr>
          <p:cNvSpPr txBox="1"/>
          <p:nvPr/>
        </p:nvSpPr>
        <p:spPr>
          <a:xfrm>
            <a:off x="575036" y="1459348"/>
            <a:ext cx="10595728" cy="2062103"/>
          </a:xfrm>
          <a:prstGeom prst="rect">
            <a:avLst/>
          </a:prstGeom>
          <a:noFill/>
        </p:spPr>
        <p:txBody>
          <a:bodyPr wrap="square" rtlCol="0">
            <a:spAutoFit/>
          </a:bodyPr>
          <a:lstStyle/>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Azure Synapse Analytics</a:t>
            </a:r>
            <a:r>
              <a:rPr lang="ja-JP" altLang="en-US" sz="1600" dirty="0">
                <a:latin typeface="Arial" panose="020B0604020202020204" pitchFamily="34" charset="0"/>
                <a:cs typeface="Arial" panose="020B0604020202020204" pitchFamily="34" charset="0"/>
              </a:rPr>
              <a:t>（旧</a:t>
            </a:r>
            <a:r>
              <a:rPr lang="en-US" altLang="ja-JP" sz="1600" dirty="0">
                <a:latin typeface="Arial" panose="020B0604020202020204" pitchFamily="34" charset="0"/>
                <a:cs typeface="Arial" panose="020B0604020202020204" pitchFamily="34" charset="0"/>
              </a:rPr>
              <a:t>Azure Data Warehouse</a:t>
            </a:r>
            <a:r>
              <a:rPr lang="ja-JP" altLang="en-US" sz="1600" dirty="0">
                <a:latin typeface="Arial" panose="020B0604020202020204" pitchFamily="34" charset="0"/>
                <a:cs typeface="Arial" panose="020B0604020202020204" pitchFamily="34" charset="0"/>
              </a:rPr>
              <a:t>）は、その名の通り、</a:t>
            </a:r>
            <a:r>
              <a:rPr lang="en-US" altLang="ja-JP" sz="1600" dirty="0">
                <a:latin typeface="Arial" panose="020B0604020202020204" pitchFamily="34" charset="0"/>
                <a:cs typeface="Arial" panose="020B0604020202020204" pitchFamily="34" charset="0"/>
              </a:rPr>
              <a:t>TB/PB</a:t>
            </a:r>
            <a:r>
              <a:rPr lang="ja-JP" altLang="en-US" sz="1600" dirty="0">
                <a:latin typeface="Arial" panose="020B0604020202020204" pitchFamily="34" charset="0"/>
                <a:cs typeface="Arial" panose="020B0604020202020204" pitchFamily="34" charset="0"/>
              </a:rPr>
              <a:t>レベルの大規模データ分析用の分析基盤（</a:t>
            </a:r>
            <a:r>
              <a:rPr lang="en-US" altLang="ja-JP" sz="1600" dirty="0">
                <a:latin typeface="Arial" panose="020B0604020202020204" pitchFamily="34" charset="0"/>
                <a:cs typeface="Arial" panose="020B0604020202020204" pitchFamily="34" charset="0"/>
              </a:rPr>
              <a:t>OLAP</a:t>
            </a:r>
            <a:r>
              <a:rPr lang="ja-JP" altLang="en-US" sz="1600" dirty="0">
                <a:latin typeface="Arial" panose="020B0604020202020204" pitchFamily="34" charset="0"/>
                <a:cs typeface="Arial" panose="020B0604020202020204" pitchFamily="34" charset="0"/>
              </a:rPr>
              <a:t>）です。</a:t>
            </a:r>
            <a:r>
              <a:rPr lang="en-US" altLang="ja-JP" sz="1600" dirty="0">
                <a:latin typeface="Arial" panose="020B0604020202020204" pitchFamily="34" charset="0"/>
                <a:cs typeface="Arial" panose="020B0604020202020204" pitchFamily="34" charset="0"/>
              </a:rPr>
              <a:t>ETL</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DW</a:t>
            </a:r>
            <a:r>
              <a:rPr lang="ja-JP" altLang="en-US" sz="1600" dirty="0">
                <a:latin typeface="Arial" panose="020B0604020202020204" pitchFamily="34" charset="0"/>
                <a:cs typeface="Arial" panose="020B0604020202020204" pitchFamily="34" charset="0"/>
              </a:rPr>
              <a:t>、データ処理、</a:t>
            </a:r>
            <a:r>
              <a:rPr lang="en-US" altLang="ja-JP" sz="1600" dirty="0">
                <a:latin typeface="Arial" panose="020B0604020202020204" pitchFamily="34" charset="0"/>
                <a:cs typeface="Arial" panose="020B0604020202020204" pitchFamily="34" charset="0"/>
              </a:rPr>
              <a:t>BI</a:t>
            </a:r>
            <a:r>
              <a:rPr lang="ja-JP" altLang="en-US" sz="1600" dirty="0">
                <a:latin typeface="Arial" panose="020B0604020202020204" pitchFamily="34" charset="0"/>
                <a:cs typeface="Arial" panose="020B0604020202020204" pitchFamily="34" charset="0"/>
              </a:rPr>
              <a:t>などの作業に適しています。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zh-C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Cosmos DB</a:t>
            </a:r>
            <a:r>
              <a:rPr lang="ja-JP" altLang="en-US" sz="1600" dirty="0">
                <a:latin typeface="Arial" panose="020B0604020202020204" pitchFamily="34" charset="0"/>
                <a:cs typeface="Arial" panose="020B0604020202020204" pitchFamily="34" charset="0"/>
              </a:rPr>
              <a:t>はトランザクション処理（</a:t>
            </a:r>
            <a:r>
              <a:rPr lang="en-US" altLang="ja-JP" sz="1600" dirty="0">
                <a:latin typeface="Arial" panose="020B0604020202020204" pitchFamily="34" charset="0"/>
                <a:cs typeface="Arial" panose="020B0604020202020204" pitchFamily="34" charset="0"/>
              </a:rPr>
              <a:t>OLTP</a:t>
            </a:r>
            <a:r>
              <a:rPr lang="ja-JP" altLang="en-US" sz="1600" dirty="0">
                <a:latin typeface="Arial" panose="020B0604020202020204" pitchFamily="34" charset="0"/>
                <a:cs typeface="Arial" panose="020B0604020202020204" pitchFamily="34" charset="0"/>
              </a:rPr>
              <a:t>）向けのデータベースであるため、特定の範囲内におけるリアルタイムなデータ登録や検索作業に適しています。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総論としては、 </a:t>
            </a:r>
            <a:r>
              <a:rPr lang="en-US" altLang="ja-JP" sz="1600" dirty="0">
                <a:latin typeface="Arial" panose="020B0604020202020204" pitchFamily="34" charset="0"/>
                <a:cs typeface="Arial" panose="020B0604020202020204" pitchFamily="34" charset="0"/>
              </a:rPr>
              <a:t>Azure Synapse Analytics</a:t>
            </a:r>
            <a:r>
              <a:rPr lang="ja-JP" altLang="en-US" sz="1600" dirty="0">
                <a:latin typeface="Arial" panose="020B0604020202020204" pitchFamily="34" charset="0"/>
                <a:cs typeface="Arial" panose="020B0604020202020204" pitchFamily="34" charset="0"/>
              </a:rPr>
              <a:t>はデータ分析向けの</a:t>
            </a:r>
            <a:r>
              <a:rPr lang="en-US" altLang="ja-JP" sz="1600" dirty="0">
                <a:latin typeface="Arial" panose="020B0604020202020204" pitchFamily="34" charset="0"/>
                <a:cs typeface="Arial" panose="020B0604020202020204" pitchFamily="34" charset="0"/>
              </a:rPr>
              <a:t>Azure</a:t>
            </a:r>
            <a:r>
              <a:rPr lang="ja-JP" altLang="en-US" sz="1600" dirty="0">
                <a:latin typeface="Arial" panose="020B0604020202020204" pitchFamily="34" charset="0"/>
                <a:cs typeface="Arial" panose="020B0604020202020204" pitchFamily="34" charset="0"/>
              </a:rPr>
              <a:t>ツールであり、リアルタイムのベクトル検索や近傍検索には向かないと考えられます。</a:t>
            </a:r>
            <a:endParaRPr lang="en-US" altLang="ja-JP"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90939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8E7C-54F4-58F9-D796-F4117E8EBA19}"/>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4152D51D-CBC8-6C0D-EFA1-7B56D2CD8935}"/>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ベクトル検索、近傍検索と全文データのストレージ</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FBFE9D3-F26E-F0B1-C05F-DB87A7F497E6}"/>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F7256BF6-E8D9-6E15-4AE4-79F2B8298AA8}"/>
              </a:ext>
            </a:extLst>
          </p:cNvPr>
          <p:cNvSpPr txBox="1"/>
          <p:nvPr/>
        </p:nvSpPr>
        <p:spPr>
          <a:xfrm>
            <a:off x="575036" y="1459348"/>
            <a:ext cx="10595728" cy="3293209"/>
          </a:xfrm>
          <a:prstGeom prst="rect">
            <a:avLst/>
          </a:prstGeom>
          <a:noFill/>
        </p:spPr>
        <p:txBody>
          <a:bodyPr wrap="square" rtlCol="0">
            <a:spAutoFit/>
          </a:bodyPr>
          <a:lstStyle/>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調査によると、</a:t>
            </a:r>
            <a:r>
              <a:rPr lang="en-US" altLang="ja-JP" sz="1600" dirty="0">
                <a:latin typeface="Arial" panose="020B0604020202020204" pitchFamily="34" charset="0"/>
                <a:cs typeface="Arial" panose="020B0604020202020204" pitchFamily="34" charset="0"/>
              </a:rPr>
              <a:t>Azure AI Search</a:t>
            </a:r>
            <a:r>
              <a:rPr lang="ja-JP" altLang="en-US" sz="1600" dirty="0">
                <a:latin typeface="Arial" panose="020B0604020202020204" pitchFamily="34" charset="0"/>
                <a:cs typeface="Arial" panose="020B0604020202020204" pitchFamily="34" charset="0"/>
              </a:rPr>
              <a:t>は近傍検索機能が強力であり、ベクトル検索も可能です。近傍検索を実装するために、</a:t>
            </a:r>
            <a:r>
              <a:rPr lang="en-US" altLang="ja-JP" sz="1600" dirty="0">
                <a:latin typeface="Arial" panose="020B0604020202020204" pitchFamily="34" charset="0"/>
                <a:cs typeface="Arial" panose="020B0604020202020204" pitchFamily="34" charset="0"/>
              </a:rPr>
              <a:t>Azure AI Search</a:t>
            </a:r>
            <a:r>
              <a:rPr lang="ja-JP" altLang="en-US" sz="1600" dirty="0">
                <a:latin typeface="Arial" panose="020B0604020202020204" pitchFamily="34" charset="0"/>
                <a:cs typeface="Arial" panose="020B0604020202020204" pitchFamily="34" charset="0"/>
              </a:rPr>
              <a:t>でクエリを実行できるよう、</a:t>
            </a:r>
            <a:r>
              <a:rPr lang="en-US" altLang="ja-JP" sz="1600" dirty="0">
                <a:latin typeface="Arial" panose="020B0604020202020204" pitchFamily="34" charset="0"/>
                <a:cs typeface="Arial" panose="020B0604020202020204" pitchFamily="34" charset="0"/>
              </a:rPr>
              <a:t>Cosmos DB</a:t>
            </a:r>
            <a:r>
              <a:rPr lang="ja-JP" altLang="en-US" sz="1600" dirty="0">
                <a:latin typeface="Arial" panose="020B0604020202020204" pitchFamily="34" charset="0"/>
                <a:cs typeface="Arial" panose="020B0604020202020204" pitchFamily="34" charset="0"/>
              </a:rPr>
              <a:t>から</a:t>
            </a:r>
            <a:r>
              <a:rPr lang="en-US" altLang="ja-JP" sz="1600" dirty="0">
                <a:latin typeface="Arial" panose="020B0604020202020204" pitchFamily="34" charset="0"/>
                <a:cs typeface="Arial" panose="020B0604020202020204" pitchFamily="34" charset="0"/>
              </a:rPr>
              <a:t>AB</a:t>
            </a:r>
            <a:r>
              <a:rPr lang="ja-JP" altLang="en-US" sz="1600" dirty="0">
                <a:latin typeface="Arial" panose="020B0604020202020204" pitchFamily="34" charset="0"/>
                <a:cs typeface="Arial" panose="020B0604020202020204" pitchFamily="34" charset="0"/>
              </a:rPr>
              <a:t>データと</a:t>
            </a:r>
            <a:r>
              <a:rPr lang="en-US" altLang="ja-JP" sz="1600" dirty="0">
                <a:latin typeface="Arial" panose="020B0604020202020204" pitchFamily="34" charset="0"/>
                <a:cs typeface="Arial" panose="020B0604020202020204" pitchFamily="34" charset="0"/>
              </a:rPr>
              <a:t>CL</a:t>
            </a:r>
            <a:r>
              <a:rPr lang="ja-JP" altLang="en-US" sz="1600" dirty="0">
                <a:latin typeface="Arial" panose="020B0604020202020204" pitchFamily="34" charset="0"/>
                <a:cs typeface="Arial" panose="020B0604020202020204" pitchFamily="34" charset="0"/>
              </a:rPr>
              <a:t>データのみのインデックスを作成します。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Azure AI Search</a:t>
            </a:r>
            <a:r>
              <a:rPr lang="ja-JP" altLang="en-US" sz="1600" dirty="0">
                <a:latin typeface="Arial" panose="020B0604020202020204" pitchFamily="34" charset="0"/>
                <a:cs typeface="Arial" panose="020B0604020202020204" pitchFamily="34" charset="0"/>
              </a:rPr>
              <a:t>の価格：</a:t>
            </a:r>
            <a:endParaRPr lang="en-US" altLang="ja-JP" sz="1600" dirty="0">
              <a:latin typeface="Arial" panose="020B0604020202020204" pitchFamily="34" charset="0"/>
              <a:cs typeface="Arial" panose="020B0604020202020204" pitchFamily="34" charset="0"/>
            </a:endParaRP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標準</a:t>
            </a:r>
            <a:r>
              <a:rPr lang="en-US" altLang="ja-JP" sz="1600"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S</a:t>
            </a:r>
            <a:r>
              <a:rPr lang="ja-JP" altLang="en-US" sz="1600" dirty="0">
                <a:latin typeface="Arial" panose="020B0604020202020204" pitchFamily="34" charset="0"/>
                <a:cs typeface="Arial" panose="020B0604020202020204" pitchFamily="34" charset="0"/>
                <a:hlinkClick r:id="rId2">
                  <a:extLst>
                    <a:ext uri="{A12FA001-AC4F-418D-AE19-62706E023703}">
                      <ahyp:hlinkClr xmlns:ahyp="http://schemas.microsoft.com/office/drawing/2018/hyperlinkcolor" val="tx"/>
                    </a:ext>
                  </a:extLst>
                </a:hlinkClick>
              </a:rPr>
              <a:t>１</a:t>
            </a:r>
            <a:r>
              <a:rPr lang="ja-JP" altLang="en-US" sz="1600" dirty="0">
                <a:latin typeface="Arial" panose="020B0604020202020204" pitchFamily="34" charset="0"/>
                <a:cs typeface="Arial" panose="020B0604020202020204" pitchFamily="34" charset="0"/>
              </a:rPr>
              <a:t>の場合：</a:t>
            </a:r>
            <a:r>
              <a:rPr lang="en-US" altLang="ja-JP" sz="1600" dirty="0">
                <a:latin typeface="Arial" panose="020B0604020202020204" pitchFamily="34" charset="0"/>
                <a:cs typeface="Arial" panose="020B0604020202020204" pitchFamily="34" charset="0"/>
              </a:rPr>
              <a:t>¥48,938.88</a:t>
            </a:r>
            <a:r>
              <a:rPr lang="en-US" altLang="zh-CN" sz="1600" dirty="0">
                <a:latin typeface="Arial" panose="020B0604020202020204" pitchFamily="34" charset="0"/>
                <a:cs typeface="Arial" panose="020B0604020202020204" pitchFamily="34" charset="0"/>
              </a:rPr>
              <a:t>/SU</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月 </a:t>
            </a:r>
            <a:r>
              <a:rPr lang="en-US" altLang="ja-JP" sz="1600" dirty="0">
                <a:latin typeface="Arial" panose="020B0604020202020204" pitchFamily="34" charset="0"/>
                <a:cs typeface="Arial" panose="020B0604020202020204" pitchFamily="34" charset="0"/>
              </a:rPr>
              <a:t>- 160 GB/SU</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Service Unit,</a:t>
            </a:r>
            <a:r>
              <a:rPr lang="ja-JP" altLang="en-US" sz="1600" dirty="0">
                <a:latin typeface="Arial" panose="020B0604020202020204" pitchFamily="34" charset="0"/>
                <a:cs typeface="Arial" panose="020B0604020202020204" pitchFamily="34" charset="0"/>
              </a:rPr>
              <a:t> 最大１２ユニット </a:t>
            </a:r>
            <a:r>
              <a:rPr lang="en-US" altLang="ja-JP" sz="1600" dirty="0">
                <a:latin typeface="Arial" panose="020B0604020202020204" pitchFamily="34" charset="0"/>
                <a:cs typeface="Arial" panose="020B0604020202020204" pitchFamily="34" charset="0"/>
              </a:rPr>
              <a:t>= 160*12 = 1.9TB</a:t>
            </a:r>
          </a:p>
          <a:p>
            <a:r>
              <a:rPr lang="en-US" altLang="zh-CN"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標準</a:t>
            </a:r>
            <a:r>
              <a:rPr lang="en-US" altLang="ja-JP" sz="1600" dirty="0">
                <a:latin typeface="Arial" panose="020B0604020202020204" pitchFamily="34" charset="0"/>
                <a:cs typeface="Arial" panose="020B0604020202020204" pitchFamily="34" charset="0"/>
              </a:rPr>
              <a:t>S</a:t>
            </a:r>
            <a:r>
              <a:rPr lang="ja-JP" altLang="en-US" sz="1600" dirty="0">
                <a:latin typeface="Arial" panose="020B0604020202020204" pitchFamily="34" charset="0"/>
                <a:cs typeface="Arial" panose="020B0604020202020204" pitchFamily="34" charset="0"/>
              </a:rPr>
              <a:t>２の場合：</a:t>
            </a:r>
            <a:r>
              <a:rPr lang="en-US" altLang="ja-JP" sz="1600" dirty="0">
                <a:latin typeface="Arial" panose="020B0604020202020204" pitchFamily="34" charset="0"/>
                <a:cs typeface="Arial" panose="020B0604020202020204" pitchFamily="34" charset="0"/>
              </a:rPr>
              <a:t>¥195,535.07</a:t>
            </a:r>
            <a:r>
              <a:rPr lang="en-US" altLang="zh-CN" sz="1600" dirty="0">
                <a:latin typeface="Arial" panose="020B0604020202020204" pitchFamily="34" charset="0"/>
                <a:cs typeface="Arial" panose="020B0604020202020204" pitchFamily="34" charset="0"/>
              </a:rPr>
              <a:t>/SU </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月 </a:t>
            </a:r>
            <a:r>
              <a:rPr lang="en-US" altLang="ja-JP" sz="1600" dirty="0">
                <a:latin typeface="Arial" panose="020B0604020202020204" pitchFamily="34" charset="0"/>
                <a:cs typeface="Arial" panose="020B0604020202020204" pitchFamily="34" charset="0"/>
              </a:rPr>
              <a:t>- 512 GB/SU</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Service Unit,</a:t>
            </a:r>
            <a:r>
              <a:rPr lang="ja-JP" altLang="en-US" sz="1600" dirty="0">
                <a:latin typeface="Arial" panose="020B0604020202020204" pitchFamily="34" charset="0"/>
                <a:cs typeface="Arial" panose="020B0604020202020204" pitchFamily="34" charset="0"/>
              </a:rPr>
              <a:t> 最大１２ユニット </a:t>
            </a:r>
            <a:r>
              <a:rPr lang="en-US" altLang="ja-JP" sz="1600" dirty="0">
                <a:latin typeface="Arial" panose="020B0604020202020204" pitchFamily="34" charset="0"/>
                <a:cs typeface="Arial" panose="020B0604020202020204" pitchFamily="34" charset="0"/>
              </a:rPr>
              <a:t>= 512*12 = 6TB</a:t>
            </a:r>
          </a:p>
          <a:p>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他に、全文データのストレージのために、前述の</a:t>
            </a:r>
            <a:r>
              <a:rPr lang="en-US" altLang="ja-JP" sz="1600" dirty="0">
                <a:latin typeface="Arial" panose="020B0604020202020204" pitchFamily="34" charset="0"/>
                <a:cs typeface="Arial" panose="020B0604020202020204" pitchFamily="34" charset="0"/>
              </a:rPr>
              <a:t>Azure Data Lake Storage</a:t>
            </a:r>
            <a:r>
              <a:rPr lang="ja-JP" altLang="en-US" sz="1600" dirty="0">
                <a:latin typeface="Arial" panose="020B0604020202020204" pitchFamily="34" charset="0"/>
                <a:cs typeface="Arial" panose="020B0604020202020204" pitchFamily="34" charset="0"/>
              </a:rPr>
              <a:t>を活用し、特許データの全文は</a:t>
            </a:r>
            <a:r>
              <a:rPr lang="en-US" altLang="ja-JP" sz="1600" dirty="0">
                <a:latin typeface="Arial" panose="020B0604020202020204" pitchFamily="34" charset="0"/>
                <a:cs typeface="Arial" panose="020B0604020202020204" pitchFamily="34" charset="0"/>
              </a:rPr>
              <a:t>Data Lake Storage</a:t>
            </a:r>
            <a:r>
              <a:rPr lang="ja-JP" altLang="en-US" sz="1600" dirty="0">
                <a:latin typeface="Arial" panose="020B0604020202020204" pitchFamily="34" charset="0"/>
                <a:cs typeface="Arial" panose="020B0604020202020204" pitchFamily="34" charset="0"/>
              </a:rPr>
              <a:t>に保存することで、万が一必要な時に全文</a:t>
            </a:r>
            <a:r>
              <a:rPr lang="en-US" altLang="ja-JP" sz="1600" dirty="0">
                <a:latin typeface="Arial" panose="020B0604020202020204" pitchFamily="34" charset="0"/>
                <a:cs typeface="Arial" panose="020B0604020202020204" pitchFamily="34" charset="0"/>
              </a:rPr>
              <a:t>JSON</a:t>
            </a:r>
            <a:r>
              <a:rPr lang="ja-JP" altLang="en-US" sz="1600" dirty="0">
                <a:latin typeface="Arial" panose="020B0604020202020204" pitchFamily="34" charset="0"/>
                <a:cs typeface="Arial" panose="020B0604020202020204" pitchFamily="34" charset="0"/>
              </a:rPr>
              <a:t>も迅速に検索できそうです。</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以下は</a:t>
            </a:r>
            <a:r>
              <a:rPr lang="en-US" altLang="ja-JP" sz="1600" dirty="0">
                <a:latin typeface="Arial" panose="020B0604020202020204" pitchFamily="34" charset="0"/>
                <a:cs typeface="Arial" panose="020B0604020202020204" pitchFamily="34" charset="0"/>
              </a:rPr>
              <a:t>Ho</a:t>
            </a:r>
            <a:r>
              <a:rPr lang="ja-JP" altLang="en-US" sz="1600" dirty="0">
                <a:latin typeface="Arial" panose="020B0604020202020204" pitchFamily="34" charset="0"/>
                <a:cs typeface="Arial" panose="020B0604020202020204" pitchFamily="34" charset="0"/>
              </a:rPr>
              <a:t>ｔの</a:t>
            </a:r>
            <a:r>
              <a:rPr lang="ja-JP" altLang="en-US" sz="1600" dirty="0">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サンプル</a:t>
            </a:r>
            <a:r>
              <a:rPr lang="ja-JP" altLang="en-US" sz="1600" dirty="0">
                <a:latin typeface="Arial" panose="020B0604020202020204" pitchFamily="34" charset="0"/>
                <a:cs typeface="Arial" panose="020B0604020202020204" pitchFamily="34" charset="0"/>
              </a:rPr>
              <a:t>）</a:t>
            </a:r>
            <a:endParaRPr lang="en-US" altLang="ja-JP" sz="1600"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Data Storage: max 51,200 GB / month - ¥3.020 per GB</a:t>
            </a:r>
          </a:p>
          <a:p>
            <a:r>
              <a:rPr lang="en-US" altLang="ja-JP" sz="1600" dirty="0">
                <a:latin typeface="Arial" panose="020B0604020202020204" pitchFamily="34" charset="0"/>
                <a:cs typeface="Arial" panose="020B0604020202020204" pitchFamily="34" charset="0"/>
              </a:rPr>
              <a:t>	Transaction: Write Operations* (every 4 MB, per 10,000)</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¥9.81435</a:t>
            </a: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Read Operations** (every 4 MB, per 10,000)</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¥0.78515</a:t>
            </a:r>
          </a:p>
          <a:p>
            <a:r>
              <a:rPr lang="en-US" altLang="ja-JP" sz="1600" dirty="0">
                <a:latin typeface="Arial" panose="020B0604020202020204" pitchFamily="34" charset="0"/>
                <a:cs typeface="Arial" panose="020B0604020202020204" pitchFamily="34" charset="0"/>
              </a:rPr>
              <a:t>	</a:t>
            </a:r>
          </a:p>
        </p:txBody>
      </p:sp>
      <p:sp>
        <p:nvSpPr>
          <p:cNvPr id="5" name="矩形 4">
            <a:extLst>
              <a:ext uri="{FF2B5EF4-FFF2-40B4-BE49-F238E27FC236}">
                <a16:creationId xmlns:a16="http://schemas.microsoft.com/office/drawing/2014/main" id="{F097F366-F3C9-BC92-3E0C-23A9F7A36928}"/>
              </a:ext>
            </a:extLst>
          </p:cNvPr>
          <p:cNvSpPr/>
          <p:nvPr/>
        </p:nvSpPr>
        <p:spPr>
          <a:xfrm>
            <a:off x="5344999" y="4752557"/>
            <a:ext cx="1809946" cy="49019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Cosmos DB</a:t>
            </a:r>
          </a:p>
        </p:txBody>
      </p:sp>
      <p:sp>
        <p:nvSpPr>
          <p:cNvPr id="7" name="矩形 6">
            <a:extLst>
              <a:ext uri="{FF2B5EF4-FFF2-40B4-BE49-F238E27FC236}">
                <a16:creationId xmlns:a16="http://schemas.microsoft.com/office/drawing/2014/main" id="{6D293704-5F39-864B-CA0E-28491AA5A4AC}"/>
              </a:ext>
            </a:extLst>
          </p:cNvPr>
          <p:cNvSpPr/>
          <p:nvPr/>
        </p:nvSpPr>
        <p:spPr>
          <a:xfrm>
            <a:off x="5340286" y="5764838"/>
            <a:ext cx="1809946" cy="49019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800" dirty="0">
                <a:solidFill>
                  <a:sysClr val="windowText" lastClr="000000"/>
                </a:solidFill>
                <a:latin typeface="Arial" panose="020B0604020202020204" pitchFamily="34" charset="0"/>
                <a:cs typeface="Arial" panose="020B0604020202020204" pitchFamily="34" charset="0"/>
              </a:rPr>
              <a:t>AI Search</a:t>
            </a:r>
            <a:endParaRPr lang="en-US" altLang="zh-CN" dirty="0">
              <a:solidFill>
                <a:sysClr val="windowText" lastClr="000000"/>
              </a:solidFill>
            </a:endParaRPr>
          </a:p>
        </p:txBody>
      </p:sp>
      <p:cxnSp>
        <p:nvCxnSpPr>
          <p:cNvPr id="9" name="直接箭头连接符 8">
            <a:extLst>
              <a:ext uri="{FF2B5EF4-FFF2-40B4-BE49-F238E27FC236}">
                <a16:creationId xmlns:a16="http://schemas.microsoft.com/office/drawing/2014/main" id="{B536402A-A470-2A4A-E8EC-6F2FB40D4C82}"/>
              </a:ext>
            </a:extLst>
          </p:cNvPr>
          <p:cNvCxnSpPr>
            <a:stCxn id="7" idx="0"/>
            <a:endCxn id="5" idx="2"/>
          </p:cNvCxnSpPr>
          <p:nvPr/>
        </p:nvCxnSpPr>
        <p:spPr>
          <a:xfrm flipV="1">
            <a:off x="6245259" y="5242751"/>
            <a:ext cx="4713" cy="5220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F4B003-4AF8-3F7B-26CB-F2C2FD10BC3A}"/>
              </a:ext>
            </a:extLst>
          </p:cNvPr>
          <p:cNvSpPr txBox="1"/>
          <p:nvPr/>
        </p:nvSpPr>
        <p:spPr>
          <a:xfrm>
            <a:off x="6325385" y="5334517"/>
            <a:ext cx="2031477" cy="338554"/>
          </a:xfrm>
          <a:prstGeom prst="rect">
            <a:avLst/>
          </a:prstGeom>
          <a:noFill/>
        </p:spPr>
        <p:txBody>
          <a:bodyPr wrap="square" rtlCol="0">
            <a:spAutoFit/>
          </a:bodyPr>
          <a:lstStyle/>
          <a:p>
            <a:r>
              <a:rPr lang="ja-JP" altLang="en-US" sz="1600" dirty="0"/>
              <a:t>テキスト索引を作成</a:t>
            </a:r>
            <a:endParaRPr lang="zh-CN" altLang="en-US" sz="1600" dirty="0"/>
          </a:p>
        </p:txBody>
      </p:sp>
      <p:cxnSp>
        <p:nvCxnSpPr>
          <p:cNvPr id="12" name="连接符: 肘形 11">
            <a:extLst>
              <a:ext uri="{FF2B5EF4-FFF2-40B4-BE49-F238E27FC236}">
                <a16:creationId xmlns:a16="http://schemas.microsoft.com/office/drawing/2014/main" id="{650708FF-C951-D4DC-B1DD-D4177F4BBB3B}"/>
              </a:ext>
            </a:extLst>
          </p:cNvPr>
          <p:cNvCxnSpPr>
            <a:cxnSpLocks/>
            <a:endCxn id="7" idx="1"/>
          </p:cNvCxnSpPr>
          <p:nvPr/>
        </p:nvCxnSpPr>
        <p:spPr>
          <a:xfrm>
            <a:off x="2493391" y="5503794"/>
            <a:ext cx="2846895" cy="50614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2DEA0962-BAE4-5540-D7E2-8A9F3E97F99C}"/>
              </a:ext>
            </a:extLst>
          </p:cNvPr>
          <p:cNvCxnSpPr>
            <a:cxnSpLocks/>
            <a:endCxn id="5" idx="1"/>
          </p:cNvCxnSpPr>
          <p:nvPr/>
        </p:nvCxnSpPr>
        <p:spPr>
          <a:xfrm flipV="1">
            <a:off x="2493391" y="4997654"/>
            <a:ext cx="2851608" cy="50614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C7E1C07E-96C6-C369-DDBA-ACF30A2D04A1}"/>
              </a:ext>
            </a:extLst>
          </p:cNvPr>
          <p:cNvSpPr txBox="1"/>
          <p:nvPr/>
        </p:nvSpPr>
        <p:spPr>
          <a:xfrm>
            <a:off x="3916838" y="4698542"/>
            <a:ext cx="1318182" cy="338554"/>
          </a:xfrm>
          <a:prstGeom prst="rect">
            <a:avLst/>
          </a:prstGeom>
          <a:noFill/>
        </p:spPr>
        <p:txBody>
          <a:bodyPr wrap="square" rtlCol="0">
            <a:spAutoFit/>
          </a:bodyPr>
          <a:lstStyle/>
          <a:p>
            <a:r>
              <a:rPr lang="en-US" altLang="ja-JP" sz="1600" dirty="0"/>
              <a:t>Vector Search</a:t>
            </a:r>
            <a:endParaRPr lang="zh-CN" altLang="en-US" sz="1600" dirty="0"/>
          </a:p>
        </p:txBody>
      </p:sp>
      <p:sp>
        <p:nvSpPr>
          <p:cNvPr id="21" name="文本框 20">
            <a:extLst>
              <a:ext uri="{FF2B5EF4-FFF2-40B4-BE49-F238E27FC236}">
                <a16:creationId xmlns:a16="http://schemas.microsoft.com/office/drawing/2014/main" id="{A0015C62-FECA-6B55-CF72-F185AECE9DBF}"/>
              </a:ext>
            </a:extLst>
          </p:cNvPr>
          <p:cNvSpPr txBox="1"/>
          <p:nvPr/>
        </p:nvSpPr>
        <p:spPr>
          <a:xfrm>
            <a:off x="4017391" y="6008245"/>
            <a:ext cx="1318182" cy="338554"/>
          </a:xfrm>
          <a:prstGeom prst="rect">
            <a:avLst/>
          </a:prstGeom>
          <a:noFill/>
        </p:spPr>
        <p:txBody>
          <a:bodyPr wrap="square" rtlCol="0">
            <a:spAutoFit/>
          </a:bodyPr>
          <a:lstStyle/>
          <a:p>
            <a:r>
              <a:rPr lang="en-US" altLang="ja-JP" sz="1600" dirty="0"/>
              <a:t>Text Search</a:t>
            </a:r>
            <a:endParaRPr lang="zh-CN" altLang="en-US" sz="1600" dirty="0"/>
          </a:p>
        </p:txBody>
      </p:sp>
    </p:spTree>
    <p:extLst>
      <p:ext uri="{BB962C8B-B14F-4D97-AF65-F5344CB8AC3E}">
        <p14:creationId xmlns:p14="http://schemas.microsoft.com/office/powerpoint/2010/main" val="2555319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B44-32B7-3A8E-D287-E49F6204BB8F}"/>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001D84E6-A5BF-32B1-985B-B6CFA6087F51}"/>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特許版</a:t>
            </a:r>
            <a:r>
              <a:rPr lang="en-US" altLang="ja-JP" dirty="0">
                <a:latin typeface="Arial" panose="020B0604020202020204" pitchFamily="34" charset="0"/>
                <a:cs typeface="Arial" panose="020B0604020202020204" pitchFamily="34" charset="0"/>
              </a:rPr>
              <a:t>BERT</a:t>
            </a:r>
            <a:r>
              <a:rPr lang="ja-JP" altLang="en-US" dirty="0">
                <a:latin typeface="Arial" panose="020B0604020202020204" pitchFamily="34" charset="0"/>
                <a:cs typeface="Arial" panose="020B0604020202020204" pitchFamily="34" charset="0"/>
              </a:rPr>
              <a:t>モデルの前提確認</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D9E525E-53C8-6C53-76E7-0CE4CBACD513}"/>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595801A-49C9-2DD6-77DA-3B3CE8E2BE00}"/>
              </a:ext>
            </a:extLst>
          </p:cNvPr>
          <p:cNvSpPr txBox="1"/>
          <p:nvPr/>
        </p:nvSpPr>
        <p:spPr>
          <a:xfrm>
            <a:off x="575036" y="1459348"/>
            <a:ext cx="10595728" cy="2062103"/>
          </a:xfrm>
          <a:prstGeom prst="rect">
            <a:avLst/>
          </a:prstGeom>
          <a:noFill/>
        </p:spPr>
        <p:txBody>
          <a:bodyPr wrap="square" rtlCol="0">
            <a:spAutoFit/>
          </a:bodyPr>
          <a:lstStyle/>
          <a:p>
            <a:r>
              <a:rPr lang="en-US" altLang="ja-JP" sz="1600" dirty="0">
                <a:latin typeface="Arial" panose="020B0604020202020204" pitchFamily="34" charset="0"/>
                <a:cs typeface="Arial" panose="020B0604020202020204" pitchFamily="34" charset="0"/>
              </a:rPr>
              <a:t>End</a:t>
            </a:r>
            <a:r>
              <a:rPr lang="ja-JP" altLang="en-US" sz="1600" dirty="0">
                <a:latin typeface="Arial" panose="020B0604020202020204" pitchFamily="34" charset="0"/>
                <a:cs typeface="Arial" panose="020B0604020202020204" pitchFamily="34" charset="0"/>
              </a:rPr>
              <a:t> </a:t>
            </a:r>
            <a:r>
              <a:rPr lang="en-US" altLang="ja-JP" sz="1600" dirty="0">
                <a:latin typeface="Arial" panose="020B0604020202020204" pitchFamily="34" charset="0"/>
                <a:cs typeface="Arial" panose="020B0604020202020204" pitchFamily="34" charset="0"/>
              </a:rPr>
              <a:t>User</a:t>
            </a:r>
            <a:r>
              <a:rPr lang="ja-JP" altLang="en-US" sz="1600" dirty="0">
                <a:latin typeface="Arial" panose="020B0604020202020204" pitchFamily="34" charset="0"/>
                <a:cs typeface="Arial" panose="020B0604020202020204" pitchFamily="34" charset="0"/>
              </a:rPr>
              <a:t>が言及した特許版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モデルは通常の</a:t>
            </a:r>
            <a:r>
              <a:rPr lang="en-US" altLang="ja-JP" sz="1600" dirty="0">
                <a:latin typeface="Arial" panose="020B0604020202020204" pitchFamily="34" charset="0"/>
                <a:cs typeface="Arial" panose="020B0604020202020204" pitchFamily="34" charset="0"/>
              </a:rPr>
              <a:t>Google</a:t>
            </a:r>
            <a:r>
              <a:rPr lang="ja-JP" altLang="en-US" sz="1600" dirty="0">
                <a:latin typeface="Arial" panose="020B0604020202020204" pitchFamily="34" charset="0"/>
                <a:cs typeface="Arial" panose="020B0604020202020204" pitchFamily="34" charset="0"/>
              </a:rPr>
              <a:t>の</a:t>
            </a:r>
            <a:r>
              <a:rPr lang="en-US" altLang="ja-JP" sz="1600" dirty="0">
                <a:latin typeface="Arial" panose="020B0604020202020204" pitchFamily="34" charset="0"/>
                <a:cs typeface="Arial" panose="020B0604020202020204" pitchFamily="34" charset="0"/>
              </a:rPr>
              <a:t>Bert-For-Patents</a:t>
            </a:r>
            <a:r>
              <a:rPr lang="ja-JP" altLang="en-US" sz="1600" dirty="0">
                <a:latin typeface="Arial" panose="020B0604020202020204" pitchFamily="34" charset="0"/>
                <a:cs typeface="Arial" panose="020B0604020202020204" pitchFamily="34" charset="0"/>
              </a:rPr>
              <a:t>ではないことが分かりましたが、特許版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モデルの詳細情報はまだ不明なので、以下の仮設を踏まえて特許版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モデルのデプロイについて調査します。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モデルの基本仮設：</a:t>
            </a:r>
            <a:endParaRPr lang="en-US" altLang="ja-JP" sz="1600"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モデルが訓練済みであり、</a:t>
            </a:r>
            <a:r>
              <a:rPr lang="en-US" altLang="ja-JP" sz="1600" dirty="0">
                <a:latin typeface="Arial" panose="020B0604020202020204" pitchFamily="34" charset="0"/>
                <a:cs typeface="Arial" panose="020B0604020202020204" pitchFamily="34" charset="0"/>
              </a:rPr>
              <a:t>Docker</a:t>
            </a:r>
            <a:r>
              <a:rPr lang="ja-JP" altLang="en-US" sz="1600" dirty="0">
                <a:latin typeface="Arial" panose="020B0604020202020204" pitchFamily="34" charset="0"/>
                <a:cs typeface="Arial" panose="020B0604020202020204" pitchFamily="34" charset="0"/>
              </a:rPr>
              <a:t>などのスタックでカプセル化されたパッケージである</a:t>
            </a:r>
            <a:endParaRPr lang="en-US" altLang="ja-JP" sz="1600" dirty="0">
              <a:latin typeface="Arial" panose="020B0604020202020204" pitchFamily="34" charset="0"/>
              <a:cs typeface="Arial" panose="020B0604020202020204" pitchFamily="34" charset="0"/>
            </a:endParaRPr>
          </a:p>
          <a:p>
            <a:r>
              <a:rPr lang="en-US" altLang="ja-JP" sz="1600" dirty="0">
                <a:latin typeface="Arial" panose="020B0604020202020204" pitchFamily="34" charset="0"/>
                <a:cs typeface="Arial" panose="020B0604020202020204" pitchFamily="34" charset="0"/>
              </a:rPr>
              <a:t>	</a:t>
            </a:r>
            <a:r>
              <a:rPr lang="ja-JP" altLang="en-US" sz="1600" dirty="0">
                <a:latin typeface="Arial" panose="020B0604020202020204" pitchFamily="34" charset="0"/>
                <a:cs typeface="Arial" panose="020B0604020202020204" pitchFamily="34" charset="0"/>
              </a:rPr>
              <a:t>モデルが</a:t>
            </a:r>
            <a:r>
              <a:rPr lang="en-US" altLang="ja-JP" sz="1600" dirty="0">
                <a:latin typeface="Arial" panose="020B0604020202020204" pitchFamily="34" charset="0"/>
                <a:cs typeface="Arial" panose="020B0604020202020204" pitchFamily="34" charset="0"/>
              </a:rPr>
              <a:t>API</a:t>
            </a:r>
            <a:r>
              <a:rPr lang="ja-JP" altLang="en-US" sz="1600" dirty="0">
                <a:latin typeface="Arial" panose="020B0604020202020204" pitchFamily="34" charset="0"/>
                <a:cs typeface="Arial" panose="020B0604020202020204" pitchFamily="34" charset="0"/>
              </a:rPr>
              <a:t>により呼び出され、</a:t>
            </a:r>
            <a:r>
              <a:rPr lang="en-US" altLang="ja-JP" sz="1600" dirty="0">
                <a:latin typeface="Arial" panose="020B0604020202020204" pitchFamily="34" charset="0"/>
                <a:cs typeface="Arial" panose="020B0604020202020204" pitchFamily="34" charset="0"/>
              </a:rPr>
              <a:t>Abstract</a:t>
            </a:r>
            <a:r>
              <a:rPr lang="ja-JP" altLang="en-US" sz="1600" dirty="0">
                <a:latin typeface="Arial" panose="020B0604020202020204" pitchFamily="34" charset="0"/>
                <a:cs typeface="Arial" panose="020B0604020202020204" pitchFamily="34" charset="0"/>
              </a:rPr>
              <a:t>などのテキストを渡し、予測</a:t>
            </a:r>
            <a:r>
              <a:rPr lang="en-US" altLang="ja-JP" sz="1600" dirty="0">
                <a:latin typeface="Arial" panose="020B0604020202020204" pitchFamily="34" charset="0"/>
                <a:cs typeface="Arial" panose="020B0604020202020204" pitchFamily="34" charset="0"/>
              </a:rPr>
              <a:t>IPC</a:t>
            </a:r>
            <a:r>
              <a:rPr lang="ja-JP" altLang="en-US" sz="1600" dirty="0">
                <a:latin typeface="Arial" panose="020B0604020202020204" pitchFamily="34" charset="0"/>
                <a:cs typeface="Arial" panose="020B0604020202020204" pitchFamily="34" charset="0"/>
              </a:rPr>
              <a:t>コードを返す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Bert-For-Patents</a:t>
            </a:r>
            <a:r>
              <a:rPr lang="ja-JP" altLang="en-US" sz="1600" dirty="0">
                <a:latin typeface="Arial" panose="020B0604020202020204" pitchFamily="34" charset="0"/>
                <a:cs typeface="Arial" panose="020B0604020202020204" pitchFamily="34" charset="0"/>
              </a:rPr>
              <a:t>モデルを参考して特許版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モデルのハードウェア需要：</a:t>
            </a:r>
            <a:endParaRPr lang="en-US" altLang="ja-JP" sz="1600" dirty="0">
              <a:latin typeface="Arial" panose="020B0604020202020204" pitchFamily="34" charset="0"/>
              <a:cs typeface="Arial" panose="020B0604020202020204" pitchFamily="34" charset="0"/>
            </a:endParaRPr>
          </a:p>
        </p:txBody>
      </p:sp>
      <p:graphicFrame>
        <p:nvGraphicFramePr>
          <p:cNvPr id="3" name="表格 2">
            <a:extLst>
              <a:ext uri="{FF2B5EF4-FFF2-40B4-BE49-F238E27FC236}">
                <a16:creationId xmlns:a16="http://schemas.microsoft.com/office/drawing/2014/main" id="{CDCEF8DA-1CA6-B6B1-3DD3-E7FB324ABCDE}"/>
              </a:ext>
            </a:extLst>
          </p:cNvPr>
          <p:cNvGraphicFramePr>
            <a:graphicFrameLocks noGrp="1"/>
          </p:cNvGraphicFramePr>
          <p:nvPr>
            <p:extLst>
              <p:ext uri="{D42A27DB-BD31-4B8C-83A1-F6EECF244321}">
                <p14:modId xmlns:p14="http://schemas.microsoft.com/office/powerpoint/2010/main" val="2659956083"/>
              </p:ext>
            </p:extLst>
          </p:nvPr>
        </p:nvGraphicFramePr>
        <p:xfrm>
          <a:off x="1808900" y="3698752"/>
          <a:ext cx="8127999" cy="2771152"/>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946641988"/>
                    </a:ext>
                  </a:extLst>
                </a:gridCol>
                <a:gridCol w="2709333">
                  <a:extLst>
                    <a:ext uri="{9D8B030D-6E8A-4147-A177-3AD203B41FA5}">
                      <a16:colId xmlns:a16="http://schemas.microsoft.com/office/drawing/2014/main" val="843880977"/>
                    </a:ext>
                  </a:extLst>
                </a:gridCol>
                <a:gridCol w="2709333">
                  <a:extLst>
                    <a:ext uri="{9D8B030D-6E8A-4147-A177-3AD203B41FA5}">
                      <a16:colId xmlns:a16="http://schemas.microsoft.com/office/drawing/2014/main" val="1402595544"/>
                    </a:ext>
                  </a:extLst>
                </a:gridCol>
              </a:tblGrid>
              <a:tr h="384178">
                <a:tc>
                  <a:txBody>
                    <a:bodyPr/>
                    <a:lstStyle/>
                    <a:p>
                      <a:pPr algn="ctr"/>
                      <a:r>
                        <a:rPr lang="en-US" altLang="ja-JP" dirty="0"/>
                        <a:t>Spec</a:t>
                      </a:r>
                      <a:endParaRPr lang="zh-CN" altLang="en-US" dirty="0"/>
                    </a:p>
                  </a:txBody>
                  <a:tcPr/>
                </a:tc>
                <a:tc>
                  <a:txBody>
                    <a:bodyPr/>
                    <a:lstStyle/>
                    <a:p>
                      <a:pPr algn="ctr"/>
                      <a:r>
                        <a:rPr lang="ja-JP" altLang="en-US" dirty="0"/>
                        <a:t>最低</a:t>
                      </a:r>
                      <a:endParaRPr lang="zh-CN" altLang="en-US" dirty="0"/>
                    </a:p>
                  </a:txBody>
                  <a:tcPr/>
                </a:tc>
                <a:tc>
                  <a:txBody>
                    <a:bodyPr/>
                    <a:lstStyle/>
                    <a:p>
                      <a:pPr algn="ctr"/>
                      <a:r>
                        <a:rPr lang="ja-JP" altLang="en-US" dirty="0"/>
                        <a:t>平均</a:t>
                      </a:r>
                      <a:endParaRPr lang="zh-CN" altLang="en-US" dirty="0"/>
                    </a:p>
                  </a:txBody>
                  <a:tcPr/>
                </a:tc>
                <a:extLst>
                  <a:ext uri="{0D108BD9-81ED-4DB2-BD59-A6C34878D82A}">
                    <a16:rowId xmlns:a16="http://schemas.microsoft.com/office/drawing/2014/main" val="836381954"/>
                  </a:ext>
                </a:extLst>
              </a:tr>
              <a:tr h="384178">
                <a:tc>
                  <a:txBody>
                    <a:bodyPr/>
                    <a:lstStyle/>
                    <a:p>
                      <a:r>
                        <a:rPr lang="en-US" altLang="zh-CN" dirty="0"/>
                        <a:t>CPU core</a:t>
                      </a:r>
                      <a:r>
                        <a:rPr lang="ja-JP" altLang="en-US" dirty="0"/>
                        <a:t>数</a:t>
                      </a:r>
                      <a:endParaRPr lang="zh-CN" altLang="en-US" dirty="0"/>
                    </a:p>
                  </a:txBody>
                  <a:tcPr anchor="ctr"/>
                </a:tc>
                <a:tc>
                  <a:txBody>
                    <a:bodyPr/>
                    <a:lstStyle/>
                    <a:p>
                      <a:r>
                        <a:rPr lang="en-US" altLang="zh-CN" dirty="0"/>
                        <a:t>2-4</a:t>
                      </a:r>
                      <a:endParaRPr lang="zh-CN" altLang="en-US" dirty="0"/>
                    </a:p>
                  </a:txBody>
                  <a:tcPr/>
                </a:tc>
                <a:tc>
                  <a:txBody>
                    <a:bodyPr/>
                    <a:lstStyle/>
                    <a:p>
                      <a:r>
                        <a:rPr lang="en-US" altLang="zh-CN" dirty="0"/>
                        <a:t>4-8</a:t>
                      </a:r>
                      <a:endParaRPr lang="zh-CN" altLang="en-US" dirty="0"/>
                    </a:p>
                  </a:txBody>
                  <a:tcPr/>
                </a:tc>
                <a:extLst>
                  <a:ext uri="{0D108BD9-81ED-4DB2-BD59-A6C34878D82A}">
                    <a16:rowId xmlns:a16="http://schemas.microsoft.com/office/drawing/2014/main" val="2193355873"/>
                  </a:ext>
                </a:extLst>
              </a:tr>
              <a:tr h="384178">
                <a:tc>
                  <a:txBody>
                    <a:bodyPr/>
                    <a:lstStyle/>
                    <a:p>
                      <a:r>
                        <a:rPr lang="en-US" altLang="zh-CN" dirty="0"/>
                        <a:t>GPU</a:t>
                      </a:r>
                      <a:r>
                        <a:rPr lang="ja-JP" altLang="en-US" dirty="0"/>
                        <a:t> </a:t>
                      </a:r>
                      <a:r>
                        <a:rPr lang="en-US" altLang="ja-JP" dirty="0"/>
                        <a:t>VRAM</a:t>
                      </a:r>
                      <a:endParaRPr lang="zh-CN" altLang="en-US" dirty="0"/>
                    </a:p>
                  </a:txBody>
                  <a:tcPr anchor="ctr"/>
                </a:tc>
                <a:tc>
                  <a:txBody>
                    <a:bodyPr/>
                    <a:lstStyle/>
                    <a:p>
                      <a:r>
                        <a:rPr lang="en-US" altLang="zh-CN" dirty="0"/>
                        <a:t>8G</a:t>
                      </a:r>
                      <a:endParaRPr lang="zh-CN" altLang="en-US" dirty="0"/>
                    </a:p>
                  </a:txBody>
                  <a:tcPr/>
                </a:tc>
                <a:tc>
                  <a:txBody>
                    <a:bodyPr/>
                    <a:lstStyle/>
                    <a:p>
                      <a:r>
                        <a:rPr lang="en-US" altLang="zh-CN" dirty="0"/>
                        <a:t>12-16G</a:t>
                      </a:r>
                      <a:endParaRPr lang="zh-CN" altLang="en-US" dirty="0"/>
                    </a:p>
                  </a:txBody>
                  <a:tcPr/>
                </a:tc>
                <a:extLst>
                  <a:ext uri="{0D108BD9-81ED-4DB2-BD59-A6C34878D82A}">
                    <a16:rowId xmlns:a16="http://schemas.microsoft.com/office/drawing/2014/main" val="3729384620"/>
                  </a:ext>
                </a:extLst>
              </a:tr>
              <a:tr h="384178">
                <a:tc>
                  <a:txBody>
                    <a:bodyPr/>
                    <a:lstStyle/>
                    <a:p>
                      <a:r>
                        <a:rPr lang="ja-JP" altLang="en-US" dirty="0"/>
                        <a:t>メモリ </a:t>
                      </a:r>
                      <a:r>
                        <a:rPr lang="en-US" altLang="ja-JP" dirty="0"/>
                        <a:t>RAM</a:t>
                      </a:r>
                      <a:endParaRPr lang="zh-CN" altLang="en-US" dirty="0"/>
                    </a:p>
                  </a:txBody>
                  <a:tcPr anchor="ctr"/>
                </a:tc>
                <a:tc>
                  <a:txBody>
                    <a:bodyPr/>
                    <a:lstStyle/>
                    <a:p>
                      <a:r>
                        <a:rPr lang="en-US" altLang="zh-CN" dirty="0"/>
                        <a:t>12-16G</a:t>
                      </a:r>
                      <a:endParaRPr lang="zh-CN" altLang="en-US" dirty="0"/>
                    </a:p>
                  </a:txBody>
                  <a:tcPr/>
                </a:tc>
                <a:tc>
                  <a:txBody>
                    <a:bodyPr/>
                    <a:lstStyle/>
                    <a:p>
                      <a:r>
                        <a:rPr lang="en-US" altLang="zh-CN" dirty="0"/>
                        <a:t>16-32G</a:t>
                      </a:r>
                      <a:endParaRPr lang="zh-CN" altLang="en-US" dirty="0"/>
                    </a:p>
                  </a:txBody>
                  <a:tcPr/>
                </a:tc>
                <a:extLst>
                  <a:ext uri="{0D108BD9-81ED-4DB2-BD59-A6C34878D82A}">
                    <a16:rowId xmlns:a16="http://schemas.microsoft.com/office/drawing/2014/main" val="3592656556"/>
                  </a:ext>
                </a:extLst>
              </a:tr>
              <a:tr h="384178">
                <a:tc>
                  <a:txBody>
                    <a:bodyPr/>
                    <a:lstStyle/>
                    <a:p>
                      <a:r>
                        <a:rPr lang="ja-JP" altLang="en-US" dirty="0"/>
                        <a:t>コメント</a:t>
                      </a:r>
                      <a:endParaRPr lang="zh-CN" altLang="en-US" dirty="0"/>
                    </a:p>
                  </a:txBody>
                  <a:tcPr anchor="ctr"/>
                </a:tc>
                <a:tc>
                  <a:txBody>
                    <a:bodyPr/>
                    <a:lstStyle/>
                    <a:p>
                      <a:r>
                        <a:rPr lang="ja-JP" altLang="en-US" sz="1500" dirty="0"/>
                        <a:t>同時実行性の低いシナリオ、低レイテンシ要件に適しています。大規模なバッチや長いテキストではパフォーマンスが低下する可能性があります。</a:t>
                      </a:r>
                      <a:endParaRPr lang="zh-CN" altLang="en-US" sz="1500" dirty="0"/>
                    </a:p>
                  </a:txBody>
                  <a:tcPr/>
                </a:tc>
                <a:tc>
                  <a:txBody>
                    <a:bodyPr/>
                    <a:lstStyle/>
                    <a:p>
                      <a:r>
                        <a:rPr lang="ja-JP" altLang="en-US" sz="1500" dirty="0"/>
                        <a:t>レイテンシにある程度要求される且つ同時実行シナリオに適しています。一般的な特許要約の長さとバッチサイズを適切に処理できます。</a:t>
                      </a:r>
                      <a:endParaRPr lang="zh-CN" altLang="en-US" sz="1500" dirty="0"/>
                    </a:p>
                  </a:txBody>
                  <a:tcPr/>
                </a:tc>
                <a:extLst>
                  <a:ext uri="{0D108BD9-81ED-4DB2-BD59-A6C34878D82A}">
                    <a16:rowId xmlns:a16="http://schemas.microsoft.com/office/drawing/2014/main" val="3165910824"/>
                  </a:ext>
                </a:extLst>
              </a:tr>
            </a:tbl>
          </a:graphicData>
        </a:graphic>
      </p:graphicFrame>
    </p:spTree>
    <p:extLst>
      <p:ext uri="{BB962C8B-B14F-4D97-AF65-F5344CB8AC3E}">
        <p14:creationId xmlns:p14="http://schemas.microsoft.com/office/powerpoint/2010/main" val="11538059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17D35-E2F6-3EA6-6FF4-9259784D854B}"/>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7E28F0EB-D16A-75CE-8F5B-BAF43295EAE8}"/>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特許版</a:t>
            </a:r>
            <a:r>
              <a:rPr lang="en-US" altLang="ja-JP" dirty="0">
                <a:latin typeface="Arial" panose="020B0604020202020204" pitchFamily="34" charset="0"/>
                <a:cs typeface="Arial" panose="020B0604020202020204" pitchFamily="34" charset="0"/>
              </a:rPr>
              <a:t>BERT</a:t>
            </a:r>
            <a:r>
              <a:rPr lang="ja-JP" altLang="en-US" dirty="0">
                <a:latin typeface="Arial" panose="020B0604020202020204" pitchFamily="34" charset="0"/>
                <a:cs typeface="Arial" panose="020B0604020202020204" pitchFamily="34" charset="0"/>
              </a:rPr>
              <a:t>モデルのデプロイ・運用手間</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E125C50D-D9CF-F485-B3A3-140F26CB36E5}"/>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A0DDA2CD-C32B-2036-2F79-E9CD44328AA8}"/>
              </a:ext>
            </a:extLst>
          </p:cNvPr>
          <p:cNvSpPr txBox="1"/>
          <p:nvPr/>
        </p:nvSpPr>
        <p:spPr>
          <a:xfrm>
            <a:off x="575036" y="1459348"/>
            <a:ext cx="10595728" cy="338554"/>
          </a:xfrm>
          <a:prstGeom prst="rect">
            <a:avLst/>
          </a:prstGeom>
          <a:noFill/>
        </p:spPr>
        <p:txBody>
          <a:bodyPr wrap="square" rtlCol="0">
            <a:spAutoFit/>
          </a:bodyPr>
          <a:lstStyle/>
          <a:p>
            <a:r>
              <a:rPr lang="ja-JP" altLang="en-US" sz="1600" dirty="0">
                <a:latin typeface="Arial" panose="020B0604020202020204" pitchFamily="34" charset="0"/>
                <a:cs typeface="Arial" panose="020B0604020202020204" pitchFamily="34" charset="0"/>
              </a:rPr>
              <a:t>前述した特許版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モデルのデプロイ・運用手間は以下のように参考されます。</a:t>
            </a:r>
            <a:endParaRPr lang="en-US" altLang="ja-JP" sz="1600" dirty="0">
              <a:latin typeface="Arial" panose="020B0604020202020204" pitchFamily="34" charset="0"/>
              <a:cs typeface="Arial" panose="020B0604020202020204" pitchFamily="34" charset="0"/>
            </a:endParaRPr>
          </a:p>
        </p:txBody>
      </p:sp>
      <p:graphicFrame>
        <p:nvGraphicFramePr>
          <p:cNvPr id="8" name="图示 7">
            <a:extLst>
              <a:ext uri="{FF2B5EF4-FFF2-40B4-BE49-F238E27FC236}">
                <a16:creationId xmlns:a16="http://schemas.microsoft.com/office/drawing/2014/main" id="{435C5D70-06AC-0E2A-E07F-34F62017BA1E}"/>
              </a:ext>
            </a:extLst>
          </p:cNvPr>
          <p:cNvGraphicFramePr/>
          <p:nvPr>
            <p:extLst>
              <p:ext uri="{D42A27DB-BD31-4B8C-83A1-F6EECF244321}">
                <p14:modId xmlns:p14="http://schemas.microsoft.com/office/powerpoint/2010/main" val="2562993902"/>
              </p:ext>
            </p:extLst>
          </p:nvPr>
        </p:nvGraphicFramePr>
        <p:xfrm>
          <a:off x="1112887" y="2469822"/>
          <a:ext cx="4679884" cy="38646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矩形 8">
            <a:extLst>
              <a:ext uri="{FF2B5EF4-FFF2-40B4-BE49-F238E27FC236}">
                <a16:creationId xmlns:a16="http://schemas.microsoft.com/office/drawing/2014/main" id="{F5C10F7D-D70C-AEEE-B8A3-67CB8870326F}"/>
              </a:ext>
            </a:extLst>
          </p:cNvPr>
          <p:cNvSpPr/>
          <p:nvPr/>
        </p:nvSpPr>
        <p:spPr>
          <a:xfrm>
            <a:off x="2005814" y="2041191"/>
            <a:ext cx="2894029" cy="33855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ysClr val="windowText" lastClr="000000"/>
                </a:solidFill>
              </a:rPr>
              <a:t>デプロイ</a:t>
            </a:r>
            <a:endParaRPr lang="zh-CN" altLang="en-US" dirty="0">
              <a:solidFill>
                <a:sysClr val="windowText" lastClr="000000"/>
              </a:solidFill>
            </a:endParaRPr>
          </a:p>
        </p:txBody>
      </p:sp>
      <p:graphicFrame>
        <p:nvGraphicFramePr>
          <p:cNvPr id="10" name="图示 9">
            <a:extLst>
              <a:ext uri="{FF2B5EF4-FFF2-40B4-BE49-F238E27FC236}">
                <a16:creationId xmlns:a16="http://schemas.microsoft.com/office/drawing/2014/main" id="{4811E8FD-7B6D-6BDF-FCBF-AEE634F7890C}"/>
              </a:ext>
            </a:extLst>
          </p:cNvPr>
          <p:cNvGraphicFramePr/>
          <p:nvPr>
            <p:extLst>
              <p:ext uri="{D42A27DB-BD31-4B8C-83A1-F6EECF244321}">
                <p14:modId xmlns:p14="http://schemas.microsoft.com/office/powerpoint/2010/main" val="1695000118"/>
              </p:ext>
            </p:extLst>
          </p:nvPr>
        </p:nvGraphicFramePr>
        <p:xfrm>
          <a:off x="6299199" y="2469821"/>
          <a:ext cx="4679884" cy="386466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1" name="矩形 10">
            <a:extLst>
              <a:ext uri="{FF2B5EF4-FFF2-40B4-BE49-F238E27FC236}">
                <a16:creationId xmlns:a16="http://schemas.microsoft.com/office/drawing/2014/main" id="{9D91A385-8317-1B4C-E16A-8B2383E039CD}"/>
              </a:ext>
            </a:extLst>
          </p:cNvPr>
          <p:cNvSpPr/>
          <p:nvPr/>
        </p:nvSpPr>
        <p:spPr>
          <a:xfrm>
            <a:off x="7192127" y="2036766"/>
            <a:ext cx="2894029" cy="338554"/>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ysClr val="windowText" lastClr="000000"/>
                </a:solidFill>
              </a:rPr>
              <a:t>運用</a:t>
            </a:r>
            <a:endParaRPr lang="zh-CN" altLang="en-US" dirty="0">
              <a:solidFill>
                <a:sysClr val="windowText" lastClr="000000"/>
              </a:solidFill>
            </a:endParaRPr>
          </a:p>
        </p:txBody>
      </p:sp>
    </p:spTree>
    <p:extLst>
      <p:ext uri="{BB962C8B-B14F-4D97-AF65-F5344CB8AC3E}">
        <p14:creationId xmlns:p14="http://schemas.microsoft.com/office/powerpoint/2010/main" val="666946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F338D-45B5-765A-F0F3-5E541CBB3FB2}"/>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87411DD6-16E4-E544-F06B-2ABA6C5F25B1}"/>
              </a:ext>
            </a:extLst>
          </p:cNvPr>
          <p:cNvSpPr txBox="1"/>
          <p:nvPr/>
        </p:nvSpPr>
        <p:spPr>
          <a:xfrm>
            <a:off x="575036" y="707011"/>
            <a:ext cx="10246936" cy="369332"/>
          </a:xfrm>
          <a:prstGeom prst="rect">
            <a:avLst/>
          </a:prstGeom>
          <a:noFill/>
        </p:spPr>
        <p:txBody>
          <a:bodyPr wrap="square" rtlCol="0">
            <a:spAutoFit/>
          </a:bodyPr>
          <a:lstStyle/>
          <a:p>
            <a:r>
              <a:rPr lang="ja-JP" altLang="en-US" dirty="0">
                <a:latin typeface="Arial" panose="020B0604020202020204" pitchFamily="34" charset="0"/>
                <a:cs typeface="Arial" panose="020B0604020202020204" pitchFamily="34" charset="0"/>
              </a:rPr>
              <a:t>特許版</a:t>
            </a:r>
            <a:r>
              <a:rPr lang="en-US" altLang="ja-JP" dirty="0">
                <a:latin typeface="Arial" panose="020B0604020202020204" pitchFamily="34" charset="0"/>
                <a:cs typeface="Arial" panose="020B0604020202020204" pitchFamily="34" charset="0"/>
              </a:rPr>
              <a:t>BERT</a:t>
            </a:r>
            <a:r>
              <a:rPr lang="ja-JP" altLang="en-US" dirty="0">
                <a:latin typeface="Arial" panose="020B0604020202020204" pitchFamily="34" charset="0"/>
                <a:cs typeface="Arial" panose="020B0604020202020204" pitchFamily="34" charset="0"/>
              </a:rPr>
              <a:t>モデルの所要リソース</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88CD6F7A-7C0A-9ED3-F627-926EE5B82EF9}"/>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75D52E-6B26-65C8-C230-F3AC9BA2D864}"/>
              </a:ext>
            </a:extLst>
          </p:cNvPr>
          <p:cNvSpPr txBox="1"/>
          <p:nvPr/>
        </p:nvSpPr>
        <p:spPr>
          <a:xfrm>
            <a:off x="575036" y="1459348"/>
            <a:ext cx="10595728" cy="584775"/>
          </a:xfrm>
          <a:prstGeom prst="rect">
            <a:avLst/>
          </a:prstGeom>
          <a:noFill/>
        </p:spPr>
        <p:txBody>
          <a:bodyPr wrap="square" rtlCol="0">
            <a:spAutoFit/>
          </a:bodyPr>
          <a:lstStyle/>
          <a:p>
            <a:r>
              <a:rPr lang="ja-JP" altLang="en-US" sz="1600" dirty="0">
                <a:latin typeface="Arial" panose="020B0604020202020204" pitchFamily="34" charset="0"/>
                <a:cs typeface="Arial" panose="020B0604020202020204" pitchFamily="34" charset="0"/>
              </a:rPr>
              <a:t>特許版</a:t>
            </a:r>
            <a:r>
              <a:rPr lang="en-US" altLang="ja-JP" sz="1600" dirty="0">
                <a:latin typeface="Arial" panose="020B0604020202020204" pitchFamily="34" charset="0"/>
                <a:cs typeface="Arial" panose="020B0604020202020204" pitchFamily="34" charset="0"/>
              </a:rPr>
              <a:t>BERT</a:t>
            </a:r>
            <a:r>
              <a:rPr lang="ja-JP" altLang="en-US" sz="1600" dirty="0">
                <a:latin typeface="Arial" panose="020B0604020202020204" pitchFamily="34" charset="0"/>
                <a:cs typeface="Arial" panose="020B0604020202020204" pitchFamily="34" charset="0"/>
              </a:rPr>
              <a:t>モデルをデプロイするため、</a:t>
            </a:r>
            <a:r>
              <a:rPr lang="en-US" altLang="ja-JP" sz="1600" dirty="0">
                <a:latin typeface="Arial" panose="020B0604020202020204" pitchFamily="34" charset="0"/>
                <a:cs typeface="Arial" panose="020B0604020202020204" pitchFamily="34" charset="0"/>
              </a:rPr>
              <a:t>Azure</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AWS</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GCP</a:t>
            </a:r>
            <a:r>
              <a:rPr lang="ja-JP" altLang="en-US" sz="1600" dirty="0">
                <a:latin typeface="Arial" panose="020B0604020202020204" pitchFamily="34" charset="0"/>
                <a:cs typeface="Arial" panose="020B0604020202020204" pitchFamily="34" charset="0"/>
              </a:rPr>
              <a:t>それぞれ所要なリソースは下表に参考されます。</a:t>
            </a:r>
            <a:r>
              <a:rPr lang="en-US" altLang="ja-JP" sz="1600" dirty="0">
                <a:latin typeface="Arial" panose="020B0604020202020204" pitchFamily="34" charset="0"/>
                <a:cs typeface="Arial" panose="020B0604020202020204" pitchFamily="34" charset="0"/>
              </a:rPr>
              <a:t>(</a:t>
            </a:r>
            <a:r>
              <a:rPr lang="ja-JP" altLang="en-US" sz="1600" dirty="0">
                <a:latin typeface="Arial" panose="020B0604020202020204" pitchFamily="34" charset="0"/>
                <a:cs typeface="Arial" panose="020B0604020202020204" pitchFamily="34" charset="0"/>
              </a:rPr>
              <a:t>地域は全部</a:t>
            </a:r>
            <a:r>
              <a:rPr lang="en-US" altLang="ja-JP" sz="1600" dirty="0">
                <a:latin typeface="Arial" panose="020B0604020202020204" pitchFamily="34" charset="0"/>
                <a:cs typeface="Arial" panose="020B0604020202020204" pitchFamily="34" charset="0"/>
              </a:rPr>
              <a:t>Tokyo</a:t>
            </a:r>
            <a:r>
              <a:rPr lang="ja-JP" altLang="en-US" sz="1600" dirty="0">
                <a:latin typeface="Arial" panose="020B0604020202020204" pitchFamily="34" charset="0"/>
                <a:cs typeface="Arial" panose="020B0604020202020204" pitchFamily="34" charset="0"/>
              </a:rPr>
              <a:t>を設定します）</a:t>
            </a:r>
            <a:endParaRPr lang="en-US" altLang="ja-JP" sz="1600" dirty="0">
              <a:latin typeface="Arial" panose="020B0604020202020204" pitchFamily="34" charset="0"/>
              <a:cs typeface="Arial" panose="020B0604020202020204" pitchFamily="34" charset="0"/>
            </a:endParaRPr>
          </a:p>
        </p:txBody>
      </p:sp>
      <p:graphicFrame>
        <p:nvGraphicFramePr>
          <p:cNvPr id="3" name="表格 2">
            <a:extLst>
              <a:ext uri="{FF2B5EF4-FFF2-40B4-BE49-F238E27FC236}">
                <a16:creationId xmlns:a16="http://schemas.microsoft.com/office/drawing/2014/main" id="{F9B708F1-A93E-6FA0-EAA8-F335802FFD46}"/>
              </a:ext>
            </a:extLst>
          </p:cNvPr>
          <p:cNvGraphicFramePr>
            <a:graphicFrameLocks noGrp="1"/>
          </p:cNvGraphicFramePr>
          <p:nvPr>
            <p:extLst>
              <p:ext uri="{D42A27DB-BD31-4B8C-83A1-F6EECF244321}">
                <p14:modId xmlns:p14="http://schemas.microsoft.com/office/powerpoint/2010/main" val="4066083287"/>
              </p:ext>
            </p:extLst>
          </p:nvPr>
        </p:nvGraphicFramePr>
        <p:xfrm>
          <a:off x="952106" y="2595599"/>
          <a:ext cx="10077256" cy="3166215"/>
        </p:xfrm>
        <a:graphic>
          <a:graphicData uri="http://schemas.openxmlformats.org/drawingml/2006/table">
            <a:tbl>
              <a:tblPr firstRow="1" bandRow="1">
                <a:tableStyleId>{5C22544A-7EE6-4342-B048-85BDC9FD1C3A}</a:tableStyleId>
              </a:tblPr>
              <a:tblGrid>
                <a:gridCol w="2519314">
                  <a:extLst>
                    <a:ext uri="{9D8B030D-6E8A-4147-A177-3AD203B41FA5}">
                      <a16:colId xmlns:a16="http://schemas.microsoft.com/office/drawing/2014/main" val="1034333737"/>
                    </a:ext>
                  </a:extLst>
                </a:gridCol>
                <a:gridCol w="2519314">
                  <a:extLst>
                    <a:ext uri="{9D8B030D-6E8A-4147-A177-3AD203B41FA5}">
                      <a16:colId xmlns:a16="http://schemas.microsoft.com/office/drawing/2014/main" val="3348019054"/>
                    </a:ext>
                  </a:extLst>
                </a:gridCol>
                <a:gridCol w="2519314">
                  <a:extLst>
                    <a:ext uri="{9D8B030D-6E8A-4147-A177-3AD203B41FA5}">
                      <a16:colId xmlns:a16="http://schemas.microsoft.com/office/drawing/2014/main" val="4232210452"/>
                    </a:ext>
                  </a:extLst>
                </a:gridCol>
                <a:gridCol w="2519314">
                  <a:extLst>
                    <a:ext uri="{9D8B030D-6E8A-4147-A177-3AD203B41FA5}">
                      <a16:colId xmlns:a16="http://schemas.microsoft.com/office/drawing/2014/main" val="1114257456"/>
                    </a:ext>
                  </a:extLst>
                </a:gridCol>
              </a:tblGrid>
              <a:tr h="392698">
                <a:tc>
                  <a:txBody>
                    <a:bodyPr/>
                    <a:lstStyle/>
                    <a:p>
                      <a:pPr algn="ctr"/>
                      <a:r>
                        <a:rPr lang="en-US" altLang="ja-JP" dirty="0"/>
                        <a:t>Category</a:t>
                      </a:r>
                      <a:endParaRPr lang="zh-CN" altLang="en-US" dirty="0"/>
                    </a:p>
                  </a:txBody>
                  <a:tcPr/>
                </a:tc>
                <a:tc>
                  <a:txBody>
                    <a:bodyPr/>
                    <a:lstStyle/>
                    <a:p>
                      <a:pPr algn="ctr"/>
                      <a:r>
                        <a:rPr lang="en-US" altLang="ja-JP" u="none" dirty="0">
                          <a:solidFill>
                            <a:schemeClr val="bg1"/>
                          </a:solidFill>
                          <a:hlinkClick r:id="rId2">
                            <a:extLst>
                              <a:ext uri="{A12FA001-AC4F-418D-AE19-62706E023703}">
                                <ahyp:hlinkClr xmlns:ahyp="http://schemas.microsoft.com/office/drawing/2018/hyperlinkcolor" val="tx"/>
                              </a:ext>
                            </a:extLst>
                          </a:hlinkClick>
                        </a:rPr>
                        <a:t>Azure</a:t>
                      </a:r>
                      <a:endParaRPr lang="zh-CN" altLang="en-US" u="none" dirty="0">
                        <a:solidFill>
                          <a:schemeClr val="bg1"/>
                        </a:solidFill>
                      </a:endParaRPr>
                    </a:p>
                  </a:txBody>
                  <a:tcPr/>
                </a:tc>
                <a:tc>
                  <a:txBody>
                    <a:bodyPr/>
                    <a:lstStyle/>
                    <a:p>
                      <a:pPr algn="ctr"/>
                      <a:r>
                        <a:rPr lang="en-US" altLang="ja-JP" dirty="0">
                          <a:solidFill>
                            <a:schemeClr val="bg1"/>
                          </a:solidFill>
                          <a:hlinkClick r:id="rId3">
                            <a:extLst>
                              <a:ext uri="{A12FA001-AC4F-418D-AE19-62706E023703}">
                                <ahyp:hlinkClr xmlns:ahyp="http://schemas.microsoft.com/office/drawing/2018/hyperlinkcolor" val="tx"/>
                              </a:ext>
                            </a:extLst>
                          </a:hlinkClick>
                        </a:rPr>
                        <a:t>AWS</a:t>
                      </a:r>
                      <a:endParaRPr lang="zh-CN" altLang="en-US" dirty="0">
                        <a:solidFill>
                          <a:schemeClr val="bg1"/>
                        </a:solidFill>
                      </a:endParaRPr>
                    </a:p>
                  </a:txBody>
                  <a:tcPr/>
                </a:tc>
                <a:tc>
                  <a:txBody>
                    <a:bodyPr/>
                    <a:lstStyle/>
                    <a:p>
                      <a:pPr algn="ctr"/>
                      <a:r>
                        <a:rPr lang="en-US" altLang="ja-JP" dirty="0">
                          <a:solidFill>
                            <a:schemeClr val="bg1"/>
                          </a:solidFill>
                          <a:hlinkClick r:id="rId4">
                            <a:extLst>
                              <a:ext uri="{A12FA001-AC4F-418D-AE19-62706E023703}">
                                <ahyp:hlinkClr xmlns:ahyp="http://schemas.microsoft.com/office/drawing/2018/hyperlinkcolor" val="tx"/>
                              </a:ext>
                            </a:extLst>
                          </a:hlinkClick>
                        </a:rPr>
                        <a:t>GCP</a:t>
                      </a:r>
                      <a:endParaRPr lang="zh-CN" altLang="en-US" dirty="0">
                        <a:solidFill>
                          <a:schemeClr val="bg1"/>
                        </a:solidFill>
                      </a:endParaRPr>
                    </a:p>
                  </a:txBody>
                  <a:tcPr/>
                </a:tc>
                <a:extLst>
                  <a:ext uri="{0D108BD9-81ED-4DB2-BD59-A6C34878D82A}">
                    <a16:rowId xmlns:a16="http://schemas.microsoft.com/office/drawing/2014/main" val="460455147"/>
                  </a:ext>
                </a:extLst>
              </a:tr>
              <a:tr h="1310477">
                <a:tc>
                  <a:txBody>
                    <a:bodyPr/>
                    <a:lstStyle/>
                    <a:p>
                      <a:r>
                        <a:rPr lang="en-US" altLang="ja-JP" dirty="0"/>
                        <a:t>VM</a:t>
                      </a:r>
                      <a:r>
                        <a:rPr lang="ja-JP" altLang="en-US" dirty="0"/>
                        <a:t>配置</a:t>
                      </a:r>
                      <a:endParaRPr lang="zh-CN" altLang="en-US" dirty="0"/>
                    </a:p>
                  </a:txBody>
                  <a:tcPr anchor="ctr"/>
                </a:tc>
                <a:tc>
                  <a:txBody>
                    <a:bodyPr/>
                    <a:lstStyle/>
                    <a:p>
                      <a:r>
                        <a:rPr lang="en-US" altLang="zh-CN" dirty="0"/>
                        <a:t>NC4as T4 v3</a:t>
                      </a:r>
                    </a:p>
                    <a:p>
                      <a:r>
                        <a:rPr lang="en-US" altLang="zh-CN" dirty="0"/>
                        <a:t>CPU: 4 core</a:t>
                      </a:r>
                    </a:p>
                    <a:p>
                      <a:r>
                        <a:rPr lang="en-US" altLang="zh-CN" dirty="0"/>
                        <a:t>RAM: 28GB</a:t>
                      </a:r>
                    </a:p>
                    <a:p>
                      <a:r>
                        <a:rPr lang="en-US" altLang="zh-CN" dirty="0"/>
                        <a:t>GPU:1xT4</a:t>
                      </a:r>
                    </a:p>
                    <a:p>
                      <a:r>
                        <a:rPr lang="en-US" altLang="zh-CN" dirty="0"/>
                        <a:t>VRAM: 16GB</a:t>
                      </a:r>
                      <a:endParaRPr lang="zh-CN" altLang="en-US" dirty="0"/>
                    </a:p>
                  </a:txBody>
                  <a:tcPr anchor="ctr"/>
                </a:tc>
                <a:tc>
                  <a:txBody>
                    <a:bodyPr/>
                    <a:lstStyle/>
                    <a:p>
                      <a:r>
                        <a:rPr lang="en-US" altLang="zh-CN" dirty="0"/>
                        <a:t>g4dn.xlarge</a:t>
                      </a:r>
                    </a:p>
                    <a:p>
                      <a:r>
                        <a:rPr lang="en-US" altLang="zh-CN" dirty="0"/>
                        <a:t>CPU: 4 core</a:t>
                      </a:r>
                    </a:p>
                    <a:p>
                      <a:r>
                        <a:rPr lang="en-US" altLang="zh-CN" dirty="0"/>
                        <a:t>RAM: 16GB</a:t>
                      </a:r>
                    </a:p>
                    <a:p>
                      <a:r>
                        <a:rPr lang="en-US" altLang="zh-CN" dirty="0"/>
                        <a:t>GPU:1xT4</a:t>
                      </a:r>
                    </a:p>
                    <a:p>
                      <a:r>
                        <a:rPr lang="en-US" altLang="zh-CN" dirty="0"/>
                        <a:t>VRAM: 16GB</a:t>
                      </a:r>
                      <a:endParaRPr lang="zh-CN" altLang="en-US" dirty="0"/>
                    </a:p>
                  </a:txBody>
                  <a:tcPr anchor="ctr"/>
                </a:tc>
                <a:tc>
                  <a:txBody>
                    <a:bodyPr/>
                    <a:lstStyle/>
                    <a:p>
                      <a:r>
                        <a:rPr lang="en-US" altLang="zh-CN" dirty="0"/>
                        <a:t>g2-standard-4</a:t>
                      </a:r>
                    </a:p>
                    <a:p>
                      <a:r>
                        <a:rPr lang="en-US" altLang="zh-CN" dirty="0"/>
                        <a:t>CPU: 4 core</a:t>
                      </a:r>
                    </a:p>
                    <a:p>
                      <a:r>
                        <a:rPr lang="en-US" altLang="zh-CN" dirty="0"/>
                        <a:t>RAM: 16GB</a:t>
                      </a:r>
                    </a:p>
                    <a:p>
                      <a:r>
                        <a:rPr lang="en-US" altLang="zh-CN" dirty="0"/>
                        <a:t>GPU:1xL4</a:t>
                      </a:r>
                    </a:p>
                    <a:p>
                      <a:r>
                        <a:rPr lang="en-US" altLang="zh-CN" dirty="0"/>
                        <a:t>VRAM: 24GB</a:t>
                      </a:r>
                      <a:endParaRPr lang="zh-CN" altLang="en-US" dirty="0"/>
                    </a:p>
                  </a:txBody>
                  <a:tcPr anchor="ctr"/>
                </a:tc>
                <a:extLst>
                  <a:ext uri="{0D108BD9-81ED-4DB2-BD59-A6C34878D82A}">
                    <a16:rowId xmlns:a16="http://schemas.microsoft.com/office/drawing/2014/main" val="3356126220"/>
                  </a:ext>
                </a:extLst>
              </a:tr>
              <a:tr h="1310477">
                <a:tc>
                  <a:txBody>
                    <a:bodyPr/>
                    <a:lstStyle/>
                    <a:p>
                      <a:r>
                        <a:rPr lang="en-US" altLang="ja-JP" dirty="0"/>
                        <a:t>VM</a:t>
                      </a:r>
                      <a:r>
                        <a:rPr lang="ja-JP" altLang="en-US" dirty="0"/>
                        <a:t>価格</a:t>
                      </a:r>
                      <a:endParaRPr lang="zh-CN" altLang="en-US" dirty="0"/>
                    </a:p>
                  </a:txBody>
                  <a:tcPr anchor="ctr"/>
                </a:tc>
                <a:tc>
                  <a:txBody>
                    <a:bodyPr/>
                    <a:lstStyle/>
                    <a:p>
                      <a:r>
                        <a:rPr lang="en-US" altLang="zh-CN" dirty="0"/>
                        <a:t>¥78,258.1166/month</a:t>
                      </a:r>
                      <a:endParaRPr lang="zh-CN" altLang="en-US" dirty="0"/>
                    </a:p>
                  </a:txBody>
                  <a:tcPr anchor="ctr"/>
                </a:tc>
                <a:tc>
                  <a:txBody>
                    <a:bodyPr/>
                    <a:lstStyle/>
                    <a:p>
                      <a:r>
                        <a:rPr lang="en-US" altLang="zh-CN" dirty="0"/>
                        <a:t>USD 0.71/hour</a:t>
                      </a:r>
                    </a:p>
                    <a:p>
                      <a:r>
                        <a:rPr lang="en-US" altLang="zh-CN" dirty="0"/>
                        <a:t>~¥76,680/month</a:t>
                      </a:r>
                    </a:p>
                  </a:txBody>
                  <a:tcPr anchor="ctr"/>
                </a:tc>
                <a:tc>
                  <a:txBody>
                    <a:bodyPr/>
                    <a:lstStyle/>
                    <a:p>
                      <a:r>
                        <a:rPr lang="en-US" altLang="zh-CN" dirty="0"/>
                        <a:t>US$662.6312 /month</a:t>
                      </a:r>
                    </a:p>
                    <a:p>
                      <a:r>
                        <a:rPr lang="en-US" altLang="zh-CN" dirty="0"/>
                        <a:t>~¥99,394/month</a:t>
                      </a:r>
                    </a:p>
                  </a:txBody>
                  <a:tcPr anchor="ctr"/>
                </a:tc>
                <a:extLst>
                  <a:ext uri="{0D108BD9-81ED-4DB2-BD59-A6C34878D82A}">
                    <a16:rowId xmlns:a16="http://schemas.microsoft.com/office/drawing/2014/main" val="56370049"/>
                  </a:ext>
                </a:extLst>
              </a:tr>
            </a:tbl>
          </a:graphicData>
        </a:graphic>
      </p:graphicFrame>
    </p:spTree>
    <p:extLst>
      <p:ext uri="{BB962C8B-B14F-4D97-AF65-F5344CB8AC3E}">
        <p14:creationId xmlns:p14="http://schemas.microsoft.com/office/powerpoint/2010/main" val="36585941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A9F51-0731-EAEA-8F68-16182328F80D}"/>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8C33FAB2-58D7-F917-6678-BFAECA093158}"/>
              </a:ext>
            </a:extLst>
          </p:cNvPr>
          <p:cNvSpPr txBox="1"/>
          <p:nvPr/>
        </p:nvSpPr>
        <p:spPr>
          <a:xfrm>
            <a:off x="575036" y="707011"/>
            <a:ext cx="10246936" cy="369332"/>
          </a:xfrm>
          <a:prstGeom prst="rect">
            <a:avLst/>
          </a:prstGeom>
          <a:noFill/>
        </p:spPr>
        <p:txBody>
          <a:bodyPr wrap="square" rtlCol="0">
            <a:spAutoFit/>
          </a:bodyPr>
          <a:lstStyle/>
          <a:p>
            <a:r>
              <a:rPr lang="en-US" altLang="zh-CN" dirty="0">
                <a:latin typeface="Arial" panose="020B0604020202020204" pitchFamily="34" charset="0"/>
                <a:cs typeface="Arial" panose="020B0604020202020204" pitchFamily="34" charset="0"/>
              </a:rPr>
              <a:t>SaaS</a:t>
            </a:r>
            <a:r>
              <a:rPr lang="ja-JP" altLang="en-US" dirty="0">
                <a:latin typeface="Arial" panose="020B0604020202020204" pitchFamily="34" charset="0"/>
                <a:cs typeface="Arial" panose="020B0604020202020204" pitchFamily="34" charset="0"/>
              </a:rPr>
              <a:t>版紹介</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A96C5284-D1FD-3649-6072-4A30B2FFC021}"/>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099FE217-8B2E-DAC5-AFDF-753940506E6C}"/>
              </a:ext>
            </a:extLst>
          </p:cNvPr>
          <p:cNvSpPr txBox="1"/>
          <p:nvPr/>
        </p:nvSpPr>
        <p:spPr>
          <a:xfrm>
            <a:off x="575036" y="1459348"/>
            <a:ext cx="10595728" cy="1323439"/>
          </a:xfrm>
          <a:prstGeom prst="rect">
            <a:avLst/>
          </a:prstGeom>
          <a:noFill/>
        </p:spPr>
        <p:txBody>
          <a:bodyPr wrap="square" rtlCol="0">
            <a:spAutoFit/>
          </a:bodyPr>
          <a:lstStyle/>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SaaS</a:t>
            </a:r>
            <a:r>
              <a:rPr lang="ja-JP" altLang="en-US" sz="1600" dirty="0">
                <a:latin typeface="Arial" panose="020B0604020202020204" pitchFamily="34" charset="0"/>
                <a:cs typeface="Arial" panose="020B0604020202020204" pitchFamily="34" charset="0"/>
              </a:rPr>
              <a:t>版は、</a:t>
            </a:r>
            <a:r>
              <a:rPr lang="en-US" altLang="ja-JP" sz="1600" dirty="0">
                <a:latin typeface="Arial" panose="020B0604020202020204" pitchFamily="34" charset="0"/>
                <a:cs typeface="Arial" panose="020B0604020202020204" pitchFamily="34" charset="0"/>
              </a:rPr>
              <a:t>Dify</a:t>
            </a:r>
            <a:r>
              <a:rPr lang="ja-JP" altLang="en-US" sz="1600" dirty="0">
                <a:latin typeface="Arial" panose="020B0604020202020204" pitchFamily="34" charset="0"/>
                <a:cs typeface="Arial" panose="020B0604020202020204" pitchFamily="34" charset="0"/>
              </a:rPr>
              <a:t>がクラウド上でサービスを提供・管理する形態です。ユーザーは自分でサーバーを用意したり、ソフトウェアをインストールしたりする必要がなく、アカウントを作成すればすぐに利用を開始できます。インフラの保守やアップデートも</a:t>
            </a:r>
            <a:r>
              <a:rPr lang="en-US" altLang="ja-JP" sz="1600" dirty="0">
                <a:latin typeface="Arial" panose="020B0604020202020204" pitchFamily="34" charset="0"/>
                <a:cs typeface="Arial" panose="020B0604020202020204" pitchFamily="34" charset="0"/>
              </a:rPr>
              <a:t>Dify</a:t>
            </a:r>
            <a:r>
              <a:rPr lang="ja-JP" altLang="en-US" sz="1600" dirty="0">
                <a:latin typeface="Arial" panose="020B0604020202020204" pitchFamily="34" charset="0"/>
                <a:cs typeface="Arial" panose="020B0604020202020204" pitchFamily="34" charset="0"/>
              </a:rPr>
              <a:t>側が行うため、開発者はアプリケーションの構築と運用に集中できます。主に個人開発者や小規模チームから、本格的なビジネス利用まで対応する複数のプランが用意されています。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以下は、</a:t>
            </a:r>
            <a:r>
              <a:rPr lang="en-US" altLang="ja-JP" sz="1600" dirty="0">
                <a:latin typeface="Arial" panose="020B0604020202020204" pitchFamily="34" charset="0"/>
                <a:cs typeface="Arial" panose="020B0604020202020204" pitchFamily="34" charset="0"/>
              </a:rPr>
              <a:t>Dify SaaS</a:t>
            </a:r>
            <a:r>
              <a:rPr lang="ja-JP" altLang="en-US" sz="1600" dirty="0">
                <a:latin typeface="Arial" panose="020B0604020202020204" pitchFamily="34" charset="0"/>
                <a:cs typeface="Arial" panose="020B0604020202020204" pitchFamily="34" charset="0"/>
              </a:rPr>
              <a:t>版の主要な</a:t>
            </a:r>
            <a:r>
              <a:rPr lang="en-US" altLang="ja-JP" sz="1600" dirty="0">
                <a:latin typeface="Arial" panose="020B0604020202020204" pitchFamily="34" charset="0"/>
                <a:cs typeface="Arial" panose="020B0604020202020204" pitchFamily="34" charset="0"/>
              </a:rPr>
              <a:t>3</a:t>
            </a:r>
            <a:r>
              <a:rPr lang="ja-JP" altLang="en-US" sz="1600" dirty="0">
                <a:latin typeface="Arial" panose="020B0604020202020204" pitchFamily="34" charset="0"/>
                <a:cs typeface="Arial" panose="020B0604020202020204" pitchFamily="34" charset="0"/>
              </a:rPr>
              <a:t>つのプラン</a:t>
            </a:r>
            <a:r>
              <a:rPr lang="en-US" altLang="ja-JP" sz="1600" dirty="0">
                <a:latin typeface="Arial" panose="020B0604020202020204" pitchFamily="34" charset="0"/>
                <a:cs typeface="Arial" panose="020B0604020202020204" pitchFamily="34" charset="0"/>
              </a:rPr>
              <a:t>Sandbox</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Professional</a:t>
            </a:r>
            <a:r>
              <a:rPr lang="ja-JP" altLang="en-US" sz="1600" dirty="0">
                <a:latin typeface="Arial" panose="020B0604020202020204" pitchFamily="34" charset="0"/>
                <a:cs typeface="Arial" panose="020B0604020202020204" pitchFamily="34" charset="0"/>
              </a:rPr>
              <a:t> 、 </a:t>
            </a:r>
            <a:r>
              <a:rPr lang="en-US" altLang="ja-JP" sz="1600" dirty="0">
                <a:latin typeface="Arial" panose="020B0604020202020204" pitchFamily="34" charset="0"/>
                <a:cs typeface="Arial" panose="020B0604020202020204" pitchFamily="34" charset="0"/>
              </a:rPr>
              <a:t>Team</a:t>
            </a:r>
            <a:r>
              <a:rPr lang="ja-JP" altLang="en-US" sz="1600" dirty="0">
                <a:latin typeface="Arial" panose="020B0604020202020204" pitchFamily="34" charset="0"/>
                <a:cs typeface="Arial" panose="020B0604020202020204" pitchFamily="34" charset="0"/>
              </a:rPr>
              <a:t>の主な違いをまとめた比較表です。</a:t>
            </a:r>
            <a:endParaRPr lang="en-US" altLang="ja-JP" sz="1600" dirty="0">
              <a:latin typeface="Arial" panose="020B0604020202020204" pitchFamily="34" charset="0"/>
              <a:cs typeface="Arial" panose="020B0604020202020204" pitchFamily="34" charset="0"/>
            </a:endParaRPr>
          </a:p>
        </p:txBody>
      </p:sp>
      <p:graphicFrame>
        <p:nvGraphicFramePr>
          <p:cNvPr id="3" name="表格 2">
            <a:extLst>
              <a:ext uri="{FF2B5EF4-FFF2-40B4-BE49-F238E27FC236}">
                <a16:creationId xmlns:a16="http://schemas.microsoft.com/office/drawing/2014/main" id="{7486AAEB-2D32-F4A2-7B3F-F0483B68F465}"/>
              </a:ext>
            </a:extLst>
          </p:cNvPr>
          <p:cNvGraphicFramePr>
            <a:graphicFrameLocks noGrp="1"/>
          </p:cNvGraphicFramePr>
          <p:nvPr>
            <p:extLst>
              <p:ext uri="{D42A27DB-BD31-4B8C-83A1-F6EECF244321}">
                <p14:modId xmlns:p14="http://schemas.microsoft.com/office/powerpoint/2010/main" val="2511928133"/>
              </p:ext>
            </p:extLst>
          </p:nvPr>
        </p:nvGraphicFramePr>
        <p:xfrm>
          <a:off x="754143" y="2909361"/>
          <a:ext cx="10275220" cy="3570816"/>
        </p:xfrm>
        <a:graphic>
          <a:graphicData uri="http://schemas.openxmlformats.org/drawingml/2006/table">
            <a:tbl>
              <a:tblPr firstRow="1" bandRow="1">
                <a:tableStyleId>{5C22544A-7EE6-4342-B048-85BDC9FD1C3A}</a:tableStyleId>
              </a:tblPr>
              <a:tblGrid>
                <a:gridCol w="2187019">
                  <a:extLst>
                    <a:ext uri="{9D8B030D-6E8A-4147-A177-3AD203B41FA5}">
                      <a16:colId xmlns:a16="http://schemas.microsoft.com/office/drawing/2014/main" val="1034333737"/>
                    </a:ext>
                  </a:extLst>
                </a:gridCol>
                <a:gridCol w="2696067">
                  <a:extLst>
                    <a:ext uri="{9D8B030D-6E8A-4147-A177-3AD203B41FA5}">
                      <a16:colId xmlns:a16="http://schemas.microsoft.com/office/drawing/2014/main" val="3549990795"/>
                    </a:ext>
                  </a:extLst>
                </a:gridCol>
                <a:gridCol w="2696067">
                  <a:extLst>
                    <a:ext uri="{9D8B030D-6E8A-4147-A177-3AD203B41FA5}">
                      <a16:colId xmlns:a16="http://schemas.microsoft.com/office/drawing/2014/main" val="3348019054"/>
                    </a:ext>
                  </a:extLst>
                </a:gridCol>
                <a:gridCol w="2696067">
                  <a:extLst>
                    <a:ext uri="{9D8B030D-6E8A-4147-A177-3AD203B41FA5}">
                      <a16:colId xmlns:a16="http://schemas.microsoft.com/office/drawing/2014/main" val="4232210452"/>
                    </a:ext>
                  </a:extLst>
                </a:gridCol>
              </a:tblGrid>
              <a:tr h="328787">
                <a:tc>
                  <a:txBody>
                    <a:bodyPr/>
                    <a:lstStyle/>
                    <a:p>
                      <a:pPr algn="ctr"/>
                      <a:r>
                        <a:rPr lang="en-US" altLang="ja-JP" dirty="0"/>
                        <a:t>Category</a:t>
                      </a:r>
                      <a:endParaRPr lang="zh-CN" altLang="en-US" dirty="0"/>
                    </a:p>
                  </a:txBody>
                  <a:tcPr/>
                </a:tc>
                <a:tc>
                  <a:txBody>
                    <a:bodyPr/>
                    <a:lstStyle/>
                    <a:p>
                      <a:pPr algn="ctr"/>
                      <a:r>
                        <a:rPr lang="en-US" altLang="zh-CN" u="none" dirty="0">
                          <a:solidFill>
                            <a:schemeClr val="bg1"/>
                          </a:solidFill>
                        </a:rPr>
                        <a:t>Sandbox</a:t>
                      </a:r>
                      <a:endParaRPr lang="zh-CN" altLang="en-US" u="none" dirty="0">
                        <a:solidFill>
                          <a:schemeClr val="bg1"/>
                        </a:solidFill>
                      </a:endParaRPr>
                    </a:p>
                  </a:txBody>
                  <a:tcPr/>
                </a:tc>
                <a:tc>
                  <a:txBody>
                    <a:bodyPr/>
                    <a:lstStyle/>
                    <a:p>
                      <a:pPr algn="ctr"/>
                      <a:r>
                        <a:rPr lang="en-US" altLang="ja-JP" u="none" dirty="0">
                          <a:solidFill>
                            <a:schemeClr val="bg1"/>
                          </a:solidFill>
                        </a:rPr>
                        <a:t>Professional</a:t>
                      </a:r>
                      <a:endParaRPr lang="zh-CN" altLang="en-US" u="none" dirty="0">
                        <a:solidFill>
                          <a:schemeClr val="bg1"/>
                        </a:solidFill>
                      </a:endParaRPr>
                    </a:p>
                  </a:txBody>
                  <a:tcPr/>
                </a:tc>
                <a:tc>
                  <a:txBody>
                    <a:bodyPr/>
                    <a:lstStyle/>
                    <a:p>
                      <a:pPr algn="ctr"/>
                      <a:r>
                        <a:rPr lang="en-US" altLang="zh-CN" dirty="0"/>
                        <a:t>Team</a:t>
                      </a:r>
                      <a:endParaRPr lang="zh-CN" altLang="en-US" dirty="0">
                        <a:solidFill>
                          <a:schemeClr val="bg1"/>
                        </a:solidFill>
                      </a:endParaRPr>
                    </a:p>
                  </a:txBody>
                  <a:tcPr/>
                </a:tc>
                <a:extLst>
                  <a:ext uri="{0D108BD9-81ED-4DB2-BD59-A6C34878D82A}">
                    <a16:rowId xmlns:a16="http://schemas.microsoft.com/office/drawing/2014/main" val="460455147"/>
                  </a:ext>
                </a:extLst>
              </a:tr>
              <a:tr h="400632">
                <a:tc>
                  <a:txBody>
                    <a:bodyPr/>
                    <a:lstStyle/>
                    <a:p>
                      <a:r>
                        <a:rPr lang="zh-CN" altLang="en-US" sz="1600" dirty="0">
                          <a:latin typeface="MS PGothic" panose="020B0600070205080204" pitchFamily="34" charset="-128"/>
                          <a:ea typeface="MS PGothic" panose="020B0600070205080204" pitchFamily="34" charset="-128"/>
                        </a:rPr>
                        <a:t>価格</a:t>
                      </a:r>
                    </a:p>
                  </a:txBody>
                  <a:tcPr anchor="ctr"/>
                </a:tc>
                <a:tc>
                  <a:txBody>
                    <a:bodyPr/>
                    <a:lstStyle/>
                    <a:p>
                      <a:r>
                        <a:rPr lang="en-US" altLang="zh-CN" sz="1600" dirty="0">
                          <a:latin typeface="MS PGothic" panose="020B0600070205080204" pitchFamily="34" charset="-128"/>
                          <a:ea typeface="MS PGothic" panose="020B0600070205080204" pitchFamily="34" charset="-128"/>
                        </a:rPr>
                        <a:t>$0</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$59/month</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a:latin typeface="MS PGothic" panose="020B0600070205080204" pitchFamily="34" charset="-128"/>
                          <a:ea typeface="MS PGothic" panose="020B0600070205080204" pitchFamily="34" charset="-128"/>
                        </a:rPr>
                        <a:t>$159/month</a:t>
                      </a:r>
                      <a:endParaRPr lang="zh-CN" altLang="en-US" sz="16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3356126220"/>
                  </a:ext>
                </a:extLst>
              </a:tr>
              <a:tr h="400632">
                <a:tc>
                  <a:txBody>
                    <a:bodyPr/>
                    <a:lstStyle/>
                    <a:p>
                      <a:r>
                        <a:rPr lang="ja-JP" altLang="en-US" sz="1600" dirty="0">
                          <a:latin typeface="MS PGothic" panose="020B0600070205080204" pitchFamily="34" charset="-128"/>
                          <a:ea typeface="MS PGothic" panose="020B0600070205080204" pitchFamily="34" charset="-128"/>
                        </a:rPr>
                        <a:t>チームメンバー</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1</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3</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a:latin typeface="MS PGothic" panose="020B0600070205080204" pitchFamily="34" charset="-128"/>
                          <a:ea typeface="MS PGothic" panose="020B0600070205080204" pitchFamily="34" charset="-128"/>
                        </a:rPr>
                        <a:t>50</a:t>
                      </a:r>
                      <a:endParaRPr lang="en-US" altLang="zh-CN" sz="16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56370049"/>
                  </a:ext>
                </a:extLst>
              </a:tr>
              <a:tr h="400632">
                <a:tc>
                  <a:txBody>
                    <a:bodyPr/>
                    <a:lstStyle/>
                    <a:p>
                      <a:r>
                        <a:rPr lang="ja-JP" altLang="en-US" sz="1600" dirty="0">
                          <a:latin typeface="MS PGothic" panose="020B0600070205080204" pitchFamily="34" charset="-128"/>
                          <a:ea typeface="MS PGothic" panose="020B0600070205080204" pitchFamily="34" charset="-128"/>
                        </a:rPr>
                        <a:t>作成可能なアプリ数</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5</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50</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200</a:t>
                      </a:r>
                    </a:p>
                  </a:txBody>
                  <a:tcPr anchor="ctr"/>
                </a:tc>
                <a:extLst>
                  <a:ext uri="{0D108BD9-81ED-4DB2-BD59-A6C34878D82A}">
                    <a16:rowId xmlns:a16="http://schemas.microsoft.com/office/drawing/2014/main" val="390922883"/>
                  </a:ext>
                </a:extLst>
              </a:tr>
              <a:tr h="400632">
                <a:tc>
                  <a:txBody>
                    <a:bodyPr/>
                    <a:lstStyle/>
                    <a:p>
                      <a:r>
                        <a:rPr lang="en-US" altLang="zh-CN" sz="1600" dirty="0">
                          <a:latin typeface="MS PGothic" panose="020B0600070205080204" pitchFamily="34" charset="-128"/>
                          <a:ea typeface="MS PGothic" panose="020B0600070205080204" pitchFamily="34" charset="-128"/>
                        </a:rPr>
                        <a:t>RAG</a:t>
                      </a:r>
                      <a:r>
                        <a:rPr lang="ja-JP" altLang="en-US" sz="1600" dirty="0">
                          <a:latin typeface="MS PGothic" panose="020B0600070205080204" pitchFamily="34" charset="-128"/>
                          <a:ea typeface="MS PGothic" panose="020B0600070205080204" pitchFamily="34" charset="-128"/>
                        </a:rPr>
                        <a:t>ドキュメント数</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50</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500</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1000</a:t>
                      </a:r>
                    </a:p>
                  </a:txBody>
                  <a:tcPr anchor="ctr"/>
                </a:tc>
                <a:extLst>
                  <a:ext uri="{0D108BD9-81ED-4DB2-BD59-A6C34878D82A}">
                    <a16:rowId xmlns:a16="http://schemas.microsoft.com/office/drawing/2014/main" val="3599334861"/>
                  </a:ext>
                </a:extLst>
              </a:tr>
              <a:tr h="400632">
                <a:tc>
                  <a:txBody>
                    <a:bodyPr/>
                    <a:lstStyle/>
                    <a:p>
                      <a:r>
                        <a:rPr lang="en-US" altLang="zh-CN" sz="1600" dirty="0">
                          <a:latin typeface="MS PGothic" panose="020B0600070205080204" pitchFamily="34" charset="-128"/>
                          <a:ea typeface="MS PGothic" panose="020B0600070205080204" pitchFamily="34" charset="-128"/>
                        </a:rPr>
                        <a:t>DB</a:t>
                      </a:r>
                      <a:r>
                        <a:rPr lang="ja-JP" altLang="en-US" sz="1600" dirty="0">
                          <a:latin typeface="MS PGothic" panose="020B0600070205080204" pitchFamily="34" charset="-128"/>
                          <a:ea typeface="MS PGothic" panose="020B0600070205080204" pitchFamily="34" charset="-128"/>
                        </a:rPr>
                        <a:t>サイズ</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50MB</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5GB</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20GB</a:t>
                      </a:r>
                    </a:p>
                  </a:txBody>
                  <a:tcPr anchor="ctr"/>
                </a:tc>
                <a:extLst>
                  <a:ext uri="{0D108BD9-81ED-4DB2-BD59-A6C34878D82A}">
                    <a16:rowId xmlns:a16="http://schemas.microsoft.com/office/drawing/2014/main" val="563866541"/>
                  </a:ext>
                </a:extLst>
              </a:tr>
              <a:tr h="400632">
                <a:tc>
                  <a:txBody>
                    <a:bodyPr/>
                    <a:lstStyle/>
                    <a:p>
                      <a:r>
                        <a:rPr lang="en-US" altLang="zh-CN" sz="1600" dirty="0">
                          <a:latin typeface="MS PGothic" panose="020B0600070205080204" pitchFamily="34" charset="-128"/>
                          <a:ea typeface="MS PGothic" panose="020B0600070205080204" pitchFamily="34" charset="-128"/>
                        </a:rPr>
                        <a:t>Request Rate Limit</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10/minute</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100/minute</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1000/minute</a:t>
                      </a:r>
                    </a:p>
                  </a:txBody>
                  <a:tcPr anchor="ctr"/>
                </a:tc>
                <a:extLst>
                  <a:ext uri="{0D108BD9-81ED-4DB2-BD59-A6C34878D82A}">
                    <a16:rowId xmlns:a16="http://schemas.microsoft.com/office/drawing/2014/main" val="366382685"/>
                  </a:ext>
                </a:extLst>
              </a:tr>
              <a:tr h="400632">
                <a:tc>
                  <a:txBody>
                    <a:bodyPr/>
                    <a:lstStyle/>
                    <a:p>
                      <a:r>
                        <a:rPr lang="en-US" altLang="zh-CN" sz="1600" dirty="0">
                          <a:latin typeface="MS PGothic" panose="020B0600070205080204" pitchFamily="34" charset="-128"/>
                          <a:ea typeface="MS PGothic" panose="020B0600070205080204" pitchFamily="34" charset="-128"/>
                        </a:rPr>
                        <a:t>Log</a:t>
                      </a:r>
                      <a:r>
                        <a:rPr lang="ja-JP" altLang="en-US" sz="1600" dirty="0">
                          <a:latin typeface="MS PGothic" panose="020B0600070205080204" pitchFamily="34" charset="-128"/>
                          <a:ea typeface="MS PGothic" panose="020B0600070205080204" pitchFamily="34" charset="-128"/>
                        </a:rPr>
                        <a:t>保存期間</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30 Days</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Unlimited</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Unlimited</a:t>
                      </a:r>
                    </a:p>
                  </a:txBody>
                  <a:tcPr anchor="ctr"/>
                </a:tc>
                <a:extLst>
                  <a:ext uri="{0D108BD9-81ED-4DB2-BD59-A6C34878D82A}">
                    <a16:rowId xmlns:a16="http://schemas.microsoft.com/office/drawing/2014/main" val="923681105"/>
                  </a:ext>
                </a:extLst>
              </a:tr>
              <a:tr h="400632">
                <a:tc>
                  <a:txBody>
                    <a:bodyPr/>
                    <a:lstStyle/>
                    <a:p>
                      <a:r>
                        <a:rPr lang="ja-JP" altLang="en-US" sz="1600" dirty="0">
                          <a:latin typeface="MS PGothic" panose="020B0600070205080204" pitchFamily="34" charset="-128"/>
                          <a:ea typeface="MS PGothic" panose="020B0600070205080204" pitchFamily="34" charset="-128"/>
                        </a:rPr>
                        <a:t>サポート</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Community, Help docs</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E-mail</a:t>
                      </a:r>
                      <a:endParaRPr lang="zh-CN" altLang="en-US" sz="1600" dirty="0">
                        <a:latin typeface="MS PGothic" panose="020B0600070205080204" pitchFamily="34" charset="-128"/>
                        <a:ea typeface="MS PGothic" panose="020B0600070205080204" pitchFamily="34" charset="-128"/>
                      </a:endParaRPr>
                    </a:p>
                  </a:txBody>
                  <a:tcPr anchor="ctr"/>
                </a:tc>
                <a:tc>
                  <a:txBody>
                    <a:bodyPr/>
                    <a:lstStyle/>
                    <a:p>
                      <a:r>
                        <a:rPr lang="en-US" altLang="zh-CN" sz="1600" dirty="0">
                          <a:latin typeface="MS PGothic" panose="020B0600070205080204" pitchFamily="34" charset="-128"/>
                          <a:ea typeface="MS PGothic" panose="020B0600070205080204" pitchFamily="34" charset="-128"/>
                        </a:rPr>
                        <a:t>E-mail &amp; Slack Chat</a:t>
                      </a:r>
                    </a:p>
                  </a:txBody>
                  <a:tcPr anchor="ctr"/>
                </a:tc>
                <a:extLst>
                  <a:ext uri="{0D108BD9-81ED-4DB2-BD59-A6C34878D82A}">
                    <a16:rowId xmlns:a16="http://schemas.microsoft.com/office/drawing/2014/main" val="529055000"/>
                  </a:ext>
                </a:extLst>
              </a:tr>
            </a:tbl>
          </a:graphicData>
        </a:graphic>
      </p:graphicFrame>
    </p:spTree>
    <p:extLst>
      <p:ext uri="{BB962C8B-B14F-4D97-AF65-F5344CB8AC3E}">
        <p14:creationId xmlns:p14="http://schemas.microsoft.com/office/powerpoint/2010/main" val="40585212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04E15-B404-50CA-9C9D-43FBB84FF583}"/>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90938384-B94C-1E16-D5B0-F060214E081E}"/>
              </a:ext>
            </a:extLst>
          </p:cNvPr>
          <p:cNvSpPr txBox="1"/>
          <p:nvPr/>
        </p:nvSpPr>
        <p:spPr>
          <a:xfrm>
            <a:off x="575036" y="707011"/>
            <a:ext cx="10246936" cy="369332"/>
          </a:xfrm>
          <a:prstGeom prst="rect">
            <a:avLst/>
          </a:prstGeom>
          <a:noFill/>
        </p:spPr>
        <p:txBody>
          <a:bodyPr wrap="square" rtlCol="0">
            <a:spAutoFit/>
          </a:bodyPr>
          <a:lstStyle/>
          <a:p>
            <a:r>
              <a:rPr lang="en-US" altLang="ja-JP" dirty="0">
                <a:latin typeface="Arial" panose="020B0604020202020204" pitchFamily="34" charset="0"/>
                <a:cs typeface="Arial" panose="020B0604020202020204" pitchFamily="34" charset="0"/>
              </a:rPr>
              <a:t>Self-Hosted</a:t>
            </a:r>
            <a:r>
              <a:rPr lang="ja-JP" altLang="en-US" dirty="0">
                <a:latin typeface="Arial" panose="020B0604020202020204" pitchFamily="34" charset="0"/>
                <a:cs typeface="Arial" panose="020B0604020202020204" pitchFamily="34" charset="0"/>
              </a:rPr>
              <a:t>版紹介</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E71D65FB-0B06-0922-19F4-033CF464789F}"/>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F50CE5A7-F317-A9CF-14B5-0503B43D0382}"/>
              </a:ext>
            </a:extLst>
          </p:cNvPr>
          <p:cNvSpPr txBox="1"/>
          <p:nvPr/>
        </p:nvSpPr>
        <p:spPr>
          <a:xfrm>
            <a:off x="575036" y="1459348"/>
            <a:ext cx="10595728" cy="1323439"/>
          </a:xfrm>
          <a:prstGeom prst="rect">
            <a:avLst/>
          </a:prstGeom>
          <a:noFill/>
        </p:spPr>
        <p:txBody>
          <a:bodyPr wrap="square" rtlCol="0">
            <a:spAutoFit/>
          </a:bodyPr>
          <a:lstStyle/>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Self-Hosted</a:t>
            </a:r>
            <a:r>
              <a:rPr lang="ja-JP" altLang="en-US" sz="1600" dirty="0">
                <a:latin typeface="Arial" panose="020B0604020202020204" pitchFamily="34" charset="0"/>
                <a:cs typeface="Arial" panose="020B0604020202020204" pitchFamily="34" charset="0"/>
              </a:rPr>
              <a:t>版は、</a:t>
            </a:r>
            <a:r>
              <a:rPr lang="en-US" altLang="ja-JP" sz="1600" dirty="0">
                <a:latin typeface="Arial" panose="020B0604020202020204" pitchFamily="34" charset="0"/>
                <a:cs typeface="Arial" panose="020B0604020202020204" pitchFamily="34" charset="0"/>
              </a:rPr>
              <a:t>Dify</a:t>
            </a:r>
            <a:r>
              <a:rPr lang="ja-JP" altLang="en-US" sz="1600" dirty="0">
                <a:latin typeface="Arial" panose="020B0604020202020204" pitchFamily="34" charset="0"/>
                <a:cs typeface="Arial" panose="020B0604020202020204" pitchFamily="34" charset="0"/>
              </a:rPr>
              <a:t>を自分自身のサーバーやクラウド環境にインストールして利用できるバージョンです。ソースコードが公開</a:t>
            </a:r>
            <a:r>
              <a:rPr lang="en-US" altLang="ja-JP" sz="1600" dirty="0">
                <a:latin typeface="Arial" panose="020B0604020202020204" pitchFamily="34" charset="0"/>
                <a:cs typeface="Arial" panose="020B0604020202020204" pitchFamily="34" charset="0"/>
              </a:rPr>
              <a:t>OSS</a:t>
            </a:r>
            <a:r>
              <a:rPr lang="ja-JP" altLang="en-US" sz="1600" dirty="0">
                <a:latin typeface="Arial" panose="020B0604020202020204" pitchFamily="34" charset="0"/>
                <a:cs typeface="Arial" panose="020B0604020202020204" pitchFamily="34" charset="0"/>
              </a:rPr>
              <a:t>としても提供されています。セルフホスト版はデータ管理の自由度、カスタマイズ性、利用制限の緩和などの利点があり、それに対して導入・運用の手間、インフラコストがかかります。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1600" dirty="0">
                <a:latin typeface="Arial" panose="020B0604020202020204" pitchFamily="34" charset="0"/>
                <a:cs typeface="Arial" panose="020B0604020202020204" pitchFamily="34" charset="0"/>
              </a:rPr>
              <a:t>以下は、</a:t>
            </a:r>
            <a:r>
              <a:rPr lang="en-US" altLang="ja-JP" sz="1600" dirty="0">
                <a:latin typeface="Arial" panose="020B0604020202020204" pitchFamily="34" charset="0"/>
                <a:cs typeface="Arial" panose="020B0604020202020204" pitchFamily="34" charset="0"/>
              </a:rPr>
              <a:t>Dify Self-Hosted</a:t>
            </a:r>
            <a:r>
              <a:rPr lang="ja-JP" altLang="en-US" sz="1600" dirty="0">
                <a:latin typeface="Arial" panose="020B0604020202020204" pitchFamily="34" charset="0"/>
                <a:cs typeface="Arial" panose="020B0604020202020204" pitchFamily="34" charset="0"/>
              </a:rPr>
              <a:t>版の主要な</a:t>
            </a:r>
            <a:r>
              <a:rPr lang="en-US" altLang="ja-JP" sz="1600" dirty="0">
                <a:latin typeface="Arial" panose="020B0604020202020204" pitchFamily="34" charset="0"/>
                <a:cs typeface="Arial" panose="020B0604020202020204" pitchFamily="34" charset="0"/>
              </a:rPr>
              <a:t>3</a:t>
            </a:r>
            <a:r>
              <a:rPr lang="ja-JP" altLang="en-US" sz="1600" dirty="0">
                <a:latin typeface="Arial" panose="020B0604020202020204" pitchFamily="34" charset="0"/>
                <a:cs typeface="Arial" panose="020B0604020202020204" pitchFamily="34" charset="0"/>
              </a:rPr>
              <a:t>つのプラン</a:t>
            </a:r>
            <a:r>
              <a:rPr lang="en-US" altLang="ja-JP" sz="1600" dirty="0">
                <a:latin typeface="Arial" panose="020B0604020202020204" pitchFamily="34" charset="0"/>
                <a:cs typeface="Arial" panose="020B0604020202020204" pitchFamily="34" charset="0"/>
              </a:rPr>
              <a:t>Community</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Premium</a:t>
            </a:r>
            <a:r>
              <a:rPr lang="ja-JP" altLang="en-US" sz="1600" dirty="0">
                <a:latin typeface="Arial" panose="020B0604020202020204" pitchFamily="34" charset="0"/>
                <a:cs typeface="Arial" panose="020B0604020202020204" pitchFamily="34" charset="0"/>
              </a:rPr>
              <a:t>、</a:t>
            </a:r>
            <a:r>
              <a:rPr lang="en-US" altLang="ja-JP" sz="1600" dirty="0">
                <a:latin typeface="Arial" panose="020B0604020202020204" pitchFamily="34" charset="0"/>
                <a:cs typeface="Arial" panose="020B0604020202020204" pitchFamily="34" charset="0"/>
              </a:rPr>
              <a:t>Enterprise</a:t>
            </a:r>
            <a:r>
              <a:rPr lang="ja-JP" altLang="en-US" sz="1600" dirty="0">
                <a:latin typeface="Arial" panose="020B0604020202020204" pitchFamily="34" charset="0"/>
                <a:cs typeface="Arial" panose="020B0604020202020204" pitchFamily="34" charset="0"/>
              </a:rPr>
              <a:t>の主な違いをまとめた比較表です。</a:t>
            </a:r>
            <a:endParaRPr lang="en-US" altLang="ja-JP" sz="1600" dirty="0">
              <a:latin typeface="Arial" panose="020B0604020202020204" pitchFamily="34" charset="0"/>
              <a:cs typeface="Arial" panose="020B0604020202020204" pitchFamily="34" charset="0"/>
            </a:endParaRPr>
          </a:p>
        </p:txBody>
      </p:sp>
      <p:graphicFrame>
        <p:nvGraphicFramePr>
          <p:cNvPr id="3" name="表格 2">
            <a:extLst>
              <a:ext uri="{FF2B5EF4-FFF2-40B4-BE49-F238E27FC236}">
                <a16:creationId xmlns:a16="http://schemas.microsoft.com/office/drawing/2014/main" id="{81FEA408-1857-D57F-9C2B-F25C5697106E}"/>
              </a:ext>
            </a:extLst>
          </p:cNvPr>
          <p:cNvGraphicFramePr>
            <a:graphicFrameLocks noGrp="1"/>
          </p:cNvGraphicFramePr>
          <p:nvPr>
            <p:extLst>
              <p:ext uri="{D42A27DB-BD31-4B8C-83A1-F6EECF244321}">
                <p14:modId xmlns:p14="http://schemas.microsoft.com/office/powerpoint/2010/main" val="1068388394"/>
              </p:ext>
            </p:extLst>
          </p:nvPr>
        </p:nvGraphicFramePr>
        <p:xfrm>
          <a:off x="655163" y="2320874"/>
          <a:ext cx="10881674" cy="4219416"/>
        </p:xfrm>
        <a:graphic>
          <a:graphicData uri="http://schemas.openxmlformats.org/drawingml/2006/table">
            <a:tbl>
              <a:tblPr firstRow="1" bandRow="1">
                <a:tableStyleId>{5C22544A-7EE6-4342-B048-85BDC9FD1C3A}</a:tableStyleId>
              </a:tblPr>
              <a:tblGrid>
                <a:gridCol w="1828801">
                  <a:extLst>
                    <a:ext uri="{9D8B030D-6E8A-4147-A177-3AD203B41FA5}">
                      <a16:colId xmlns:a16="http://schemas.microsoft.com/office/drawing/2014/main" val="1034333737"/>
                    </a:ext>
                  </a:extLst>
                </a:gridCol>
                <a:gridCol w="2535810">
                  <a:extLst>
                    <a:ext uri="{9D8B030D-6E8A-4147-A177-3AD203B41FA5}">
                      <a16:colId xmlns:a16="http://schemas.microsoft.com/office/drawing/2014/main" val="3549990795"/>
                    </a:ext>
                  </a:extLst>
                </a:gridCol>
                <a:gridCol w="2752627">
                  <a:extLst>
                    <a:ext uri="{9D8B030D-6E8A-4147-A177-3AD203B41FA5}">
                      <a16:colId xmlns:a16="http://schemas.microsoft.com/office/drawing/2014/main" val="3348019054"/>
                    </a:ext>
                  </a:extLst>
                </a:gridCol>
                <a:gridCol w="3764436">
                  <a:extLst>
                    <a:ext uri="{9D8B030D-6E8A-4147-A177-3AD203B41FA5}">
                      <a16:colId xmlns:a16="http://schemas.microsoft.com/office/drawing/2014/main" val="4232210452"/>
                    </a:ext>
                  </a:extLst>
                </a:gridCol>
              </a:tblGrid>
              <a:tr h="328787">
                <a:tc>
                  <a:txBody>
                    <a:bodyPr/>
                    <a:lstStyle/>
                    <a:p>
                      <a:pPr algn="ctr"/>
                      <a:r>
                        <a:rPr lang="en-US" altLang="ja-JP" dirty="0"/>
                        <a:t>Category</a:t>
                      </a:r>
                      <a:endParaRPr lang="zh-CN" altLang="en-US" dirty="0"/>
                    </a:p>
                  </a:txBody>
                  <a:tcPr/>
                </a:tc>
                <a:tc>
                  <a:txBody>
                    <a:bodyPr/>
                    <a:lstStyle/>
                    <a:p>
                      <a:pPr algn="ctr"/>
                      <a:r>
                        <a:rPr lang="en-US" altLang="zh-CN" u="none" dirty="0">
                          <a:solidFill>
                            <a:schemeClr val="bg1"/>
                          </a:solidFill>
                        </a:rPr>
                        <a:t>Community</a:t>
                      </a:r>
                      <a:endParaRPr lang="zh-CN" altLang="en-US" u="none" dirty="0">
                        <a:solidFill>
                          <a:schemeClr val="bg1"/>
                        </a:solidFill>
                      </a:endParaRPr>
                    </a:p>
                  </a:txBody>
                  <a:tcPr/>
                </a:tc>
                <a:tc>
                  <a:txBody>
                    <a:bodyPr/>
                    <a:lstStyle/>
                    <a:p>
                      <a:pPr algn="ctr"/>
                      <a:r>
                        <a:rPr lang="en-US" altLang="ja-JP" u="none" dirty="0">
                          <a:solidFill>
                            <a:schemeClr val="bg1"/>
                          </a:solidFill>
                        </a:rPr>
                        <a:t>Premium</a:t>
                      </a:r>
                      <a:endParaRPr lang="zh-CN" altLang="en-US" u="none" dirty="0">
                        <a:solidFill>
                          <a:schemeClr val="bg1"/>
                        </a:solidFill>
                      </a:endParaRPr>
                    </a:p>
                  </a:txBody>
                  <a:tcPr/>
                </a:tc>
                <a:tc>
                  <a:txBody>
                    <a:bodyPr/>
                    <a:lstStyle/>
                    <a:p>
                      <a:pPr algn="ctr"/>
                      <a:r>
                        <a:rPr lang="en-US" altLang="zh-CN" dirty="0"/>
                        <a:t>Enterprise</a:t>
                      </a:r>
                      <a:endParaRPr lang="zh-CN" altLang="en-US" dirty="0">
                        <a:solidFill>
                          <a:schemeClr val="bg1"/>
                        </a:solidFill>
                      </a:endParaRPr>
                    </a:p>
                  </a:txBody>
                  <a:tcPr/>
                </a:tc>
                <a:extLst>
                  <a:ext uri="{0D108BD9-81ED-4DB2-BD59-A6C34878D82A}">
                    <a16:rowId xmlns:a16="http://schemas.microsoft.com/office/drawing/2014/main" val="460455147"/>
                  </a:ext>
                </a:extLst>
              </a:tr>
              <a:tr h="400632">
                <a:tc>
                  <a:txBody>
                    <a:bodyPr/>
                    <a:lstStyle/>
                    <a:p>
                      <a:r>
                        <a:rPr lang="zh-CN" altLang="en-US" sz="1500" dirty="0">
                          <a:latin typeface="MS PGothic" panose="020B0600070205080204" pitchFamily="34" charset="-128"/>
                          <a:ea typeface="MS PGothic" panose="020B0600070205080204" pitchFamily="34" charset="-128"/>
                        </a:rPr>
                        <a:t>価格</a:t>
                      </a:r>
                    </a:p>
                  </a:txBody>
                  <a:tcPr anchor="ctr"/>
                </a:tc>
                <a:tc>
                  <a:txBody>
                    <a:bodyPr/>
                    <a:lstStyle/>
                    <a:p>
                      <a:r>
                        <a:rPr lang="en-US" altLang="zh-CN" sz="1500" dirty="0">
                          <a:latin typeface="MS PGothic" panose="020B0600070205080204" pitchFamily="34" charset="-128"/>
                          <a:ea typeface="MS PGothic" panose="020B0600070205080204" pitchFamily="34" charset="-128"/>
                        </a:rPr>
                        <a:t>$0</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ja-JP" altLang="en-US" sz="1500" dirty="0">
                          <a:latin typeface="MS PGothic" panose="020B0600070205080204" pitchFamily="34" charset="-128"/>
                          <a:ea typeface="MS PGothic" panose="020B0600070205080204" pitchFamily="34" charset="-128"/>
                        </a:rPr>
                        <a:t>要相談</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zh-CN" altLang="en-US" sz="1500" dirty="0">
                          <a:latin typeface="MS PGothic" panose="020B0600070205080204" pitchFamily="34" charset="-128"/>
                          <a:ea typeface="MS PGothic" panose="020B0600070205080204" pitchFamily="34" charset="-128"/>
                        </a:rPr>
                        <a:t>要相談</a:t>
                      </a:r>
                    </a:p>
                  </a:txBody>
                  <a:tcPr anchor="ctr"/>
                </a:tc>
                <a:extLst>
                  <a:ext uri="{0D108BD9-81ED-4DB2-BD59-A6C34878D82A}">
                    <a16:rowId xmlns:a16="http://schemas.microsoft.com/office/drawing/2014/main" val="3356126220"/>
                  </a:ext>
                </a:extLst>
              </a:tr>
              <a:tr h="400632">
                <a:tc>
                  <a:txBody>
                    <a:bodyPr/>
                    <a:lstStyle/>
                    <a:p>
                      <a:r>
                        <a:rPr lang="ja-JP" altLang="en-US" sz="1500" dirty="0">
                          <a:latin typeface="MS PGothic" panose="020B0600070205080204" pitchFamily="34" charset="-128"/>
                          <a:ea typeface="MS PGothic" panose="020B0600070205080204" pitchFamily="34" charset="-128"/>
                        </a:rPr>
                        <a:t>デプロイ方法</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ja-JP" sz="1500" dirty="0">
                          <a:latin typeface="MS PGothic" panose="020B0600070205080204" pitchFamily="34" charset="-128"/>
                          <a:ea typeface="MS PGothic" panose="020B0600070205080204" pitchFamily="34" charset="-128"/>
                        </a:rPr>
                        <a:t>Self-service</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ja-JP" sz="1500" dirty="0">
                          <a:latin typeface="MS PGothic" panose="020B0600070205080204" pitchFamily="34" charset="-128"/>
                          <a:ea typeface="MS PGothic" panose="020B0600070205080204" pitchFamily="34" charset="-128"/>
                        </a:rPr>
                        <a:t>AWS Marketplace</a:t>
                      </a:r>
                      <a:r>
                        <a:rPr lang="ja-JP" altLang="en-US" sz="1500" dirty="0">
                          <a:latin typeface="MS PGothic" panose="020B0600070205080204" pitchFamily="34" charset="-128"/>
                          <a:ea typeface="MS PGothic" panose="020B0600070205080204" pitchFamily="34" charset="-128"/>
                        </a:rPr>
                        <a:t>から</a:t>
                      </a:r>
                      <a:r>
                        <a:rPr lang="en-US" altLang="ja-JP" sz="1500" dirty="0">
                          <a:latin typeface="MS PGothic" panose="020B0600070205080204" pitchFamily="34" charset="-128"/>
                          <a:ea typeface="MS PGothic" panose="020B0600070205080204" pitchFamily="34" charset="-128"/>
                        </a:rPr>
                        <a:t>EC2</a:t>
                      </a:r>
                      <a:r>
                        <a:rPr lang="ja-JP" altLang="en-US" sz="1500" dirty="0">
                          <a:latin typeface="MS PGothic" panose="020B0600070205080204" pitchFamily="34" charset="-128"/>
                          <a:ea typeface="MS PGothic" panose="020B0600070205080204" pitchFamily="34" charset="-128"/>
                        </a:rPr>
                        <a:t>へのデプロイ（</a:t>
                      </a:r>
                      <a:r>
                        <a:rPr lang="en-US" altLang="ja-JP" sz="1500" dirty="0">
                          <a:latin typeface="MS PGothic" panose="020B0600070205080204" pitchFamily="34" charset="-128"/>
                          <a:ea typeface="MS PGothic" panose="020B0600070205080204" pitchFamily="34" charset="-128"/>
                        </a:rPr>
                        <a:t>Azure</a:t>
                      </a:r>
                      <a:r>
                        <a:rPr lang="ja-JP" altLang="en-US" sz="1500" dirty="0">
                          <a:latin typeface="MS PGothic" panose="020B0600070205080204" pitchFamily="34" charset="-128"/>
                          <a:ea typeface="MS PGothic" panose="020B0600070205080204" pitchFamily="34" charset="-128"/>
                        </a:rPr>
                        <a:t>も開発中）</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ja-JP" sz="1500" dirty="0">
                          <a:latin typeface="MS PGothic" panose="020B0600070205080204" pitchFamily="34" charset="-128"/>
                          <a:ea typeface="MS PGothic" panose="020B0600070205080204" pitchFamily="34" charset="-128"/>
                        </a:rPr>
                        <a:t>Dify</a:t>
                      </a:r>
                      <a:r>
                        <a:rPr lang="ja-JP" altLang="en-US" sz="1500" dirty="0">
                          <a:latin typeface="MS PGothic" panose="020B0600070205080204" pitchFamily="34" charset="-128"/>
                          <a:ea typeface="MS PGothic" panose="020B0600070205080204" pitchFamily="34" charset="-128"/>
                        </a:rPr>
                        <a:t>が提供するクラウドサービスを利用</a:t>
                      </a:r>
                      <a:endParaRPr lang="en-US" altLang="zh-CN" sz="15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56370049"/>
                  </a:ext>
                </a:extLst>
              </a:tr>
              <a:tr h="400632">
                <a:tc>
                  <a:txBody>
                    <a:bodyPr/>
                    <a:lstStyle/>
                    <a:p>
                      <a:r>
                        <a:rPr lang="ja-JP" altLang="en-US" sz="1500" dirty="0">
                          <a:latin typeface="MS PGothic" panose="020B0600070205080204" pitchFamily="34" charset="-128"/>
                          <a:ea typeface="MS PGothic" panose="020B0600070205080204" pitchFamily="34" charset="-128"/>
                        </a:rPr>
                        <a:t>機能</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ja-JP" sz="1500" dirty="0">
                          <a:latin typeface="MS PGothic" panose="020B0600070205080204" pitchFamily="34" charset="-128"/>
                          <a:ea typeface="MS PGothic" panose="020B0600070205080204" pitchFamily="34" charset="-128"/>
                        </a:rPr>
                        <a:t>Dify</a:t>
                      </a:r>
                      <a:r>
                        <a:rPr lang="ja-JP" altLang="en-US" sz="1500" dirty="0">
                          <a:latin typeface="MS PGothic" panose="020B0600070205080204" pitchFamily="34" charset="-128"/>
                          <a:ea typeface="MS PGothic" panose="020B0600070205080204" pitchFamily="34" charset="-128"/>
                        </a:rPr>
                        <a:t>の基本的な機能全般 </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ja-JP" altLang="en-US" sz="1500" dirty="0">
                          <a:latin typeface="MS PGothic" panose="020B0600070205080204" pitchFamily="34" charset="-128"/>
                          <a:ea typeface="MS PGothic" panose="020B0600070205080204" pitchFamily="34" charset="-128"/>
                        </a:rPr>
                        <a:t>基本機能に加え、</a:t>
                      </a:r>
                      <a:r>
                        <a:rPr lang="en-US" altLang="ja-JP" sz="1500" dirty="0">
                          <a:latin typeface="MS PGothic" panose="020B0600070205080204" pitchFamily="34" charset="-128"/>
                          <a:ea typeface="MS PGothic" panose="020B0600070205080204" pitchFamily="34" charset="-128"/>
                        </a:rPr>
                        <a:t>AWS</a:t>
                      </a:r>
                      <a:r>
                        <a:rPr lang="ja-JP" altLang="en-US" sz="1500" dirty="0">
                          <a:latin typeface="MS PGothic" panose="020B0600070205080204" pitchFamily="34" charset="-128"/>
                          <a:ea typeface="MS PGothic" panose="020B0600070205080204" pitchFamily="34" charset="-128"/>
                        </a:rPr>
                        <a:t>でのセキュアなデータ管理、商標と</a:t>
                      </a:r>
                      <a:r>
                        <a:rPr lang="en-US" altLang="ja-JP" sz="1500" dirty="0">
                          <a:latin typeface="MS PGothic" panose="020B0600070205080204" pitchFamily="34" charset="-128"/>
                          <a:ea typeface="MS PGothic" panose="020B0600070205080204" pitchFamily="34" charset="-128"/>
                        </a:rPr>
                        <a:t>Logo</a:t>
                      </a:r>
                      <a:r>
                        <a:rPr lang="ja-JP" altLang="en-US" sz="1500" dirty="0">
                          <a:latin typeface="MS PGothic" panose="020B0600070205080204" pitchFamily="34" charset="-128"/>
                          <a:ea typeface="MS PGothic" panose="020B0600070205080204" pitchFamily="34" charset="-128"/>
                        </a:rPr>
                        <a:t>等のカスタマイズオプション</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ja-JP" sz="1500" dirty="0">
                          <a:latin typeface="MS PGothic" panose="020B0600070205080204" pitchFamily="34" charset="-128"/>
                          <a:ea typeface="MS PGothic" panose="020B0600070205080204" pitchFamily="34" charset="-128"/>
                        </a:rPr>
                        <a:t>Premium</a:t>
                      </a:r>
                      <a:r>
                        <a:rPr lang="ja-JP" altLang="en-US" sz="1500" dirty="0">
                          <a:latin typeface="MS PGothic" panose="020B0600070205080204" pitchFamily="34" charset="-128"/>
                          <a:ea typeface="MS PGothic" panose="020B0600070205080204" pitchFamily="34" charset="-128"/>
                        </a:rPr>
                        <a:t>機能に加え、</a:t>
                      </a:r>
                      <a:r>
                        <a:rPr lang="en-US" altLang="ja-JP" sz="1500" dirty="0">
                          <a:latin typeface="MS PGothic" panose="020B0600070205080204" pitchFamily="34" charset="-128"/>
                          <a:ea typeface="MS PGothic" panose="020B0600070205080204" pitchFamily="34" charset="-128"/>
                        </a:rPr>
                        <a:t>SSO</a:t>
                      </a:r>
                      <a:r>
                        <a:rPr lang="ja-JP" altLang="en-US" sz="1500" dirty="0">
                          <a:latin typeface="MS PGothic" panose="020B0600070205080204" pitchFamily="34" charset="-128"/>
                          <a:ea typeface="MS PGothic" panose="020B0600070205080204" pitchFamily="34" charset="-128"/>
                        </a:rPr>
                        <a:t>による統合認証、複数ワークスペース管理、アプリケーション作成数無制限、高度なアクセス制御、大規模データ処理対応など、大企業向けの機能</a:t>
                      </a:r>
                      <a:endParaRPr lang="en-US" altLang="zh-CN" sz="15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390922883"/>
                  </a:ext>
                </a:extLst>
              </a:tr>
              <a:tr h="400632">
                <a:tc>
                  <a:txBody>
                    <a:bodyPr/>
                    <a:lstStyle/>
                    <a:p>
                      <a:r>
                        <a:rPr lang="ja-JP" altLang="en-US" sz="1500" dirty="0">
                          <a:latin typeface="MS PGothic" panose="020B0600070205080204" pitchFamily="34" charset="-128"/>
                          <a:ea typeface="MS PGothic" panose="020B0600070205080204" pitchFamily="34" charset="-128"/>
                        </a:rPr>
                        <a:t>データ管理</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ja-JP" sz="1500" dirty="0">
                          <a:latin typeface="MS PGothic" panose="020B0600070205080204" pitchFamily="34" charset="-128"/>
                          <a:ea typeface="MS PGothic" panose="020B0600070205080204" pitchFamily="34" charset="-128"/>
                        </a:rPr>
                        <a:t>Self-service</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zh-CN" sz="1500" dirty="0">
                          <a:latin typeface="MS PGothic" panose="020B0600070205080204" pitchFamily="34" charset="-128"/>
                          <a:ea typeface="MS PGothic" panose="020B0600070205080204" pitchFamily="34" charset="-128"/>
                        </a:rPr>
                        <a:t>AWS</a:t>
                      </a:r>
                      <a:r>
                        <a:rPr lang="ja-JP" altLang="en-US" sz="1500" dirty="0">
                          <a:latin typeface="MS PGothic" panose="020B0600070205080204" pitchFamily="34" charset="-128"/>
                          <a:ea typeface="MS PGothic" panose="020B0600070205080204" pitchFamily="34" charset="-128"/>
                        </a:rPr>
                        <a:t>上で</a:t>
                      </a:r>
                      <a:r>
                        <a:rPr lang="zh-CN" altLang="en-US" sz="1500" dirty="0">
                          <a:latin typeface="MS PGothic" panose="020B0600070205080204" pitchFamily="34" charset="-128"/>
                          <a:ea typeface="MS PGothic" panose="020B0600070205080204" pitchFamily="34" charset="-128"/>
                        </a:rPr>
                        <a:t>自社管理</a:t>
                      </a:r>
                    </a:p>
                  </a:txBody>
                  <a:tcPr anchor="ctr"/>
                </a:tc>
                <a:tc>
                  <a:txBody>
                    <a:bodyPr/>
                    <a:lstStyle/>
                    <a:p>
                      <a:r>
                        <a:rPr lang="en-US" altLang="ja-JP" sz="1500" dirty="0">
                          <a:latin typeface="MS PGothic" panose="020B0600070205080204" pitchFamily="34" charset="-128"/>
                          <a:ea typeface="MS PGothic" panose="020B0600070205080204" pitchFamily="34" charset="-128"/>
                        </a:rPr>
                        <a:t>Dify Cloud</a:t>
                      </a:r>
                      <a:r>
                        <a:rPr lang="ja-JP" altLang="en-US" sz="1500" dirty="0">
                          <a:latin typeface="MS PGothic" panose="020B0600070205080204" pitchFamily="34" charset="-128"/>
                          <a:ea typeface="MS PGothic" panose="020B0600070205080204" pitchFamily="34" charset="-128"/>
                        </a:rPr>
                        <a:t>上で管理される</a:t>
                      </a:r>
                      <a:endParaRPr lang="en-US" altLang="zh-CN" sz="15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3599334861"/>
                  </a:ext>
                </a:extLst>
              </a:tr>
              <a:tr h="400632">
                <a:tc>
                  <a:txBody>
                    <a:bodyPr/>
                    <a:lstStyle/>
                    <a:p>
                      <a:r>
                        <a:rPr lang="ja-JP" altLang="en-US" sz="1500" dirty="0">
                          <a:latin typeface="MS PGothic" panose="020B0600070205080204" pitchFamily="34" charset="-128"/>
                          <a:ea typeface="MS PGothic" panose="020B0600070205080204" pitchFamily="34" charset="-128"/>
                        </a:rPr>
                        <a:t>カスタマイズ</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ja-JP" altLang="en-US" sz="1500" dirty="0">
                          <a:latin typeface="MS PGothic" panose="020B0600070205080204" pitchFamily="34" charset="-128"/>
                          <a:ea typeface="MS PGothic" panose="020B0600070205080204" pitchFamily="34" charset="-128"/>
                        </a:rPr>
                        <a:t>ソースコードレベルで可能</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ja-JP" altLang="en-US" sz="1500" dirty="0">
                          <a:latin typeface="MS PGothic" panose="020B0600070205080204" pitchFamily="34" charset="-128"/>
                          <a:ea typeface="MS PGothic" panose="020B0600070205080204" pitchFamily="34" charset="-128"/>
                        </a:rPr>
                        <a:t>商標と</a:t>
                      </a:r>
                      <a:r>
                        <a:rPr lang="en-US" altLang="ja-JP" sz="1500" dirty="0">
                          <a:latin typeface="MS PGothic" panose="020B0600070205080204" pitchFamily="34" charset="-128"/>
                          <a:ea typeface="MS PGothic" panose="020B0600070205080204" pitchFamily="34" charset="-128"/>
                        </a:rPr>
                        <a:t>Logo</a:t>
                      </a:r>
                      <a:r>
                        <a:rPr lang="ja-JP" altLang="en-US" sz="1500" dirty="0">
                          <a:latin typeface="MS PGothic" panose="020B0600070205080204" pitchFamily="34" charset="-128"/>
                          <a:ea typeface="MS PGothic" panose="020B0600070205080204" pitchFamily="34" charset="-128"/>
                        </a:rPr>
                        <a:t>等のカスタマイズ可能</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ja-JP" altLang="en-US" sz="1500" dirty="0">
                          <a:latin typeface="MS PGothic" panose="020B0600070205080204" pitchFamily="34" charset="-128"/>
                          <a:ea typeface="MS PGothic" panose="020B0600070205080204" pitchFamily="34" charset="-128"/>
                        </a:rPr>
                        <a:t>要相談</a:t>
                      </a:r>
                      <a:endParaRPr lang="en-US" altLang="zh-CN" sz="15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563866541"/>
                  </a:ext>
                </a:extLst>
              </a:tr>
              <a:tr h="400632">
                <a:tc>
                  <a:txBody>
                    <a:bodyPr/>
                    <a:lstStyle/>
                    <a:p>
                      <a:r>
                        <a:rPr lang="ja-JP" altLang="en-US" sz="1500" dirty="0">
                          <a:latin typeface="MS PGothic" panose="020B0600070205080204" pitchFamily="34" charset="-128"/>
                          <a:ea typeface="MS PGothic" panose="020B0600070205080204" pitchFamily="34" charset="-128"/>
                        </a:rPr>
                        <a:t>サポート</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zh-CN" sz="1500" dirty="0">
                          <a:latin typeface="MS PGothic" panose="020B0600070205080204" pitchFamily="34" charset="-128"/>
                          <a:ea typeface="MS PGothic" panose="020B0600070205080204" pitchFamily="34" charset="-128"/>
                        </a:rPr>
                        <a:t>Community, Help docs</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zh-CN" sz="1500" dirty="0">
                          <a:latin typeface="MS PGothic" panose="020B0600070205080204" pitchFamily="34" charset="-128"/>
                          <a:ea typeface="MS PGothic" panose="020B0600070205080204" pitchFamily="34" charset="-128"/>
                        </a:rPr>
                        <a:t>E-mail</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zh-CN" sz="1500" dirty="0">
                          <a:latin typeface="MS PGothic" panose="020B0600070205080204" pitchFamily="34" charset="-128"/>
                          <a:ea typeface="MS PGothic" panose="020B0600070205080204" pitchFamily="34" charset="-128"/>
                        </a:rPr>
                        <a:t>E-mail &amp; 7x24</a:t>
                      </a:r>
                      <a:r>
                        <a:rPr lang="ja-JP" altLang="en-US" sz="1500" dirty="0">
                          <a:latin typeface="MS PGothic" panose="020B0600070205080204" pitchFamily="34" charset="-128"/>
                          <a:ea typeface="MS PGothic" panose="020B0600070205080204" pitchFamily="34" charset="-128"/>
                        </a:rPr>
                        <a:t> </a:t>
                      </a:r>
                      <a:r>
                        <a:rPr lang="en-US" altLang="ja-JP" sz="1500" dirty="0">
                          <a:latin typeface="MS PGothic" panose="020B0600070205080204" pitchFamily="34" charset="-128"/>
                          <a:ea typeface="MS PGothic" panose="020B0600070205080204" pitchFamily="34" charset="-128"/>
                        </a:rPr>
                        <a:t>CSR</a:t>
                      </a:r>
                      <a:endParaRPr lang="en-US" altLang="zh-CN" sz="15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366382685"/>
                  </a:ext>
                </a:extLst>
              </a:tr>
              <a:tr h="400632">
                <a:tc>
                  <a:txBody>
                    <a:bodyPr/>
                    <a:lstStyle/>
                    <a:p>
                      <a:r>
                        <a:rPr lang="ja-JP" altLang="en-US" sz="1500" dirty="0">
                          <a:latin typeface="MS PGothic" panose="020B0600070205080204" pitchFamily="34" charset="-128"/>
                          <a:ea typeface="MS PGothic" panose="020B0600070205080204" pitchFamily="34" charset="-128"/>
                        </a:rPr>
                        <a:t>対象ユーザー</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ja-JP" altLang="en-US" sz="1500" dirty="0">
                          <a:latin typeface="MS PGothic" panose="020B0600070205080204" pitchFamily="34" charset="-128"/>
                          <a:ea typeface="MS PGothic" panose="020B0600070205080204" pitchFamily="34" charset="-128"/>
                        </a:rPr>
                        <a:t>データ管理やカスタマイズをできるチーム</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en-US" altLang="ja-JP" sz="1500" dirty="0">
                          <a:latin typeface="MS PGothic" panose="020B0600070205080204" pitchFamily="34" charset="-128"/>
                          <a:ea typeface="MS PGothic" panose="020B0600070205080204" pitchFamily="34" charset="-128"/>
                        </a:rPr>
                        <a:t>AWS</a:t>
                      </a:r>
                      <a:r>
                        <a:rPr lang="ja-JP" altLang="en-US" sz="1500" dirty="0">
                          <a:latin typeface="MS PGothic" panose="020B0600070205080204" pitchFamily="34" charset="-128"/>
                          <a:ea typeface="MS PGothic" panose="020B0600070205080204" pitchFamily="34" charset="-128"/>
                        </a:rPr>
                        <a:t>環境でセキュアかつ柔軟に運用したい中小組織</a:t>
                      </a:r>
                      <a:endParaRPr lang="zh-CN" altLang="en-US" sz="1500" dirty="0">
                        <a:latin typeface="MS PGothic" panose="020B0600070205080204" pitchFamily="34" charset="-128"/>
                        <a:ea typeface="MS PGothic" panose="020B0600070205080204" pitchFamily="34" charset="-128"/>
                      </a:endParaRPr>
                    </a:p>
                  </a:txBody>
                  <a:tcPr anchor="ctr"/>
                </a:tc>
                <a:tc>
                  <a:txBody>
                    <a:bodyPr/>
                    <a:lstStyle/>
                    <a:p>
                      <a:r>
                        <a:rPr lang="ja-JP" altLang="en-US" sz="1500" dirty="0">
                          <a:latin typeface="MS PGothic" panose="020B0600070205080204" pitchFamily="34" charset="-128"/>
                          <a:ea typeface="MS PGothic" panose="020B0600070205080204" pitchFamily="34" charset="-128"/>
                        </a:rPr>
                        <a:t>高度なセキュリティ、管理機能、手厚いサポートを必要とする大規模組織</a:t>
                      </a:r>
                      <a:endParaRPr lang="en-US" altLang="zh-CN" sz="1500" dirty="0">
                        <a:latin typeface="MS PGothic" panose="020B0600070205080204" pitchFamily="34" charset="-128"/>
                        <a:ea typeface="MS PGothic" panose="020B0600070205080204" pitchFamily="34" charset="-128"/>
                      </a:endParaRPr>
                    </a:p>
                  </a:txBody>
                  <a:tcPr anchor="ctr"/>
                </a:tc>
                <a:extLst>
                  <a:ext uri="{0D108BD9-81ED-4DB2-BD59-A6C34878D82A}">
                    <a16:rowId xmlns:a16="http://schemas.microsoft.com/office/drawing/2014/main" val="923681105"/>
                  </a:ext>
                </a:extLst>
              </a:tr>
            </a:tbl>
          </a:graphicData>
        </a:graphic>
      </p:graphicFrame>
    </p:spTree>
    <p:extLst>
      <p:ext uri="{BB962C8B-B14F-4D97-AF65-F5344CB8AC3E}">
        <p14:creationId xmlns:p14="http://schemas.microsoft.com/office/powerpoint/2010/main" val="40465996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26405-811A-CEFF-C3D0-D7708E7075AC}"/>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7C7CDA9-B709-3C37-9D47-E67F27B9C535}"/>
              </a:ext>
            </a:extLst>
          </p:cNvPr>
          <p:cNvSpPr txBox="1"/>
          <p:nvPr/>
        </p:nvSpPr>
        <p:spPr>
          <a:xfrm>
            <a:off x="575036" y="707011"/>
            <a:ext cx="10246936" cy="369332"/>
          </a:xfrm>
          <a:prstGeom prst="rect">
            <a:avLst/>
          </a:prstGeom>
          <a:noFill/>
        </p:spPr>
        <p:txBody>
          <a:bodyPr wrap="square" rtlCol="0">
            <a:spAutoFit/>
          </a:bodyPr>
          <a:lstStyle/>
          <a:p>
            <a:r>
              <a:rPr lang="en-US" altLang="ja-JP" dirty="0">
                <a:latin typeface="Arial" panose="020B0604020202020204" pitchFamily="34" charset="0"/>
                <a:cs typeface="Arial" panose="020B0604020202020204" pitchFamily="34" charset="0"/>
              </a:rPr>
              <a:t>OSS</a:t>
            </a:r>
            <a:r>
              <a:rPr lang="ja-JP" altLang="en-US" dirty="0">
                <a:latin typeface="Arial" panose="020B0604020202020204" pitchFamily="34" charset="0"/>
                <a:cs typeface="Arial" panose="020B0604020202020204" pitchFamily="34" charset="0"/>
              </a:rPr>
              <a:t>版の商用環境の利用について</a:t>
            </a:r>
            <a:endParaRPr lang="zh-CN" altLang="en-US" dirty="0">
              <a:latin typeface="Arial" panose="020B0604020202020204" pitchFamily="34" charset="0"/>
              <a:cs typeface="Arial" panose="020B0604020202020204" pitchFamily="34" charset="0"/>
            </a:endParaRPr>
          </a:p>
        </p:txBody>
      </p:sp>
      <p:cxnSp>
        <p:nvCxnSpPr>
          <p:cNvPr id="6" name="直接连接符 5">
            <a:extLst>
              <a:ext uri="{FF2B5EF4-FFF2-40B4-BE49-F238E27FC236}">
                <a16:creationId xmlns:a16="http://schemas.microsoft.com/office/drawing/2014/main" id="{ED443524-CE50-0FE5-7FA6-D3A4BA3804BF}"/>
              </a:ext>
            </a:extLst>
          </p:cNvPr>
          <p:cNvCxnSpPr>
            <a:cxnSpLocks/>
          </p:cNvCxnSpPr>
          <p:nvPr/>
        </p:nvCxnSpPr>
        <p:spPr>
          <a:xfrm>
            <a:off x="480767" y="1216058"/>
            <a:ext cx="11019934"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1517CD7-4A18-FB2F-1728-0CA28107BAC2}"/>
              </a:ext>
            </a:extLst>
          </p:cNvPr>
          <p:cNvSpPr txBox="1"/>
          <p:nvPr/>
        </p:nvSpPr>
        <p:spPr>
          <a:xfrm>
            <a:off x="575036" y="1459348"/>
            <a:ext cx="10595728" cy="4578176"/>
          </a:xfrm>
          <a:prstGeom prst="rect">
            <a:avLst/>
          </a:prstGeom>
          <a:noFill/>
        </p:spPr>
        <p:txBody>
          <a:bodyPr wrap="square" rtlCol="0">
            <a:spAutoFit/>
          </a:bodyPr>
          <a:lstStyle/>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Dify</a:t>
            </a:r>
            <a:r>
              <a:rPr lang="ja-JP" altLang="en-US" sz="1600" dirty="0">
                <a:latin typeface="Arial" panose="020B0604020202020204" pitchFamily="34" charset="0"/>
                <a:cs typeface="Arial" panose="020B0604020202020204" pitchFamily="34" charset="0"/>
              </a:rPr>
              <a:t>の</a:t>
            </a:r>
            <a:r>
              <a:rPr lang="en-US" altLang="ja-JP" sz="1600" dirty="0">
                <a:latin typeface="Arial" panose="020B0604020202020204" pitchFamily="34" charset="0"/>
                <a:cs typeface="Arial" panose="020B0604020202020204" pitchFamily="34" charset="0"/>
              </a:rPr>
              <a:t>OSS</a:t>
            </a:r>
            <a:r>
              <a:rPr lang="ja-JP" altLang="en-US" sz="1600" dirty="0">
                <a:latin typeface="Arial" panose="020B0604020202020204" pitchFamily="34" charset="0"/>
                <a:cs typeface="Arial" panose="020B0604020202020204" pitchFamily="34" charset="0"/>
              </a:rPr>
              <a:t>版は、「</a:t>
            </a:r>
            <a:r>
              <a:rPr lang="en-US" altLang="ja-JP" sz="1600" dirty="0">
                <a:latin typeface="Arial" panose="020B0604020202020204" pitchFamily="34" charset="0"/>
                <a:cs typeface="Arial" panose="020B0604020202020204" pitchFamily="34" charset="0"/>
              </a:rPr>
              <a:t>Apache License 2.0</a:t>
            </a:r>
            <a:r>
              <a:rPr lang="ja-JP" altLang="en-US" sz="1600" dirty="0">
                <a:latin typeface="Arial" panose="020B0604020202020204" pitchFamily="34" charset="0"/>
                <a:cs typeface="Arial" panose="020B0604020202020204" pitchFamily="34" charset="0"/>
              </a:rPr>
              <a:t>」をベースにした修正版ライセンスの下で提供されています。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altLang="ja-JP" sz="1600" dirty="0">
                <a:latin typeface="Arial" panose="020B0604020202020204" pitchFamily="34" charset="0"/>
                <a:cs typeface="Arial" panose="020B0604020202020204" pitchFamily="34" charset="0"/>
              </a:rPr>
              <a:t>OSS</a:t>
            </a:r>
            <a:r>
              <a:rPr lang="ja-JP" altLang="en-US" sz="1600" dirty="0">
                <a:latin typeface="Arial" panose="020B0604020202020204" pitchFamily="34" charset="0"/>
                <a:cs typeface="Arial" panose="020B0604020202020204" pitchFamily="34" charset="0"/>
              </a:rPr>
              <a:t>版は、自社内での利用や、自社サービスのバックエンドとしての利用など、多くの商用目的で無料で利用できます。しかし、</a:t>
            </a:r>
            <a:r>
              <a:rPr lang="en-US" altLang="ja-JP" sz="1600" dirty="0">
                <a:latin typeface="Arial" panose="020B0604020202020204" pitchFamily="34" charset="0"/>
                <a:cs typeface="Arial" panose="020B0604020202020204" pitchFamily="34" charset="0"/>
              </a:rPr>
              <a:t>Dify</a:t>
            </a:r>
            <a:r>
              <a:rPr lang="ja-JP" altLang="en-US" sz="1600" dirty="0">
                <a:latin typeface="Arial" panose="020B0604020202020204" pitchFamily="34" charset="0"/>
                <a:cs typeface="Arial" panose="020B0604020202020204" pitchFamily="34" charset="0"/>
              </a:rPr>
              <a:t>自体を</a:t>
            </a:r>
            <a:r>
              <a:rPr lang="en-US" altLang="ja-JP" sz="1600" dirty="0">
                <a:latin typeface="Arial" panose="020B0604020202020204" pitchFamily="34" charset="0"/>
                <a:cs typeface="Arial" panose="020B0604020202020204" pitchFamily="34" charset="0"/>
              </a:rPr>
              <a:t>SaaS</a:t>
            </a:r>
            <a:r>
              <a:rPr lang="ja-JP" altLang="en-US" sz="1600" dirty="0">
                <a:latin typeface="Arial" panose="020B0604020202020204" pitchFamily="34" charset="0"/>
                <a:cs typeface="Arial" panose="020B0604020202020204" pitchFamily="34" charset="0"/>
              </a:rPr>
              <a:t>のようなマルチテナントサービスとして他者に提供する場合や、</a:t>
            </a:r>
            <a:r>
              <a:rPr lang="en-US" altLang="ja-JP" sz="1600" dirty="0">
                <a:latin typeface="Arial" panose="020B0604020202020204" pitchFamily="34" charset="0"/>
                <a:cs typeface="Arial" panose="020B0604020202020204" pitchFamily="34" charset="0"/>
              </a:rPr>
              <a:t>Web</a:t>
            </a:r>
            <a:r>
              <a:rPr lang="ja-JP" altLang="en-US" sz="1600" dirty="0">
                <a:latin typeface="Arial" panose="020B0604020202020204" pitchFamily="34" charset="0"/>
                <a:cs typeface="Arial" panose="020B0604020202020204" pitchFamily="34" charset="0"/>
              </a:rPr>
              <a:t>インターフェースのロゴ・著作権表示を変更・削除する場合には、別途</a:t>
            </a:r>
            <a:r>
              <a:rPr lang="en-US" altLang="ja-JP" sz="1600" dirty="0">
                <a:latin typeface="Arial" panose="020B0604020202020204" pitchFamily="34" charset="0"/>
                <a:cs typeface="Arial" panose="020B0604020202020204" pitchFamily="34" charset="0"/>
              </a:rPr>
              <a:t>Dify</a:t>
            </a:r>
            <a:r>
              <a:rPr lang="ja-JP" altLang="en-US" sz="1600" dirty="0">
                <a:latin typeface="Arial" panose="020B0604020202020204" pitchFamily="34" charset="0"/>
                <a:cs typeface="Arial" panose="020B0604020202020204" pitchFamily="34" charset="0"/>
              </a:rPr>
              <a:t>との間で商用ライセンス契約が必要になります。</a:t>
            </a:r>
            <a:endParaRPr lang="en-US" altLang="ja-JP"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altLang="ja-JP" sz="1600" b="1" i="0" dirty="0">
              <a:solidFill>
                <a:srgbClr val="1A1C1E"/>
              </a:solidFill>
              <a:effectLst/>
              <a:latin typeface="Arial" panose="020B0604020202020204" pitchFamily="34" charset="0"/>
              <a:ea typeface="+mj-ea"/>
              <a:cs typeface="Arial" panose="020B0604020202020204" pitchFamily="34" charset="0"/>
            </a:endParaRPr>
          </a:p>
          <a:p>
            <a:pPr marL="285750" indent="-285750">
              <a:buFont typeface="Arial" panose="020B0604020202020204" pitchFamily="34" charset="0"/>
              <a:buChar char="•"/>
            </a:pPr>
            <a:r>
              <a:rPr lang="ja-JP" altLang="en-US" sz="1600" b="1" i="0" dirty="0">
                <a:solidFill>
                  <a:srgbClr val="1A1C1E"/>
                </a:solidFill>
                <a:effectLst/>
                <a:latin typeface="+mj-ea"/>
                <a:ea typeface="+mj-ea"/>
              </a:rPr>
              <a:t>マルチテナントサービスとしての提供</a:t>
            </a:r>
            <a:r>
              <a:rPr lang="en-US" altLang="ja-JP" sz="1600" b="1" i="0" dirty="0">
                <a:solidFill>
                  <a:srgbClr val="1A1C1E"/>
                </a:solidFill>
                <a:effectLst/>
                <a:latin typeface="+mj-ea"/>
                <a:ea typeface="+mj-ea"/>
              </a:rPr>
              <a:t>:</a:t>
            </a:r>
          </a:p>
          <a:p>
            <a:pPr marL="742950" lvl="1" indent="-285750">
              <a:buFont typeface="Wingdings" panose="05000000000000000000" pitchFamily="2" charset="2"/>
              <a:buChar char="ü"/>
            </a:pPr>
            <a:r>
              <a:rPr lang="en-US" altLang="ja-JP" sz="1600" b="0" i="0" dirty="0">
                <a:solidFill>
                  <a:srgbClr val="1A1C1E"/>
                </a:solidFill>
                <a:effectLst/>
                <a:latin typeface="+mj-ea"/>
                <a:ea typeface="+mj-ea"/>
              </a:rPr>
              <a:t>Dify</a:t>
            </a:r>
            <a:r>
              <a:rPr lang="ja-JP" altLang="en-US" sz="1600" b="0" i="0" dirty="0">
                <a:solidFill>
                  <a:srgbClr val="1A1C1E"/>
                </a:solidFill>
                <a:effectLst/>
                <a:latin typeface="+mj-ea"/>
                <a:ea typeface="+mj-ea"/>
              </a:rPr>
              <a:t>からの書面による明示的な許可がない限り、</a:t>
            </a:r>
            <a:r>
              <a:rPr lang="en-US" altLang="ja-JP" sz="1600" b="0" i="0" dirty="0">
                <a:solidFill>
                  <a:srgbClr val="1A1C1E"/>
                </a:solidFill>
                <a:effectLst/>
                <a:latin typeface="+mj-ea"/>
                <a:ea typeface="+mj-ea"/>
              </a:rPr>
              <a:t>Dify</a:t>
            </a:r>
            <a:r>
              <a:rPr lang="ja-JP" altLang="en-US" sz="1600" b="0" i="0" dirty="0">
                <a:solidFill>
                  <a:srgbClr val="1A1C1E"/>
                </a:solidFill>
                <a:effectLst/>
                <a:latin typeface="+mj-ea"/>
                <a:ea typeface="+mj-ea"/>
              </a:rPr>
              <a:t>のソースコードを使用</a:t>
            </a:r>
            <a:r>
              <a:rPr lang="ja-JP" altLang="en-US" sz="1600" i="0" dirty="0">
                <a:solidFill>
                  <a:srgbClr val="1A1C1E"/>
                </a:solidFill>
                <a:effectLst/>
                <a:latin typeface="+mj-ea"/>
                <a:ea typeface="+mj-ea"/>
              </a:rPr>
              <a:t>してマルチテナント環境を構築し、サービスとして提供することはできません。</a:t>
            </a:r>
            <a:endParaRPr lang="en-US" altLang="ja-JP" sz="1600" dirty="0">
              <a:solidFill>
                <a:srgbClr val="1A1C1E"/>
              </a:solidFill>
              <a:latin typeface="+mj-ea"/>
              <a:ea typeface="+mj-ea"/>
            </a:endParaRPr>
          </a:p>
          <a:p>
            <a:pPr marL="742950" lvl="1" indent="-285750">
              <a:buFont typeface="Wingdings" panose="05000000000000000000" pitchFamily="2" charset="2"/>
              <a:buChar char="ü"/>
            </a:pPr>
            <a:r>
              <a:rPr lang="ja-JP" altLang="en-US" sz="1600" b="0" i="0" dirty="0">
                <a:solidFill>
                  <a:srgbClr val="1A1C1E"/>
                </a:solidFill>
                <a:effectLst/>
                <a:latin typeface="+mj-ea"/>
                <a:ea typeface="+mj-ea"/>
              </a:rPr>
              <a:t>ここで言う「テナント」とは、</a:t>
            </a:r>
            <a:r>
              <a:rPr lang="en-US" altLang="ja-JP" sz="1600" b="0" i="0" dirty="0">
                <a:solidFill>
                  <a:srgbClr val="1A1C1E"/>
                </a:solidFill>
                <a:effectLst/>
                <a:latin typeface="+mj-ea"/>
                <a:ea typeface="+mj-ea"/>
              </a:rPr>
              <a:t>Dify</a:t>
            </a:r>
            <a:r>
              <a:rPr lang="ja-JP" altLang="en-US" sz="1600" b="0" i="0" dirty="0">
                <a:solidFill>
                  <a:srgbClr val="1A1C1E"/>
                </a:solidFill>
                <a:effectLst/>
                <a:latin typeface="+mj-ea"/>
                <a:ea typeface="+mj-ea"/>
              </a:rPr>
              <a:t>における「</a:t>
            </a:r>
            <a:r>
              <a:rPr lang="en-US" altLang="ja-JP" sz="1600" b="0" i="0" dirty="0">
                <a:solidFill>
                  <a:srgbClr val="1A1C1E"/>
                </a:solidFill>
                <a:effectLst/>
                <a:latin typeface="+mj-ea"/>
                <a:ea typeface="+mj-ea"/>
              </a:rPr>
              <a:t>Workspace</a:t>
            </a:r>
            <a:r>
              <a:rPr lang="ja-JP" altLang="en-US" sz="1600" b="0" i="0" dirty="0">
                <a:solidFill>
                  <a:srgbClr val="1A1C1E"/>
                </a:solidFill>
                <a:effectLst/>
                <a:latin typeface="+mj-ea"/>
                <a:ea typeface="+mj-ea"/>
              </a:rPr>
              <a:t>」に相当します。つまり、複数の顧客や組織に対して、それぞれ独立したワークスペースを提供するような</a:t>
            </a:r>
            <a:r>
              <a:rPr lang="en-US" altLang="ja-JP" sz="1600" b="0" i="0" dirty="0">
                <a:solidFill>
                  <a:srgbClr val="1A1C1E"/>
                </a:solidFill>
                <a:effectLst/>
                <a:latin typeface="+mj-ea"/>
                <a:ea typeface="+mj-ea"/>
              </a:rPr>
              <a:t>SaaS</a:t>
            </a:r>
            <a:r>
              <a:rPr lang="ja-JP" altLang="en-US" sz="1600" b="0" i="0" dirty="0">
                <a:solidFill>
                  <a:srgbClr val="1A1C1E"/>
                </a:solidFill>
                <a:effectLst/>
                <a:latin typeface="+mj-ea"/>
                <a:ea typeface="+mj-ea"/>
              </a:rPr>
              <a:t>形態での利用は、標準の</a:t>
            </a:r>
            <a:r>
              <a:rPr lang="en-US" altLang="ja-JP" sz="1600" b="0" i="0" dirty="0">
                <a:solidFill>
                  <a:srgbClr val="1A1C1E"/>
                </a:solidFill>
                <a:effectLst/>
                <a:latin typeface="+mj-ea"/>
                <a:ea typeface="+mj-ea"/>
              </a:rPr>
              <a:t>OSS</a:t>
            </a:r>
            <a:r>
              <a:rPr lang="ja-JP" altLang="en-US" sz="1600" b="0" i="0" dirty="0">
                <a:solidFill>
                  <a:srgbClr val="1A1C1E"/>
                </a:solidFill>
                <a:effectLst/>
                <a:latin typeface="+mj-ea"/>
                <a:ea typeface="+mj-ea"/>
              </a:rPr>
              <a:t>ライセンスでは許可されておらず、商用ライセンスが必要となります。</a:t>
            </a:r>
            <a:endParaRPr lang="en-US" altLang="ja-JP" sz="1600" b="0" i="0" dirty="0">
              <a:solidFill>
                <a:srgbClr val="1A1C1E"/>
              </a:solidFill>
              <a:effectLst/>
              <a:latin typeface="+mj-ea"/>
              <a:ea typeface="+mj-ea"/>
            </a:endParaRPr>
          </a:p>
          <a:p>
            <a:pPr marL="742950" lvl="1" indent="-285750">
              <a:buFont typeface="Wingdings" panose="05000000000000000000" pitchFamily="2" charset="2"/>
              <a:buChar char="ü"/>
            </a:pPr>
            <a:endParaRPr lang="ja-JP" altLang="en-US" sz="1600" b="0" i="0" dirty="0">
              <a:solidFill>
                <a:srgbClr val="1A1C1E"/>
              </a:solidFill>
              <a:effectLst/>
              <a:latin typeface="+mj-ea"/>
              <a:ea typeface="+mj-ea"/>
            </a:endParaRPr>
          </a:p>
          <a:p>
            <a:pPr marL="285750" indent="-285750" algn="l">
              <a:lnSpc>
                <a:spcPts val="1500"/>
              </a:lnSpc>
              <a:spcAft>
                <a:spcPts val="225"/>
              </a:spcAft>
              <a:buFont typeface="Arial" panose="020B0604020202020204" pitchFamily="34" charset="0"/>
              <a:buChar char="•"/>
            </a:pPr>
            <a:r>
              <a:rPr lang="ja-JP" altLang="en-US" sz="1600" b="1" i="0" dirty="0">
                <a:solidFill>
                  <a:srgbClr val="1A1C1E"/>
                </a:solidFill>
                <a:effectLst/>
                <a:latin typeface="+mj-ea"/>
                <a:ea typeface="+mj-ea"/>
              </a:rPr>
              <a:t>ロゴおよび著作権情報の変更・削除</a:t>
            </a:r>
            <a:r>
              <a:rPr lang="en-US" altLang="ja-JP" sz="1600" b="1" i="0" dirty="0">
                <a:solidFill>
                  <a:srgbClr val="1A1C1E"/>
                </a:solidFill>
                <a:effectLst/>
                <a:latin typeface="+mj-ea"/>
                <a:ea typeface="+mj-ea"/>
              </a:rPr>
              <a:t>:</a:t>
            </a:r>
            <a:endParaRPr lang="ja-JP" altLang="en-US" sz="1600" b="0" i="0" dirty="0">
              <a:solidFill>
                <a:srgbClr val="1A1C1E"/>
              </a:solidFill>
              <a:effectLst/>
              <a:latin typeface="+mj-ea"/>
              <a:ea typeface="+mj-ea"/>
            </a:endParaRPr>
          </a:p>
          <a:p>
            <a:pPr marL="742950" lvl="1" indent="-285750">
              <a:lnSpc>
                <a:spcPts val="1500"/>
              </a:lnSpc>
              <a:spcAft>
                <a:spcPts val="225"/>
              </a:spcAft>
              <a:buFont typeface="Wingdings" panose="05000000000000000000" pitchFamily="2" charset="2"/>
              <a:buChar char="ü"/>
            </a:pPr>
            <a:r>
              <a:rPr lang="en-US" altLang="ja-JP" sz="1600" dirty="0">
                <a:solidFill>
                  <a:srgbClr val="1A1C1E"/>
                </a:solidFill>
                <a:latin typeface="+mj-ea"/>
                <a:ea typeface="+mj-ea"/>
              </a:rPr>
              <a:t>Dify</a:t>
            </a:r>
            <a:r>
              <a:rPr lang="ja-JP" altLang="en-US" sz="1600" dirty="0">
                <a:solidFill>
                  <a:srgbClr val="1A1C1E"/>
                </a:solidFill>
                <a:latin typeface="+mj-ea"/>
                <a:ea typeface="+mj-ea"/>
              </a:rPr>
              <a:t>のフロントエンド（</a:t>
            </a:r>
            <a:r>
              <a:rPr lang="en-US" altLang="ja-JP" sz="1600" dirty="0">
                <a:solidFill>
                  <a:srgbClr val="1A1C1E"/>
                </a:solidFill>
                <a:latin typeface="+mj-ea"/>
                <a:ea typeface="+mj-ea"/>
              </a:rPr>
              <a:t>UI</a:t>
            </a:r>
            <a:r>
              <a:rPr lang="ja-JP" altLang="en-US" sz="1600" dirty="0">
                <a:solidFill>
                  <a:srgbClr val="1A1C1E"/>
                </a:solidFill>
                <a:latin typeface="+mj-ea"/>
                <a:ea typeface="+mj-ea"/>
              </a:rPr>
              <a:t>部分）を利用する過程で、</a:t>
            </a:r>
            <a:r>
              <a:rPr lang="en-US" altLang="ja-JP" sz="1600" dirty="0">
                <a:solidFill>
                  <a:srgbClr val="1A1C1E"/>
                </a:solidFill>
                <a:latin typeface="+mj-ea"/>
                <a:ea typeface="+mj-ea"/>
              </a:rPr>
              <a:t>Dify</a:t>
            </a:r>
            <a:r>
              <a:rPr lang="ja-JP" altLang="en-US" sz="1600" dirty="0">
                <a:solidFill>
                  <a:srgbClr val="1A1C1E"/>
                </a:solidFill>
                <a:latin typeface="+mj-ea"/>
                <a:ea typeface="+mj-ea"/>
              </a:rPr>
              <a:t>のコンソール画面やアプリケーション内に表示される</a:t>
            </a:r>
            <a:r>
              <a:rPr lang="en-US" altLang="ja-JP" sz="1600" dirty="0">
                <a:solidFill>
                  <a:srgbClr val="1A1C1E"/>
                </a:solidFill>
                <a:latin typeface="+mj-ea"/>
                <a:ea typeface="+mj-ea"/>
              </a:rPr>
              <a:t>Dify</a:t>
            </a:r>
            <a:r>
              <a:rPr lang="ja-JP" altLang="en-US" sz="1600" dirty="0">
                <a:solidFill>
                  <a:srgbClr val="1A1C1E"/>
                </a:solidFill>
                <a:latin typeface="+mj-ea"/>
                <a:ea typeface="+mj-ea"/>
              </a:rPr>
              <a:t>のロゴや著作権情報を削除したり、変更したりすることは許可されていません。</a:t>
            </a:r>
            <a:endParaRPr lang="en-US" altLang="ja-JP" sz="1600" dirty="0">
              <a:solidFill>
                <a:srgbClr val="1A1C1E"/>
              </a:solidFill>
              <a:latin typeface="+mj-ea"/>
              <a:ea typeface="+mj-ea"/>
            </a:endParaRPr>
          </a:p>
          <a:p>
            <a:pPr marL="742950" lvl="1" indent="-285750">
              <a:lnSpc>
                <a:spcPts val="1500"/>
              </a:lnSpc>
              <a:spcAft>
                <a:spcPts val="225"/>
              </a:spcAft>
              <a:buFont typeface="Wingdings" panose="05000000000000000000" pitchFamily="2" charset="2"/>
              <a:buChar char="ü"/>
            </a:pPr>
            <a:r>
              <a:rPr lang="en-US" altLang="ja-JP" sz="1600" dirty="0">
                <a:solidFill>
                  <a:srgbClr val="1A1C1E"/>
                </a:solidFill>
                <a:latin typeface="+mj-ea"/>
                <a:ea typeface="+mj-ea"/>
              </a:rPr>
              <a:t>Dify</a:t>
            </a:r>
            <a:r>
              <a:rPr lang="ja-JP" altLang="en-US" sz="1600" dirty="0">
                <a:solidFill>
                  <a:srgbClr val="1A1C1E"/>
                </a:solidFill>
                <a:latin typeface="+mj-ea"/>
                <a:ea typeface="+mj-ea"/>
              </a:rPr>
              <a:t>の</a:t>
            </a:r>
            <a:r>
              <a:rPr lang="en-US" altLang="ja-JP" sz="1600" dirty="0">
                <a:solidFill>
                  <a:srgbClr val="1A1C1E"/>
                </a:solidFill>
                <a:latin typeface="+mj-ea"/>
                <a:ea typeface="+mj-ea"/>
              </a:rPr>
              <a:t>API</a:t>
            </a:r>
            <a:r>
              <a:rPr lang="ja-JP" altLang="en-US" sz="1600" dirty="0">
                <a:solidFill>
                  <a:srgbClr val="1A1C1E"/>
                </a:solidFill>
                <a:latin typeface="+mj-ea"/>
                <a:ea typeface="+mj-ea"/>
              </a:rPr>
              <a:t>のみを利用するなど、フロントエンド部分を含まない利用方法には適用されません。バックエンドとしてのみ利用する場合は、ロゴ等の表示義務はありません。</a:t>
            </a:r>
          </a:p>
          <a:p>
            <a:endParaRPr lang="en-US" altLang="ja-JP"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30372261"/>
      </p:ext>
    </p:extLst>
  </p:cSld>
  <p:clrMapOvr>
    <a:masterClrMapping/>
  </p:clrMapOvr>
</p:sld>
</file>

<file path=ppt/theme/theme1.xml><?xml version="1.0" encoding="utf-8"?>
<a:theme xmlns:a="http://schemas.openxmlformats.org/drawingml/2006/main" name="水滴">
  <a:themeElements>
    <a:clrScheme name="水滴">
      <a:dk1>
        <a:sysClr val="windowText" lastClr="000000"/>
      </a:dk1>
      <a:lt1>
        <a:sysClr val="window" lastClr="FFFFFF"/>
      </a:lt1>
      <a:dk2>
        <a:srgbClr val="1C647B"/>
      </a:dk2>
      <a:lt2>
        <a:srgbClr val="98B7D3"/>
      </a:lt2>
      <a:accent1>
        <a:srgbClr val="274FA4"/>
      </a:accent1>
      <a:accent2>
        <a:srgbClr val="48A8D0"/>
      </a:accent2>
      <a:accent3>
        <a:srgbClr val="53B18F"/>
      </a:accent3>
      <a:accent4>
        <a:srgbClr val="D78D38"/>
      </a:accent4>
      <a:accent5>
        <a:srgbClr val="BA3F51"/>
      </a:accent5>
      <a:accent6>
        <a:srgbClr val="AE52D9"/>
      </a:accent6>
      <a:hlink>
        <a:srgbClr val="2AA2DA"/>
      </a:hlink>
      <a:folHlink>
        <a:srgbClr val="76A3B8"/>
      </a:folHlink>
    </a:clrScheme>
    <a:fontScheme name="水滴">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水滴">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92000"/>
                <a:satMod val="180000"/>
                <a:lumMod val="114000"/>
              </a:schemeClr>
            </a:gs>
            <a:gs pos="100000">
              <a:schemeClr val="phClr">
                <a:shade val="92000"/>
                <a:satMod val="170000"/>
                <a:lumMod val="96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DEB094D4-7FD8-4F86-93D5-B0F1341EF586}"/>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水滴</Template>
  <TotalTime>7042</TotalTime>
  <Words>1898</Words>
  <Application>Microsoft Office PowerPoint</Application>
  <PresentationFormat>宽屏</PresentationFormat>
  <Paragraphs>207</Paragraphs>
  <Slides>10</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10</vt:i4>
      </vt:variant>
    </vt:vector>
  </HeadingPairs>
  <TitlesOfParts>
    <vt:vector size="16" baseType="lpstr">
      <vt:lpstr>MS PGothic</vt:lpstr>
      <vt:lpstr>等线</vt:lpstr>
      <vt:lpstr>Arial</vt:lpstr>
      <vt:lpstr>Tw Cen MT</vt:lpstr>
      <vt:lpstr>Wingdings</vt:lpstr>
      <vt:lpstr>水滴</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Ken</dc:creator>
  <cp:lastModifiedBy>Ken</cp:lastModifiedBy>
  <cp:revision>157</cp:revision>
  <dcterms:created xsi:type="dcterms:W3CDTF">2025-03-30T14:09:38Z</dcterms:created>
  <dcterms:modified xsi:type="dcterms:W3CDTF">2025-04-17T15:02:21Z</dcterms:modified>
</cp:coreProperties>
</file>