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notesMasterIdLst>
    <p:notesMasterId r:id="rId5"/>
  </p:notes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883E1A-24A0-4B05-AA4C-56243B89A804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2AB785-1501-48CC-961B-897741EA03F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3624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8936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122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523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900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6000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3860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8734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4861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3752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0390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77981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94037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67687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24720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58252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7679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694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800F3C6-200C-4F82-8057-425A24E0A80A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D6A9CA3-D27C-423B-9FCE-E66F5AB7D54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097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zure.microsoft.com/en-us/pricing/details/synapse-analytics/" TargetMode="External"/><Relationship Id="rId2" Type="http://schemas.openxmlformats.org/officeDocument/2006/relationships/hyperlink" Target="https://learn.microsoft.com/en-us/azure/synapse-analytics/sql-data-warehouse/sql-data-warehouse-service-capacity-limits#workload-management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azure.microsoft.com/en-us/pricing/details/search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FF330-4145-E08D-1B89-3CF0A946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C4A58AA-5172-61E1-E7C3-B665BFF79156}"/>
              </a:ext>
            </a:extLst>
          </p:cNvPr>
          <p:cNvSpPr txBox="1"/>
          <p:nvPr/>
        </p:nvSpPr>
        <p:spPr>
          <a:xfrm>
            <a:off x="575036" y="707011"/>
            <a:ext cx="10246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Azure Synapse Analytics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に対する調査 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D39CF93-52F2-5976-126E-6D86539733C2}"/>
              </a:ext>
            </a:extLst>
          </p:cNvPr>
          <p:cNvCxnSpPr>
            <a:cxnSpLocks/>
          </p:cNvCxnSpPr>
          <p:nvPr/>
        </p:nvCxnSpPr>
        <p:spPr>
          <a:xfrm>
            <a:off x="480767" y="1216058"/>
            <a:ext cx="110199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47B9DB1B-91BD-558A-AC02-0C7345E81BCA}"/>
              </a:ext>
            </a:extLst>
          </p:cNvPr>
          <p:cNvSpPr txBox="1"/>
          <p:nvPr/>
        </p:nvSpPr>
        <p:spPr>
          <a:xfrm>
            <a:off x="575036" y="1517714"/>
            <a:ext cx="1059572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Synapse Analytics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の主要機能：</a:t>
            </a: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SQL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検索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(RDB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NoSQL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DB)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：異なるタイプの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DB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に検索してデータを抽出できる</a:t>
            </a: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Serverless SQL Pools</a:t>
            </a:r>
          </a:p>
          <a:p>
            <a:pPr lvl="1"/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Warehouse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：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RDB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であり、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Full-Text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検索ができる</a:t>
            </a: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	Dedicated SQL Pools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（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Super SQL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Server)</a:t>
            </a:r>
          </a:p>
          <a:p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処理（</a:t>
            </a:r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ETL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など）：大規模分散データ処理システム</a:t>
            </a: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ja-JP" dirty="0">
                <a:latin typeface="Arial" panose="020B0604020202020204" pitchFamily="34" charset="0"/>
                <a:cs typeface="Arial" panose="020B0604020202020204" pitchFamily="34" charset="0"/>
              </a:rPr>
              <a:t>	Apache Spark for Synapse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統合データ分析システム</a:t>
            </a:r>
            <a:endParaRPr lang="en-US" altLang="ja-JP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	Synapse Data Explorer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zure Synapse Analytics 体系结构图表。">
            <a:extLst>
              <a:ext uri="{FF2B5EF4-FFF2-40B4-BE49-F238E27FC236}">
                <a16:creationId xmlns:a16="http://schemas.microsoft.com/office/drawing/2014/main" id="{C146B1BC-ECB2-43F4-8DB7-14336ADA00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3436" y="4129021"/>
            <a:ext cx="6617265" cy="221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8070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9B828-5C88-8128-26C1-E8427A779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B7DEEDB-FBB7-B68E-089B-BA270B9F32BF}"/>
              </a:ext>
            </a:extLst>
          </p:cNvPr>
          <p:cNvSpPr txBox="1"/>
          <p:nvPr/>
        </p:nvSpPr>
        <p:spPr>
          <a:xfrm>
            <a:off x="575036" y="707011"/>
            <a:ext cx="10246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Azure Synapse Analytics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に対する調査 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CD8F64-B848-EC47-4527-BB67122B56A0}"/>
              </a:ext>
            </a:extLst>
          </p:cNvPr>
          <p:cNvCxnSpPr>
            <a:cxnSpLocks/>
          </p:cNvCxnSpPr>
          <p:nvPr/>
        </p:nvCxnSpPr>
        <p:spPr>
          <a:xfrm>
            <a:off x="480767" y="1216058"/>
            <a:ext cx="110199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9A4BF3E-8089-27A2-3DF2-83566593813B}"/>
              </a:ext>
            </a:extLst>
          </p:cNvPr>
          <p:cNvSpPr txBox="1"/>
          <p:nvPr/>
        </p:nvSpPr>
        <p:spPr>
          <a:xfrm>
            <a:off x="575036" y="1507986"/>
            <a:ext cx="105957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　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Warehouse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に対する調査：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レコードの仕様と１レコードのサイズ上限</a:t>
            </a:r>
            <a:endParaRPr lang="en-US" altLang="ja-JP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	RDB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なので、行の上限は８０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60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バイト、カラム数上限は１０２４カラム。</a:t>
            </a:r>
            <a:r>
              <a:rPr lang="en-US" altLang="ja-JP" sz="1600" u="sng" dirty="0"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Reference</a:t>
            </a:r>
            <a:r>
              <a:rPr lang="en-US" altLang="ja-JP" sz="1600" u="sng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（テキストの格納サイズ上限は２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GB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、テーブルにポインターしか格納しない）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拡張性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ストレージは自動的に拡張し、計算リソースは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DWU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単位で調整できる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データ登録と検索：共に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Python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　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SDK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で作業できる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登録：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(Blob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の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CSV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から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　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COPY INTO</a:t>
            </a:r>
          </a:p>
          <a:p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検索：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T-SQL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クエリ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ベクトル検索、近傍検索：不可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完全一致、部分一致、前方一致、後方一致、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演算子：可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検索性能：大規模分散式データソースに対するデータ処理を特化した分析システム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索引管理：カラムを手動で指定する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価格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：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DW100c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　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¥199,503.086/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月 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DW200c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　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¥399,006.172/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月 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246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F8991-8554-16E2-B25E-64D787AB5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A474CDF-3FD3-5C92-3021-3E8727954049}"/>
              </a:ext>
            </a:extLst>
          </p:cNvPr>
          <p:cNvSpPr txBox="1"/>
          <p:nvPr/>
        </p:nvSpPr>
        <p:spPr>
          <a:xfrm>
            <a:off x="575036" y="707011"/>
            <a:ext cx="10246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Azure Synapse Analytics</a:t>
            </a:r>
            <a:r>
              <a:rPr lang="ja-JP" altLang="en-US" dirty="0">
                <a:latin typeface="Arial" panose="020B0604020202020204" pitchFamily="34" charset="0"/>
                <a:cs typeface="Arial" panose="020B0604020202020204" pitchFamily="34" charset="0"/>
              </a:rPr>
              <a:t>に対する感想 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A487ADB-825B-24F5-50C3-EC7EC4AE91FA}"/>
              </a:ext>
            </a:extLst>
          </p:cNvPr>
          <p:cNvCxnSpPr>
            <a:cxnSpLocks/>
          </p:cNvCxnSpPr>
          <p:nvPr/>
        </p:nvCxnSpPr>
        <p:spPr>
          <a:xfrm>
            <a:off x="480767" y="1216058"/>
            <a:ext cx="110199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E3D2129D-CBB4-C6BB-B6D0-573A100D6D69}"/>
              </a:ext>
            </a:extLst>
          </p:cNvPr>
          <p:cNvSpPr txBox="1"/>
          <p:nvPr/>
        </p:nvSpPr>
        <p:spPr>
          <a:xfrm>
            <a:off x="575036" y="1459348"/>
            <a:ext cx="1059572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Azure Synapse Analytics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（旧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Azure Data Warehouse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）は、その名の通り、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TB/PB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レベルの大規模データ分析用の分析基盤（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OLAP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）です。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ETL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DW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、データ処理、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BI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などの作業に適しています。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Cosmos DB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はトランザクション処理（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OLTP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）向けのデータベースであるため、特定の範囲内におけるリアルタイムなデータ登録や検索作業に適しています。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他に、調査によると、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Azure AI Search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は近傍検索機能が強力であり、かつベクトル検索も可能です。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Azure AI Search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でクエリを実行するために、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Cosmos DB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から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AB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データだけのインデックスを作成すれば？</a:t>
            </a:r>
            <a:endParaRPr lang="en-US" altLang="ja-JP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	(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標準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１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の場合：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¥48,938.88/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月 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- 160 GB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ストレージ　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MAX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ja-JP" sz="1600" dirty="0"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ja-JP" altLang="en-US" sz="1600" dirty="0">
                <a:latin typeface="Arial" panose="020B0604020202020204" pitchFamily="34" charset="0"/>
                <a:cs typeface="Arial" panose="020B0604020202020204" pitchFamily="34" charset="0"/>
              </a:rPr>
              <a:t>インデックス）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276F97A-B00D-6C47-DF75-D006C7FA0045}"/>
              </a:ext>
            </a:extLst>
          </p:cNvPr>
          <p:cNvSpPr/>
          <p:nvPr/>
        </p:nvSpPr>
        <p:spPr>
          <a:xfrm>
            <a:off x="5429840" y="4099403"/>
            <a:ext cx="1809946" cy="49019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ysClr val="windowText" lastClr="000000"/>
                </a:solidFill>
              </a:rPr>
              <a:t>Cosmos DB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AF670B7-D4AB-6175-5C3F-23BA76232E40}"/>
              </a:ext>
            </a:extLst>
          </p:cNvPr>
          <p:cNvSpPr/>
          <p:nvPr/>
        </p:nvSpPr>
        <p:spPr>
          <a:xfrm>
            <a:off x="5425127" y="5111684"/>
            <a:ext cx="1809946" cy="49019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800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 Search</a:t>
            </a:r>
            <a:endParaRPr lang="en-US" altLang="zh-CN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B3D33765-A17E-1658-7423-EBAA679FCC85}"/>
              </a:ext>
            </a:extLst>
          </p:cNvPr>
          <p:cNvCxnSpPr>
            <a:stCxn id="7" idx="0"/>
            <a:endCxn id="5" idx="2"/>
          </p:cNvCxnSpPr>
          <p:nvPr/>
        </p:nvCxnSpPr>
        <p:spPr>
          <a:xfrm flipV="1">
            <a:off x="6330100" y="4589597"/>
            <a:ext cx="4713" cy="5220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C99C9C2-D78A-443E-F726-82BDBE8BC0F2}"/>
              </a:ext>
            </a:extLst>
          </p:cNvPr>
          <p:cNvSpPr txBox="1"/>
          <p:nvPr/>
        </p:nvSpPr>
        <p:spPr>
          <a:xfrm>
            <a:off x="6410226" y="4681363"/>
            <a:ext cx="20314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dirty="0"/>
              <a:t>テキスト索引を作成</a:t>
            </a:r>
            <a:endParaRPr lang="zh-CN" altLang="en-US" sz="1600" dirty="0"/>
          </a:p>
        </p:txBody>
      </p: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95F327E-A04B-4AED-B522-E7F6BC0C1844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2578232" y="4850640"/>
            <a:ext cx="2846895" cy="50614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C978F787-DAE2-F441-CC31-D9C5D377672C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2578232" y="4344500"/>
            <a:ext cx="2851608" cy="50614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EDC6D402-CE62-B0C8-BAC1-E379C0D01B69}"/>
              </a:ext>
            </a:extLst>
          </p:cNvPr>
          <p:cNvSpPr txBox="1"/>
          <p:nvPr/>
        </p:nvSpPr>
        <p:spPr>
          <a:xfrm>
            <a:off x="4001679" y="4045388"/>
            <a:ext cx="131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/>
              <a:t>Vector Search</a:t>
            </a:r>
            <a:endParaRPr lang="zh-CN" altLang="en-US" sz="1600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F5994D6-C537-D210-7217-417556C30735}"/>
              </a:ext>
            </a:extLst>
          </p:cNvPr>
          <p:cNvSpPr txBox="1"/>
          <p:nvPr/>
        </p:nvSpPr>
        <p:spPr>
          <a:xfrm>
            <a:off x="4102232" y="5355091"/>
            <a:ext cx="131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/>
              <a:t>Text Search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999093955"/>
      </p:ext>
    </p:extLst>
  </p:cSld>
  <p:clrMapOvr>
    <a:masterClrMapping/>
  </p:clrMapOvr>
</p:sld>
</file>

<file path=ppt/theme/theme1.xml><?xml version="1.0" encoding="utf-8"?>
<a:theme xmlns:a="http://schemas.openxmlformats.org/drawingml/2006/main" name="水滴">
  <a:themeElements>
    <a:clrScheme name="水滴">
      <a:dk1>
        <a:sysClr val="windowText" lastClr="000000"/>
      </a:dk1>
      <a:lt1>
        <a:sysClr val="window" lastClr="FFFFFF"/>
      </a:lt1>
      <a:dk2>
        <a:srgbClr val="1C647B"/>
      </a:dk2>
      <a:lt2>
        <a:srgbClr val="98B7D3"/>
      </a:lt2>
      <a:accent1>
        <a:srgbClr val="274FA4"/>
      </a:accent1>
      <a:accent2>
        <a:srgbClr val="48A8D0"/>
      </a:accent2>
      <a:accent3>
        <a:srgbClr val="53B18F"/>
      </a:accent3>
      <a:accent4>
        <a:srgbClr val="D78D38"/>
      </a:accent4>
      <a:accent5>
        <a:srgbClr val="BA3F51"/>
      </a:accent5>
      <a:accent6>
        <a:srgbClr val="AE52D9"/>
      </a:accent6>
      <a:hlink>
        <a:srgbClr val="2AA2DA"/>
      </a:hlink>
      <a:folHlink>
        <a:srgbClr val="76A3B8"/>
      </a:folHlink>
    </a:clrScheme>
    <a:fontScheme name="水滴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水滴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92000"/>
                <a:satMod val="180000"/>
                <a:lumMod val="114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DEB094D4-7FD8-4F86-93D5-B0F1341EF586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水滴</Template>
  <TotalTime>1250</TotalTime>
  <Words>480</Words>
  <Application>Microsoft Office PowerPoint</Application>
  <PresentationFormat>宽屏</PresentationFormat>
  <Paragraphs>47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Arial</vt:lpstr>
      <vt:lpstr>Tw Cen MT</vt:lpstr>
      <vt:lpstr>水滴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</dc:creator>
  <cp:lastModifiedBy>Ken</cp:lastModifiedBy>
  <cp:revision>84</cp:revision>
  <dcterms:created xsi:type="dcterms:W3CDTF">2025-03-30T14:09:38Z</dcterms:created>
  <dcterms:modified xsi:type="dcterms:W3CDTF">2025-04-02T08:51:08Z</dcterms:modified>
</cp:coreProperties>
</file>