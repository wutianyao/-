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4" r:id="rId1"/>
  </p:sldMasterIdLst>
  <p:notesMasterIdLst>
    <p:notesMasterId r:id="rId5"/>
  </p:notesMasterIdLst>
  <p:sldIdLst>
    <p:sldId id="257" r:id="rId2"/>
    <p:sldId id="258" r:id="rId3"/>
    <p:sldId id="259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9" d="100"/>
          <a:sy n="79" d="100"/>
        </p:scale>
        <p:origin x="85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883E1A-24A0-4B05-AA4C-56243B89A804}" type="datetimeFigureOut">
              <a:rPr lang="zh-CN" altLang="en-US" smtClean="0"/>
              <a:t>2025/4/1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72AB785-1501-48CC-961B-897741EA03F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36240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00F3C6-200C-4F82-8057-425A24E0A80A}" type="datetimeFigureOut">
              <a:rPr lang="zh-CN" altLang="en-US" smtClean="0"/>
              <a:t>2025/4/1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A9CA3-D27C-423B-9FCE-E66F5AB7D5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89369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00F3C6-200C-4F82-8057-425A24E0A80A}" type="datetimeFigureOut">
              <a:rPr lang="zh-CN" altLang="en-US" smtClean="0"/>
              <a:t>2025/4/1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A9CA3-D27C-423B-9FCE-E66F5AB7D5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1228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00F3C6-200C-4F82-8057-425A24E0A80A}" type="datetimeFigureOut">
              <a:rPr lang="zh-CN" altLang="en-US" smtClean="0"/>
              <a:t>2025/4/1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A9CA3-D27C-423B-9FCE-E66F5AB7D5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52308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00F3C6-200C-4F82-8057-425A24E0A80A}" type="datetimeFigureOut">
              <a:rPr lang="zh-CN" altLang="en-US" smtClean="0"/>
              <a:t>2025/4/1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A9CA3-D27C-423B-9FCE-E66F5AB7D5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69003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00F3C6-200C-4F82-8057-425A24E0A80A}" type="datetimeFigureOut">
              <a:rPr lang="zh-CN" altLang="en-US" smtClean="0"/>
              <a:t>2025/4/1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A9CA3-D27C-423B-9FCE-E66F5AB7D5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660005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00F3C6-200C-4F82-8057-425A24E0A80A}" type="datetimeFigureOut">
              <a:rPr lang="zh-CN" altLang="en-US" smtClean="0"/>
              <a:t>2025/4/1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A9CA3-D27C-423B-9FCE-E66F5AB7D5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3860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00F3C6-200C-4F82-8057-425A24E0A80A}" type="datetimeFigureOut">
              <a:rPr lang="zh-CN" altLang="en-US" smtClean="0"/>
              <a:t>2025/4/1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A9CA3-D27C-423B-9FCE-E66F5AB7D5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87343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00F3C6-200C-4F82-8057-425A24E0A80A}" type="datetimeFigureOut">
              <a:rPr lang="zh-CN" altLang="en-US" smtClean="0"/>
              <a:t>2025/4/1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A9CA3-D27C-423B-9FCE-E66F5AB7D5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48616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00F3C6-200C-4F82-8057-425A24E0A80A}" type="datetimeFigureOut">
              <a:rPr lang="zh-CN" altLang="en-US" smtClean="0"/>
              <a:t>2025/4/1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A9CA3-D27C-423B-9FCE-E66F5AB7D5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93752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全景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00F3C6-200C-4F82-8057-425A24E0A80A}" type="datetimeFigureOut">
              <a:rPr lang="zh-CN" altLang="en-US" smtClean="0"/>
              <a:t>2025/4/1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A9CA3-D27C-423B-9FCE-E66F5AB7D5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03907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描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00F3C6-200C-4F82-8057-425A24E0A80A}" type="datetimeFigureOut">
              <a:rPr lang="zh-CN" altLang="en-US" smtClean="0"/>
              <a:t>2025/4/1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A9CA3-D27C-423B-9FCE-E66F5AB7D5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77981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引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00F3C6-200C-4F82-8057-425A24E0A80A}" type="datetimeFigureOut">
              <a:rPr lang="zh-CN" altLang="en-US" smtClean="0"/>
              <a:t>2025/4/1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A9CA3-D27C-423B-9FCE-E66F5AB7D541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2794037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00F3C6-200C-4F82-8057-425A24E0A80A}" type="datetimeFigureOut">
              <a:rPr lang="zh-CN" altLang="en-US" smtClean="0"/>
              <a:t>2025/4/1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A9CA3-D27C-423B-9FCE-E66F5AB7D5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9676877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00F3C6-200C-4F82-8057-425A24E0A80A}" type="datetimeFigureOut">
              <a:rPr lang="zh-CN" altLang="en-US" smtClean="0"/>
              <a:t>2025/4/1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A9CA3-D27C-423B-9FCE-E66F5AB7D5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24720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图片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00F3C6-200C-4F82-8057-425A24E0A80A}" type="datetimeFigureOut">
              <a:rPr lang="zh-CN" altLang="en-US" smtClean="0"/>
              <a:t>2025/4/1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A9CA3-D27C-423B-9FCE-E66F5AB7D5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458252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00F3C6-200C-4F82-8057-425A24E0A80A}" type="datetimeFigureOut">
              <a:rPr lang="zh-CN" altLang="en-US" smtClean="0"/>
              <a:t>2025/4/1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A9CA3-D27C-423B-9FCE-E66F5AB7D5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876795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00F3C6-200C-4F82-8057-425A24E0A80A}" type="datetimeFigureOut">
              <a:rPr lang="zh-CN" altLang="en-US" smtClean="0"/>
              <a:t>2025/4/1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A9CA3-D27C-423B-9FCE-E66F5AB7D5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26947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3800F3C6-200C-4F82-8057-425A24E0A80A}" type="datetimeFigureOut">
              <a:rPr lang="zh-CN" altLang="en-US" smtClean="0"/>
              <a:t>2025/4/1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D6A9CA3-D27C-423B-9FCE-E66F5AB7D5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6097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27" r:id="rId13"/>
    <p:sldLayoutId id="2147483728" r:id="rId14"/>
    <p:sldLayoutId id="2147483729" r:id="rId15"/>
    <p:sldLayoutId id="2147483730" r:id="rId16"/>
    <p:sldLayoutId id="2147483731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azure.microsoft.com/en-us/pricing/details/synapse-analytics/" TargetMode="External"/><Relationship Id="rId2" Type="http://schemas.openxmlformats.org/officeDocument/2006/relationships/hyperlink" Target="https://learn.microsoft.com/en-us/azure/synapse-analytics/sql-data-warehouse/sql-data-warehouse-service-capacity-limits#workload-management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FF330-4145-E08D-1B89-3CF0A9465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CC4A58AA-5172-61E1-E7C3-B665BFF79156}"/>
              </a:ext>
            </a:extLst>
          </p:cNvPr>
          <p:cNvSpPr txBox="1"/>
          <p:nvPr/>
        </p:nvSpPr>
        <p:spPr>
          <a:xfrm>
            <a:off x="575036" y="707011"/>
            <a:ext cx="102469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Azure Synapse Analytics</a:t>
            </a:r>
            <a:r>
              <a:rPr lang="ja-JP" altLang="en-US" dirty="0">
                <a:latin typeface="Arial" panose="020B0604020202020204" pitchFamily="34" charset="0"/>
                <a:cs typeface="Arial" panose="020B0604020202020204" pitchFamily="34" charset="0"/>
              </a:rPr>
              <a:t>に対する調査 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DD39CF93-52F2-5976-126E-6D86539733C2}"/>
              </a:ext>
            </a:extLst>
          </p:cNvPr>
          <p:cNvCxnSpPr>
            <a:cxnSpLocks/>
          </p:cNvCxnSpPr>
          <p:nvPr/>
        </p:nvCxnSpPr>
        <p:spPr>
          <a:xfrm>
            <a:off x="480767" y="1216058"/>
            <a:ext cx="1101993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47B9DB1B-91BD-558A-AC02-0C7345E81BCA}"/>
              </a:ext>
            </a:extLst>
          </p:cNvPr>
          <p:cNvSpPr txBox="1"/>
          <p:nvPr/>
        </p:nvSpPr>
        <p:spPr>
          <a:xfrm>
            <a:off x="575036" y="1517714"/>
            <a:ext cx="1059572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Synapse Analytics</a:t>
            </a:r>
            <a:r>
              <a:rPr lang="ja-JP" altLang="en-US" dirty="0">
                <a:latin typeface="Arial" panose="020B0604020202020204" pitchFamily="34" charset="0"/>
                <a:cs typeface="Arial" panose="020B0604020202020204" pitchFamily="34" charset="0"/>
              </a:rPr>
              <a:t>の主要機能：</a:t>
            </a:r>
            <a:endParaRPr lang="en-US" altLang="ja-JP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 dirty="0">
                <a:latin typeface="Arial" panose="020B0604020202020204" pitchFamily="34" charset="0"/>
                <a:cs typeface="Arial" panose="020B0604020202020204" pitchFamily="34" charset="0"/>
              </a:rPr>
              <a:t>SQL</a:t>
            </a:r>
            <a:r>
              <a:rPr lang="ja-JP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ja-JP" dirty="0">
                <a:latin typeface="Arial" panose="020B0604020202020204" pitchFamily="34" charset="0"/>
                <a:cs typeface="Arial" panose="020B0604020202020204" pitchFamily="34" charset="0"/>
              </a:rPr>
              <a:t>query</a:t>
            </a:r>
            <a:r>
              <a:rPr lang="ja-JP" altLang="en-US" dirty="0">
                <a:latin typeface="Arial" panose="020B0604020202020204" pitchFamily="34" charset="0"/>
                <a:cs typeface="Arial" panose="020B0604020202020204" pitchFamily="34" charset="0"/>
              </a:rPr>
              <a:t>検索</a:t>
            </a:r>
            <a:r>
              <a:rPr lang="en-US" altLang="ja-JP" dirty="0">
                <a:latin typeface="Arial" panose="020B0604020202020204" pitchFamily="34" charset="0"/>
                <a:cs typeface="Arial" panose="020B0604020202020204" pitchFamily="34" charset="0"/>
              </a:rPr>
              <a:t>(RDB</a:t>
            </a:r>
            <a:r>
              <a:rPr lang="ja-JP" altLang="en-US" dirty="0">
                <a:latin typeface="Arial" panose="020B0604020202020204" pitchFamily="34" charset="0"/>
                <a:cs typeface="Arial" panose="020B0604020202020204" pitchFamily="34" charset="0"/>
              </a:rPr>
              <a:t>、</a:t>
            </a:r>
            <a:r>
              <a:rPr lang="en-US" altLang="ja-JP" dirty="0">
                <a:latin typeface="Arial" panose="020B0604020202020204" pitchFamily="34" charset="0"/>
                <a:cs typeface="Arial" panose="020B0604020202020204" pitchFamily="34" charset="0"/>
              </a:rPr>
              <a:t>NoSQL</a:t>
            </a:r>
            <a:r>
              <a:rPr lang="ja-JP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ja-JP" dirty="0">
                <a:latin typeface="Arial" panose="020B0604020202020204" pitchFamily="34" charset="0"/>
                <a:cs typeface="Arial" panose="020B0604020202020204" pitchFamily="34" charset="0"/>
              </a:rPr>
              <a:t>DB)</a:t>
            </a:r>
            <a:r>
              <a:rPr lang="ja-JP" altLang="en-US" dirty="0">
                <a:latin typeface="Arial" panose="020B0604020202020204" pitchFamily="34" charset="0"/>
                <a:cs typeface="Arial" panose="020B0604020202020204" pitchFamily="34" charset="0"/>
              </a:rPr>
              <a:t>：異なるタイプの</a:t>
            </a:r>
            <a:r>
              <a:rPr lang="en-US" altLang="ja-JP" dirty="0">
                <a:latin typeface="Arial" panose="020B0604020202020204" pitchFamily="34" charset="0"/>
                <a:cs typeface="Arial" panose="020B0604020202020204" pitchFamily="34" charset="0"/>
              </a:rPr>
              <a:t>DB</a:t>
            </a:r>
            <a:r>
              <a:rPr lang="ja-JP" altLang="en-US" dirty="0">
                <a:latin typeface="Arial" panose="020B0604020202020204" pitchFamily="34" charset="0"/>
                <a:cs typeface="Arial" panose="020B0604020202020204" pitchFamily="34" charset="0"/>
              </a:rPr>
              <a:t>に検索してデータを抽出できる</a:t>
            </a:r>
            <a:endParaRPr lang="en-US" altLang="ja-JP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altLang="ja-JP" dirty="0">
                <a:latin typeface="Arial" panose="020B0604020202020204" pitchFamily="34" charset="0"/>
                <a:cs typeface="Arial" panose="020B0604020202020204" pitchFamily="34" charset="0"/>
              </a:rPr>
              <a:t>Serverless SQL Pools</a:t>
            </a:r>
          </a:p>
          <a:p>
            <a:pPr lvl="1"/>
            <a:endParaRPr lang="en-US" altLang="ja-JP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 dirty="0"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ja-JP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ja-JP" dirty="0">
                <a:latin typeface="Arial" panose="020B0604020202020204" pitchFamily="34" charset="0"/>
                <a:cs typeface="Arial" panose="020B0604020202020204" pitchFamily="34" charset="0"/>
              </a:rPr>
              <a:t>Warehouse</a:t>
            </a:r>
            <a:r>
              <a:rPr lang="ja-JP" altLang="en-US" dirty="0">
                <a:latin typeface="Arial" panose="020B0604020202020204" pitchFamily="34" charset="0"/>
                <a:cs typeface="Arial" panose="020B0604020202020204" pitchFamily="34" charset="0"/>
              </a:rPr>
              <a:t>：</a:t>
            </a:r>
            <a:r>
              <a:rPr lang="en-US" altLang="ja-JP" dirty="0">
                <a:latin typeface="Arial" panose="020B0604020202020204" pitchFamily="34" charset="0"/>
                <a:cs typeface="Arial" panose="020B0604020202020204" pitchFamily="34" charset="0"/>
              </a:rPr>
              <a:t>RDB</a:t>
            </a:r>
            <a:r>
              <a:rPr lang="ja-JP" altLang="en-US" dirty="0">
                <a:latin typeface="Arial" panose="020B0604020202020204" pitchFamily="34" charset="0"/>
                <a:cs typeface="Arial" panose="020B0604020202020204" pitchFamily="34" charset="0"/>
              </a:rPr>
              <a:t>であり、</a:t>
            </a:r>
            <a:r>
              <a:rPr lang="en-US" altLang="ja-JP" dirty="0">
                <a:latin typeface="Arial" panose="020B0604020202020204" pitchFamily="34" charset="0"/>
                <a:cs typeface="Arial" panose="020B0604020202020204" pitchFamily="34" charset="0"/>
              </a:rPr>
              <a:t>Full-Text</a:t>
            </a:r>
            <a:r>
              <a:rPr lang="ja-JP" altLang="en-US" dirty="0">
                <a:latin typeface="Arial" panose="020B0604020202020204" pitchFamily="34" charset="0"/>
                <a:cs typeface="Arial" panose="020B0604020202020204" pitchFamily="34" charset="0"/>
              </a:rPr>
              <a:t>検索ができる</a:t>
            </a:r>
            <a:endParaRPr lang="en-US" altLang="ja-JP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ja-JP" dirty="0">
                <a:latin typeface="Arial" panose="020B0604020202020204" pitchFamily="34" charset="0"/>
                <a:cs typeface="Arial" panose="020B0604020202020204" pitchFamily="34" charset="0"/>
              </a:rPr>
              <a:t>	Dedicated SQL Pools</a:t>
            </a:r>
            <a:r>
              <a:rPr lang="ja-JP" altLang="en-US" dirty="0">
                <a:latin typeface="Arial" panose="020B0604020202020204" pitchFamily="34" charset="0"/>
                <a:cs typeface="Arial" panose="020B0604020202020204" pitchFamily="34" charset="0"/>
              </a:rPr>
              <a:t>（</a:t>
            </a:r>
            <a:r>
              <a:rPr lang="en-US" altLang="ja-JP" dirty="0">
                <a:latin typeface="Arial" panose="020B0604020202020204" pitchFamily="34" charset="0"/>
                <a:cs typeface="Arial" panose="020B0604020202020204" pitchFamily="34" charset="0"/>
              </a:rPr>
              <a:t>Super SQL</a:t>
            </a:r>
            <a:r>
              <a:rPr lang="ja-JP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ja-JP" dirty="0">
                <a:latin typeface="Arial" panose="020B0604020202020204" pitchFamily="34" charset="0"/>
                <a:cs typeface="Arial" panose="020B0604020202020204" pitchFamily="34" charset="0"/>
              </a:rPr>
              <a:t>Server)</a:t>
            </a:r>
          </a:p>
          <a:p>
            <a:r>
              <a:rPr lang="en-US" altLang="ja-JP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 dirty="0"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ja-JP" altLang="en-US" dirty="0">
                <a:latin typeface="Arial" panose="020B0604020202020204" pitchFamily="34" charset="0"/>
                <a:cs typeface="Arial" panose="020B0604020202020204" pitchFamily="34" charset="0"/>
              </a:rPr>
              <a:t>処理（</a:t>
            </a:r>
            <a:r>
              <a:rPr lang="en-US" altLang="ja-JP" dirty="0">
                <a:latin typeface="Arial" panose="020B0604020202020204" pitchFamily="34" charset="0"/>
                <a:cs typeface="Arial" panose="020B0604020202020204" pitchFamily="34" charset="0"/>
              </a:rPr>
              <a:t>ETL</a:t>
            </a:r>
            <a:r>
              <a:rPr lang="ja-JP" altLang="en-US" dirty="0">
                <a:latin typeface="Arial" panose="020B0604020202020204" pitchFamily="34" charset="0"/>
                <a:cs typeface="Arial" panose="020B0604020202020204" pitchFamily="34" charset="0"/>
              </a:rPr>
              <a:t>など）：大規模分散データ処理システム</a:t>
            </a:r>
            <a:endParaRPr lang="en-US" altLang="ja-JP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ja-JP" dirty="0">
                <a:latin typeface="Arial" panose="020B0604020202020204" pitchFamily="34" charset="0"/>
                <a:cs typeface="Arial" panose="020B0604020202020204" pitchFamily="34" charset="0"/>
              </a:rPr>
              <a:t>	Apache Spark for Synapse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 dirty="0">
                <a:latin typeface="Arial" panose="020B0604020202020204" pitchFamily="34" charset="0"/>
                <a:cs typeface="Arial" panose="020B0604020202020204" pitchFamily="34" charset="0"/>
              </a:rPr>
              <a:t>OLAP</a:t>
            </a:r>
            <a:r>
              <a:rPr lang="ja-JP" altLang="en-US" dirty="0">
                <a:latin typeface="Arial" panose="020B0604020202020204" pitchFamily="34" charset="0"/>
                <a:cs typeface="Arial" panose="020B0604020202020204" pitchFamily="34" charset="0"/>
              </a:rPr>
              <a:t>分析</a:t>
            </a:r>
            <a:endParaRPr lang="en-US" altLang="ja-JP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	Synapse Data Explorer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Azure Synapse Analytics 体系结构图表。">
            <a:extLst>
              <a:ext uri="{FF2B5EF4-FFF2-40B4-BE49-F238E27FC236}">
                <a16:creationId xmlns:a16="http://schemas.microsoft.com/office/drawing/2014/main" id="{C146B1BC-ECB2-43F4-8DB7-14336ADA00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83436" y="4129021"/>
            <a:ext cx="6617265" cy="2213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78070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9B828-5C88-8128-26C1-E8427A779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CB7DEEDB-FBB7-B68E-089B-BA270B9F32BF}"/>
              </a:ext>
            </a:extLst>
          </p:cNvPr>
          <p:cNvSpPr txBox="1"/>
          <p:nvPr/>
        </p:nvSpPr>
        <p:spPr>
          <a:xfrm>
            <a:off x="575036" y="707011"/>
            <a:ext cx="102469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Azure Synapse Analytics</a:t>
            </a:r>
            <a:r>
              <a:rPr lang="ja-JP" altLang="en-US" dirty="0">
                <a:latin typeface="Arial" panose="020B0604020202020204" pitchFamily="34" charset="0"/>
                <a:cs typeface="Arial" panose="020B0604020202020204" pitchFamily="34" charset="0"/>
              </a:rPr>
              <a:t>に対する調査 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8CCD8F64-B848-EC47-4527-BB67122B56A0}"/>
              </a:ext>
            </a:extLst>
          </p:cNvPr>
          <p:cNvCxnSpPr>
            <a:cxnSpLocks/>
          </p:cNvCxnSpPr>
          <p:nvPr/>
        </p:nvCxnSpPr>
        <p:spPr>
          <a:xfrm>
            <a:off x="480767" y="1216058"/>
            <a:ext cx="1101993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59A4BF3E-8089-27A2-3DF2-83566593813B}"/>
              </a:ext>
            </a:extLst>
          </p:cNvPr>
          <p:cNvSpPr txBox="1"/>
          <p:nvPr/>
        </p:nvSpPr>
        <p:spPr>
          <a:xfrm>
            <a:off x="575036" y="1507986"/>
            <a:ext cx="10595728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　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Warehouse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に対する調査：</a:t>
            </a:r>
            <a:endParaRPr lang="en-US" altLang="ja-JP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レコードの仕様と１レコードのサイズ上限</a:t>
            </a:r>
            <a:endParaRPr lang="en-US" altLang="ja-JP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	RDB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なので、行の上限は８０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60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バイト、カラム数上限は１０２４カラム。</a:t>
            </a:r>
            <a:r>
              <a:rPr lang="en-US" altLang="ja-JP" sz="1600" u="sng" dirty="0">
                <a:latin typeface="Arial" panose="020B0604020202020204" pitchFamily="34" charset="0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Reference</a:t>
            </a:r>
            <a:r>
              <a:rPr lang="en-US" altLang="ja-JP" sz="1600" u="sng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（テキストの格納サイズ上限は２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GB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、テーブルにポインターしか格納しない）</a:t>
            </a:r>
            <a:endParaRPr lang="en-US" altLang="ja-JP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拡張性</a:t>
            </a:r>
            <a:endParaRPr lang="en-US" altLang="ja-JP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ストレージは自動的に拡張し、計算リソースは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DWU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単位で調整できる</a:t>
            </a:r>
            <a:endParaRPr lang="en-US" altLang="ja-JP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altLang="zh-C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データ登録と検索：共に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Python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　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SDK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で作業できる</a:t>
            </a:r>
            <a:endParaRPr lang="en-US" altLang="ja-JP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登録：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(Blob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の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CSV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から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　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COPY INTO</a:t>
            </a:r>
          </a:p>
          <a:p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検索：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T-SQL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クエリ</a:t>
            </a:r>
            <a:endParaRPr lang="en-US" altLang="ja-JP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altLang="ja-JP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ベクトル検索、近傍検索：不可</a:t>
            </a:r>
            <a:endParaRPr lang="en-US" altLang="ja-JP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完全一致、部分一致、前方一致、後方一致、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Not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演算子：可</a:t>
            </a:r>
            <a:endParaRPr lang="en-US" altLang="ja-JP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検索性能：大規模分散式データソースに対するデータ処理を特化した分析システム</a:t>
            </a:r>
            <a:endParaRPr lang="en-US" altLang="ja-JP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索引管理：カラムを手動で指定する</a:t>
            </a:r>
            <a:endParaRPr lang="en-US" altLang="ja-JP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価格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（一番小さい）：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DW100c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　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¥199,503.086/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月 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- 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従量課金制</a:t>
            </a:r>
            <a:endParaRPr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62467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FF8991-8554-16E2-B25E-64D787AB5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CA474CDF-3FD3-5C92-3021-3E8727954049}"/>
              </a:ext>
            </a:extLst>
          </p:cNvPr>
          <p:cNvSpPr txBox="1"/>
          <p:nvPr/>
        </p:nvSpPr>
        <p:spPr>
          <a:xfrm>
            <a:off x="575036" y="707011"/>
            <a:ext cx="102469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Azure Synapse Analytics</a:t>
            </a:r>
            <a:r>
              <a:rPr lang="ja-JP" altLang="en-US" dirty="0">
                <a:latin typeface="Arial" panose="020B0604020202020204" pitchFamily="34" charset="0"/>
                <a:cs typeface="Arial" panose="020B0604020202020204" pitchFamily="34" charset="0"/>
              </a:rPr>
              <a:t>に対する感想 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3A487ADB-825B-24F5-50C3-EC7EC4AE91FA}"/>
              </a:ext>
            </a:extLst>
          </p:cNvPr>
          <p:cNvCxnSpPr>
            <a:cxnSpLocks/>
          </p:cNvCxnSpPr>
          <p:nvPr/>
        </p:nvCxnSpPr>
        <p:spPr>
          <a:xfrm>
            <a:off x="480767" y="1216058"/>
            <a:ext cx="1101993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E3D2129D-CBB4-C6BB-B6D0-573A100D6D69}"/>
              </a:ext>
            </a:extLst>
          </p:cNvPr>
          <p:cNvSpPr txBox="1"/>
          <p:nvPr/>
        </p:nvSpPr>
        <p:spPr>
          <a:xfrm>
            <a:off x="575036" y="1459348"/>
            <a:ext cx="10595728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Azure Synapse Analytics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（旧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Azure Data Warehouse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）は、その名の通り、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TB/PB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レベルの大規模データ分析用の分析基盤（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OLAP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）です。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ETL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、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DW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、データ処理、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BI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などの作業に適しています。</a:t>
            </a:r>
            <a:endParaRPr lang="en-US" altLang="ja-JP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Cosmos DB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はトランザクション処理（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OLTP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）向けのデータベースであるため、特定の範囲内におけるリアルタイムなデータ登録や検索作業に適しています。</a:t>
            </a:r>
            <a:endParaRPr lang="en-US" altLang="ja-JP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他に、調査によると、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Azure AI Search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は近傍検索機能が強力であり、かつベクトル検索も可能です。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Azure AI Search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でクエリを実行するために、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Cosmos DB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からデータのインデックスを作成すれば？</a:t>
            </a:r>
            <a:endParaRPr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9093955"/>
      </p:ext>
    </p:extLst>
  </p:cSld>
  <p:clrMapOvr>
    <a:masterClrMapping/>
  </p:clrMapOvr>
</p:sld>
</file>

<file path=ppt/theme/theme1.xml><?xml version="1.0" encoding="utf-8"?>
<a:theme xmlns:a="http://schemas.openxmlformats.org/drawingml/2006/main" name="水滴">
  <a:themeElements>
    <a:clrScheme name="水滴">
      <a:dk1>
        <a:sysClr val="windowText" lastClr="000000"/>
      </a:dk1>
      <a:lt1>
        <a:sysClr val="window" lastClr="FFFFFF"/>
      </a:lt1>
      <a:dk2>
        <a:srgbClr val="1C647B"/>
      </a:dk2>
      <a:lt2>
        <a:srgbClr val="98B7D3"/>
      </a:lt2>
      <a:accent1>
        <a:srgbClr val="274FA4"/>
      </a:accent1>
      <a:accent2>
        <a:srgbClr val="48A8D0"/>
      </a:accent2>
      <a:accent3>
        <a:srgbClr val="53B18F"/>
      </a:accent3>
      <a:accent4>
        <a:srgbClr val="D78D38"/>
      </a:accent4>
      <a:accent5>
        <a:srgbClr val="BA3F51"/>
      </a:accent5>
      <a:accent6>
        <a:srgbClr val="AE52D9"/>
      </a:accent6>
      <a:hlink>
        <a:srgbClr val="2AA2DA"/>
      </a:hlink>
      <a:folHlink>
        <a:srgbClr val="76A3B8"/>
      </a:folHlink>
    </a:clrScheme>
    <a:fontScheme name="水滴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水滴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92000"/>
                <a:satMod val="180000"/>
                <a:lumMod val="114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DEB094D4-7FD8-4F86-93D5-B0F1341EF586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水滴</Template>
  <TotalTime>1080</TotalTime>
  <Words>440</Words>
  <Application>Microsoft Office PowerPoint</Application>
  <PresentationFormat>宽屏</PresentationFormat>
  <Paragraphs>41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7" baseType="lpstr">
      <vt:lpstr>等线</vt:lpstr>
      <vt:lpstr>Arial</vt:lpstr>
      <vt:lpstr>Tw Cen MT</vt:lpstr>
      <vt:lpstr>水滴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Ken</dc:creator>
  <cp:lastModifiedBy>Ken</cp:lastModifiedBy>
  <cp:revision>71</cp:revision>
  <dcterms:created xsi:type="dcterms:W3CDTF">2025-03-30T14:09:38Z</dcterms:created>
  <dcterms:modified xsi:type="dcterms:W3CDTF">2025-04-01T13:20:24Z</dcterms:modified>
</cp:coreProperties>
</file>