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88A6A1-FD45-4F1A-B768-A43920C26D83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B942DA-808F-49A4-90E9-66787200AC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616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BED270-11FB-DA5A-642B-607D95D3B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4906A9-2793-4039-87D0-57C1226CF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392612-3FC5-B84A-8A76-249503D2A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E1747-CEF8-44FE-A978-CEA4299D0553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2D55A8-33C6-3F1E-C49E-F61895674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C9A521-899C-3029-4B91-EC5BC5C01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73B1-FC58-4709-A386-4105D2B76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997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5C4D1E-226F-3414-1649-5FD357EC9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5BA964-12D2-C882-84CC-CB55C90D5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463A41-9A2C-70F3-4AB4-B5D842994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E1747-CEF8-44FE-A978-CEA4299D0553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EBD338-D3F8-CE28-7359-E98D83264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7DDEA6-AD83-A8AE-59B4-63BB09168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73B1-FC58-4709-A386-4105D2B76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1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9F2BD-4E2B-D537-0421-1B7976A53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492343-B35E-04D6-9E72-502D4ED78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C429E6-2FCF-05F5-EF0A-78BCE12E4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E1747-CEF8-44FE-A978-CEA4299D0553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968FE0-3A45-9F06-CADB-5BE47AD12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E49EC0-0065-9319-E745-56C1BD5FC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73B1-FC58-4709-A386-4105D2B76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906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E3837F-0B03-7075-28A6-527EB6E04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19C4F1-088A-239E-1E55-085C73791F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CDDD66-3D83-E5EC-87DE-A44040E81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ABA289-7CB3-6B44-2E37-B88B62B05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E1747-CEF8-44FE-A978-CEA4299D0553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0D4CC7-70BC-25D6-508C-AD9B4F72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D93F97-358B-3182-99E3-C5C4AF2FB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73B1-FC58-4709-A386-4105D2B76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20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3210D0-0BC3-94AB-2CF8-792A9F4C9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B0EE4D-DEBF-C2CB-A529-C98483C67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6E1841-9F8C-E2E1-2AC5-EF7AD5F38F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4F7549C-95D9-A41E-F75C-BDF4BCAD0E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A8023ED-E62A-1D0C-EAE9-FCB18F583D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B35DD59-B746-F168-C223-6BC74FCA1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E1747-CEF8-44FE-A978-CEA4299D0553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3F3BC9-A12E-997D-9294-FD51413AB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6971B4D-AE4F-BBCC-4D90-0159CE0C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73B1-FC58-4709-A386-4105D2B76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93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61B0F6-DE05-EB4A-4754-333F4A506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6A89BA-1A16-267C-6075-61EB82783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E1747-CEF8-44FE-A978-CEA4299D0553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98BEECA-E18F-FFD3-CAFC-59C701CB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7B201E-D21D-9104-4D90-454B137D6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73B1-FC58-4709-A386-4105D2B76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943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23278C2-3CBE-D007-0532-F70B201A1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E1747-CEF8-44FE-A978-CEA4299D0553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09B470-8771-0294-A184-F76137974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7C7A58-09AC-A1F7-5EA7-8AEE12684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73B1-FC58-4709-A386-4105D2B76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569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5AC034-7983-D0B2-8E8A-488417D47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911DAB-A46F-276F-DE43-BED60F111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0FC533-252C-40D8-ED98-7652C43C5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713236-D071-FBD7-6215-7FAF73355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E1747-CEF8-44FE-A978-CEA4299D0553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0346A1-A29D-8312-A284-3AAFBCEEA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CCD32B-DA06-8A57-1A08-3A0879617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73B1-FC58-4709-A386-4105D2B76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304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FA3356-4BB9-7A46-4C92-735C608D6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262DFB1-C5ED-C746-9D91-272431A5EB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CFBA33-0E2A-E132-B7CA-DB4C4BB6F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1D95F0-8739-7A22-ABD8-4AC885E6F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E1747-CEF8-44FE-A978-CEA4299D0553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BED465-AB93-B5CD-DCF3-372C4BA79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962008-D1FD-89D0-16A5-45217AFF6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73B1-FC58-4709-A386-4105D2B76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833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EDEA19-7E3D-6146-D072-3725D745D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D32DED-EDF0-885C-39AA-58CD7E84E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9FAE4D-6CE4-FA61-C660-D8A8E840D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E1747-CEF8-44FE-A978-CEA4299D0553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42032A-6190-24E7-C218-6E4B81E51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E021DC-5E93-A7F0-908E-E9E3BF87E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73B1-FC58-4709-A386-4105D2B76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610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A9D878D-7177-F3EC-378E-385B3EFC26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6752D8-C4E6-3772-902B-C69BFE1C4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0ABE64-F182-4EEE-3093-BE4AB05D2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E1747-CEF8-44FE-A978-CEA4299D0553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45276-5465-F6BE-C624-F8AE91AD2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918BD1-AD65-CE89-0C5B-94C91BDEA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73B1-FC58-4709-A386-4105D2B76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672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4399150-5D1D-4347-1D05-8DE7D24F1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0569A6-2BCD-57C4-1D74-7B205CD46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067778-0067-B6B6-E335-08DBD2D83E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E1747-CEF8-44FE-A978-CEA4299D0553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94FA21-D091-4E90-C437-A7CA724121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70D736-F223-0432-FA69-D8A837198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B073B1-FC58-4709-A386-4105D2B76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328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CCC7137-6D8E-5015-FA3E-8AEC3E639B4D}"/>
              </a:ext>
            </a:extLst>
          </p:cNvPr>
          <p:cNvSpPr txBox="1"/>
          <p:nvPr/>
        </p:nvSpPr>
        <p:spPr>
          <a:xfrm>
            <a:off x="409434" y="586853"/>
            <a:ext cx="10638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検索式生成のためのキーワード選別案と生成フローの検討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87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F1C3A-E7F6-4F9A-365B-7466629B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6EF1A62-E2E1-59A3-CE60-E2AA53334D71}"/>
              </a:ext>
            </a:extLst>
          </p:cNvPr>
          <p:cNvSpPr txBox="1"/>
          <p:nvPr/>
        </p:nvSpPr>
        <p:spPr>
          <a:xfrm>
            <a:off x="464025" y="511790"/>
            <a:ext cx="10638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背景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D782AA-41C1-8CF8-FDD8-1B721AD3D036}"/>
              </a:ext>
            </a:extLst>
          </p:cNvPr>
          <p:cNvSpPr txBox="1"/>
          <p:nvPr/>
        </p:nvSpPr>
        <p:spPr>
          <a:xfrm>
            <a:off x="580030" y="1139588"/>
            <a:ext cx="108294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ja-JP" altLang="en-US" dirty="0"/>
              <a:t>この資料では、以下の</a:t>
            </a:r>
            <a:r>
              <a:rPr lang="en-US" altLang="ja-JP" dirty="0"/>
              <a:t>2</a:t>
            </a:r>
            <a:r>
              <a:rPr lang="ja-JP" altLang="en-US" dirty="0"/>
              <a:t>点について説明します。</a:t>
            </a:r>
            <a:endParaRPr lang="en-US" altLang="ja-JP" dirty="0"/>
          </a:p>
          <a:p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IPC</a:t>
            </a:r>
            <a:r>
              <a:rPr lang="ja-JP" altLang="en-US" dirty="0"/>
              <a:t>コードと特許データ（タイトル、クレーム、要約）を組み合わせ、キーワードリストを適切に作成する方法</a:t>
            </a:r>
            <a:endParaRPr lang="en-US" altLang="ja-JP" dirty="0"/>
          </a:p>
          <a:p>
            <a:pPr>
              <a:buFont typeface="+mj-lt"/>
              <a:buAutoNum type="arabicPeriod"/>
            </a:pPr>
            <a:endParaRPr lang="ja-JP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作成したキーワードリストを</a:t>
            </a:r>
            <a:r>
              <a:rPr lang="en-US" altLang="ja-JP" dirty="0"/>
              <a:t>IPC</a:t>
            </a:r>
            <a:r>
              <a:rPr lang="ja-JP" altLang="en-US" dirty="0"/>
              <a:t>コードと紐付け、テキスト検索やベクトル検索を通じて</a:t>
            </a:r>
            <a:r>
              <a:rPr lang="en-US" altLang="ja-JP" dirty="0"/>
              <a:t>LLM</a:t>
            </a:r>
            <a:r>
              <a:rPr lang="ja-JP" altLang="en-US" dirty="0"/>
              <a:t>モデルの推定精度を向上させるアプローチ</a:t>
            </a:r>
          </a:p>
        </p:txBody>
      </p:sp>
    </p:spTree>
    <p:extLst>
      <p:ext uri="{BB962C8B-B14F-4D97-AF65-F5344CB8AC3E}">
        <p14:creationId xmlns:p14="http://schemas.microsoft.com/office/powerpoint/2010/main" val="618895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6EBAE-7707-C462-F920-846D28A7E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2DACB21-1053-9C5D-BC88-195EB9B12C46}"/>
              </a:ext>
            </a:extLst>
          </p:cNvPr>
          <p:cNvSpPr txBox="1"/>
          <p:nvPr/>
        </p:nvSpPr>
        <p:spPr>
          <a:xfrm>
            <a:off x="464025" y="511790"/>
            <a:ext cx="10638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キーワード選別の紹介 </a:t>
            </a:r>
            <a:r>
              <a:rPr lang="en-US" altLang="ja-JP" dirty="0"/>
              <a:t>- 1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A9A50EE-AC04-D63B-09AE-5386C10AC97D}"/>
              </a:ext>
            </a:extLst>
          </p:cNvPr>
          <p:cNvSpPr txBox="1"/>
          <p:nvPr/>
        </p:nvSpPr>
        <p:spPr>
          <a:xfrm>
            <a:off x="580030" y="1139588"/>
            <a:ext cx="10829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ja-JP" altLang="en-US" dirty="0"/>
              <a:t>本ページは、如何に</a:t>
            </a:r>
            <a:r>
              <a:rPr lang="en-US" altLang="ja-JP" dirty="0" err="1"/>
              <a:t>Mecab</a:t>
            </a:r>
            <a:r>
              <a:rPr lang="en-US" altLang="ja-JP" dirty="0"/>
              <a:t>-NeologD</a:t>
            </a:r>
            <a:r>
              <a:rPr lang="ja-JP" altLang="en-US" dirty="0"/>
              <a:t>を使用して特許データからキーワードを洗い出すのかを説明します。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93FAAD-3354-42F9-9A7A-A17511D89F23}"/>
              </a:ext>
            </a:extLst>
          </p:cNvPr>
          <p:cNvSpPr/>
          <p:nvPr/>
        </p:nvSpPr>
        <p:spPr>
          <a:xfrm>
            <a:off x="702860" y="1857804"/>
            <a:ext cx="2374710" cy="6380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ysClr val="windowText" lastClr="000000"/>
                </a:solidFill>
              </a:rPr>
              <a:t>データの準備</a:t>
            </a:r>
            <a:endParaRPr lang="zh-CN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B64BF49-7EFB-CEE9-6948-1540C664275C}"/>
              </a:ext>
            </a:extLst>
          </p:cNvPr>
          <p:cNvSpPr/>
          <p:nvPr/>
        </p:nvSpPr>
        <p:spPr>
          <a:xfrm>
            <a:off x="3712192" y="1695736"/>
            <a:ext cx="7499445" cy="9621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dirty="0">
                <a:solidFill>
                  <a:sysClr val="windowText" lastClr="000000"/>
                </a:solidFill>
              </a:rPr>
              <a:t>B60W30/00: </a:t>
            </a:r>
            <a:r>
              <a:rPr lang="zh-CN" altLang="en-US" sz="1600" dirty="0">
                <a:solidFill>
                  <a:sysClr val="windowText" lastClr="000000"/>
                </a:solidFill>
              </a:rPr>
              <a:t>車両制御、自動運転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　</a:t>
            </a:r>
            <a:endParaRPr lang="en-US" altLang="ja-JP" sz="1600" dirty="0">
              <a:solidFill>
                <a:sysClr val="windowText" lastClr="000000"/>
              </a:solidFill>
            </a:endParaRPr>
          </a:p>
          <a:p>
            <a:r>
              <a:rPr lang="en-US" altLang="ja-JP" sz="1600" dirty="0">
                <a:solidFill>
                  <a:sysClr val="windowText" lastClr="000000"/>
                </a:solidFill>
              </a:rPr>
              <a:t>TI: </a:t>
            </a:r>
            <a:r>
              <a:rPr lang="zh-CN" altLang="en-US" sz="1600" dirty="0">
                <a:solidFill>
                  <a:sysClr val="windowText" lastClr="000000"/>
                </a:solidFill>
              </a:rPr>
              <a:t>車両制御装置</a:t>
            </a:r>
            <a:endParaRPr lang="en-US" altLang="zh-CN" sz="1600" dirty="0">
              <a:solidFill>
                <a:sysClr val="windowText" lastClr="000000"/>
              </a:solidFill>
            </a:endParaRPr>
          </a:p>
          <a:p>
            <a:r>
              <a:rPr lang="en-US" altLang="zh-CN" sz="1600" dirty="0">
                <a:solidFill>
                  <a:sysClr val="windowText" lastClr="000000"/>
                </a:solidFill>
              </a:rPr>
              <a:t>CL: </a:t>
            </a:r>
            <a:r>
              <a:rPr lang="zh-CN" altLang="en-US" sz="1600" dirty="0">
                <a:solidFill>
                  <a:sysClr val="windowText" lastClr="000000"/>
                </a:solidFill>
              </a:rPr>
              <a:t>車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両の走行を制御する車両制御装置であって、センサと、制御部とを備える</a:t>
            </a:r>
            <a:endParaRPr lang="en-US" altLang="ja-JP" sz="1600" dirty="0">
              <a:solidFill>
                <a:sysClr val="windowText" lastClr="000000"/>
              </a:solidFill>
            </a:endParaRPr>
          </a:p>
          <a:p>
            <a:r>
              <a:rPr lang="en-US" altLang="zh-CN" sz="1600" dirty="0">
                <a:solidFill>
                  <a:sysClr val="windowText" lastClr="000000"/>
                </a:solidFill>
              </a:rPr>
              <a:t>AB: 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自動運転に適用可能な車両制御技術</a:t>
            </a:r>
            <a:endParaRPr lang="zh-CN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0B8C104-C548-E914-693B-08AC7966B21F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>
            <a:off x="1890215" y="2495834"/>
            <a:ext cx="0" cy="614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04040A83-07E2-AFF3-1307-4B443AEA4288}"/>
              </a:ext>
            </a:extLst>
          </p:cNvPr>
          <p:cNvSpPr/>
          <p:nvPr/>
        </p:nvSpPr>
        <p:spPr>
          <a:xfrm>
            <a:off x="702860" y="3109983"/>
            <a:ext cx="2374710" cy="6380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ysClr val="windowText" lastClr="000000"/>
                </a:solidFill>
              </a:rPr>
              <a:t>文字列生成と</a:t>
            </a:r>
            <a:endParaRPr lang="en-US" altLang="ja-JP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600" dirty="0">
                <a:solidFill>
                  <a:sysClr val="windowText" lastClr="000000"/>
                </a:solidFill>
              </a:rPr>
              <a:t>品詞分解</a:t>
            </a:r>
            <a:endParaRPr lang="zh-CN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F1D191D-E1DA-2315-6F7D-C0B012CE0B54}"/>
              </a:ext>
            </a:extLst>
          </p:cNvPr>
          <p:cNvSpPr/>
          <p:nvPr/>
        </p:nvSpPr>
        <p:spPr>
          <a:xfrm>
            <a:off x="3712192" y="3050273"/>
            <a:ext cx="7499445" cy="7574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600" dirty="0">
                <a:solidFill>
                  <a:sysClr val="windowText" lastClr="000000"/>
                </a:solidFill>
              </a:rPr>
              <a:t>車両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制御装置。車両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の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走行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を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制御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する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車両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制御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装置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であって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 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、センサ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と、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 /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制御部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と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を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備える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 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。自動運転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に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適用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可能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な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車両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制御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技術</a:t>
            </a:r>
            <a:endParaRPr lang="zh-CN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47DBDE-27B6-A197-05C5-1613AC262F2A}"/>
              </a:ext>
            </a:extLst>
          </p:cNvPr>
          <p:cNvSpPr/>
          <p:nvPr/>
        </p:nvSpPr>
        <p:spPr>
          <a:xfrm>
            <a:off x="702860" y="4309281"/>
            <a:ext cx="2374710" cy="6380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ysClr val="windowText" lastClr="000000"/>
                </a:solidFill>
              </a:rPr>
              <a:t>名詞・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Stop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 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word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フィルターと接尾結合</a:t>
            </a:r>
            <a:endParaRPr lang="en-US" altLang="ja-JP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A96A29E-3FC2-F892-667B-599B7089A8C5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>
            <a:off x="1890215" y="3748012"/>
            <a:ext cx="0" cy="561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00F05824-9076-B910-1917-9AA1CC65CB05}"/>
              </a:ext>
            </a:extLst>
          </p:cNvPr>
          <p:cNvSpPr/>
          <p:nvPr/>
        </p:nvSpPr>
        <p:spPr>
          <a:xfrm>
            <a:off x="3712191" y="4249569"/>
            <a:ext cx="7499445" cy="7574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600" dirty="0">
                <a:solidFill>
                  <a:sysClr val="windowText" lastClr="000000"/>
                </a:solidFill>
              </a:rPr>
              <a:t>車両、制御装置、走行、制御、センサ、制御部、自動運転、適用、技術</a:t>
            </a:r>
            <a:endParaRPr lang="zh-CN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18C3351-DA11-E1E4-2DCF-A8FE245FA192}"/>
              </a:ext>
            </a:extLst>
          </p:cNvPr>
          <p:cNvSpPr/>
          <p:nvPr/>
        </p:nvSpPr>
        <p:spPr>
          <a:xfrm>
            <a:off x="702860" y="5508579"/>
            <a:ext cx="2374710" cy="6380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ysClr val="windowText" lastClr="000000"/>
                </a:solidFill>
              </a:rPr>
              <a:t>Ngram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の検討</a:t>
            </a:r>
            <a:endParaRPr lang="en-US" altLang="ja-JP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480E9C7-B949-2542-5A92-B38F6D0BC760}"/>
              </a:ext>
            </a:extLst>
          </p:cNvPr>
          <p:cNvCxnSpPr>
            <a:cxnSpLocks/>
            <a:stCxn id="12" idx="2"/>
            <a:endCxn id="26" idx="0"/>
          </p:cNvCxnSpPr>
          <p:nvPr/>
        </p:nvCxnSpPr>
        <p:spPr>
          <a:xfrm>
            <a:off x="1890215" y="4947310"/>
            <a:ext cx="0" cy="561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1B67E8BE-DB3D-76A8-28E2-804719FE891F}"/>
              </a:ext>
            </a:extLst>
          </p:cNvPr>
          <p:cNvSpPr/>
          <p:nvPr/>
        </p:nvSpPr>
        <p:spPr>
          <a:xfrm>
            <a:off x="3712190" y="5448865"/>
            <a:ext cx="7499445" cy="7574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600" dirty="0">
                <a:solidFill>
                  <a:srgbClr val="FF0000"/>
                </a:solidFill>
              </a:rPr>
              <a:t>車両制御装置</a:t>
            </a:r>
            <a:r>
              <a:rPr lang="ja-JP" altLang="en-US" sz="1600" dirty="0">
                <a:solidFill>
                  <a:sysClr val="windowText" lastClr="000000"/>
                </a:solidFill>
              </a:rPr>
              <a:t>、走行、制御、センサ、制御部、自動運転、適用、</a:t>
            </a:r>
            <a:r>
              <a:rPr lang="ja-JP" altLang="en-US" sz="1600" dirty="0">
                <a:solidFill>
                  <a:srgbClr val="FF0000"/>
                </a:solidFill>
              </a:rPr>
              <a:t>車両制御技術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638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E3480-3299-16B1-CDEB-91E811396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0029AE8-6DF6-C2C2-2934-C921C12FCA39}"/>
              </a:ext>
            </a:extLst>
          </p:cNvPr>
          <p:cNvSpPr txBox="1"/>
          <p:nvPr/>
        </p:nvSpPr>
        <p:spPr>
          <a:xfrm>
            <a:off x="464025" y="511790"/>
            <a:ext cx="10638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キーワード選別の紹介 </a:t>
            </a:r>
            <a:r>
              <a:rPr lang="en-US" altLang="ja-JP" dirty="0"/>
              <a:t>- 2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A16EC23-BA6F-659E-6AE2-A2751E6FB07E}"/>
              </a:ext>
            </a:extLst>
          </p:cNvPr>
          <p:cNvSpPr txBox="1"/>
          <p:nvPr/>
        </p:nvSpPr>
        <p:spPr>
          <a:xfrm>
            <a:off x="580030" y="1139588"/>
            <a:ext cx="10829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ja-JP" altLang="en-US" dirty="0"/>
              <a:t>本ページは、</a:t>
            </a:r>
            <a:r>
              <a:rPr lang="en-US" altLang="ja-JP" dirty="0"/>
              <a:t>1</a:t>
            </a:r>
            <a:r>
              <a:rPr lang="ja-JP" altLang="en-US" dirty="0"/>
              <a:t>で洗い出したキーワードをスコアついてソートする方法を説明します。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F1A49BA-E3A4-AE4B-28BE-4EBA5B376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588202"/>
              </p:ext>
            </p:extLst>
          </p:nvPr>
        </p:nvGraphicFramePr>
        <p:xfrm>
          <a:off x="1663510" y="1702304"/>
          <a:ext cx="772406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4689">
                  <a:extLst>
                    <a:ext uri="{9D8B030D-6E8A-4147-A177-3AD203B41FA5}">
                      <a16:colId xmlns:a16="http://schemas.microsoft.com/office/drawing/2014/main" val="4110306677"/>
                    </a:ext>
                  </a:extLst>
                </a:gridCol>
                <a:gridCol w="2574689">
                  <a:extLst>
                    <a:ext uri="{9D8B030D-6E8A-4147-A177-3AD203B41FA5}">
                      <a16:colId xmlns:a16="http://schemas.microsoft.com/office/drawing/2014/main" val="732235354"/>
                    </a:ext>
                  </a:extLst>
                </a:gridCol>
                <a:gridCol w="2574689">
                  <a:extLst>
                    <a:ext uri="{9D8B030D-6E8A-4147-A177-3AD203B41FA5}">
                      <a16:colId xmlns:a16="http://schemas.microsoft.com/office/drawing/2014/main" val="1511981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dirty="0"/>
                        <a:t>ボーナス項目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制御装置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自動運転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974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 sz="1600" dirty="0"/>
                        <a:t>長さ</a:t>
                      </a:r>
                      <a:r>
                        <a:rPr lang="en-US" altLang="ja-JP" sz="1600" dirty="0"/>
                        <a:t>(2/4/6)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1.25*1.5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1.25*1.5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8061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 sz="1600" dirty="0"/>
                        <a:t>技術接尾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600" dirty="0"/>
                        <a:t>1.25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-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40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sz="1600" dirty="0"/>
                        <a:t>Title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2.0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-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0880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IPC Desc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2.0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264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 sz="1600" dirty="0"/>
                        <a:t>カタカタのみ及び</a:t>
                      </a:r>
                      <a:r>
                        <a:rPr lang="en-US" altLang="ja-JP" sz="1600" dirty="0"/>
                        <a:t>AB</a:t>
                      </a:r>
                      <a:r>
                        <a:rPr lang="ja-JP" altLang="en-US" sz="1600" dirty="0"/>
                        <a:t>のみ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-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-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9227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 sz="1600" dirty="0"/>
                        <a:t>トータルボーナス係数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1.25*1.5*1.25*2=4.6875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1.25*1.5*2=3.75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407713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7044F570-1ADF-E5E7-2C29-DE2D66FA26D8}"/>
              </a:ext>
            </a:extLst>
          </p:cNvPr>
          <p:cNvSpPr/>
          <p:nvPr/>
        </p:nvSpPr>
        <p:spPr>
          <a:xfrm>
            <a:off x="1057700" y="4595880"/>
            <a:ext cx="9089411" cy="7574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600" b="1" dirty="0">
                <a:solidFill>
                  <a:schemeClr val="tx1"/>
                </a:solidFill>
              </a:rPr>
              <a:t>キーワードリスト</a:t>
            </a:r>
            <a:r>
              <a:rPr lang="en-US" altLang="ja-JP" sz="1600" dirty="0">
                <a:solidFill>
                  <a:schemeClr val="tx1"/>
                </a:solidFill>
              </a:rPr>
              <a:t>:</a:t>
            </a:r>
          </a:p>
          <a:p>
            <a:r>
              <a:rPr lang="ja-JP" altLang="en-US" sz="1600" dirty="0">
                <a:solidFill>
                  <a:sysClr val="windowText" lastClr="000000"/>
                </a:solidFill>
              </a:rPr>
              <a:t>制御装置、自動運転、センサ、制御部、車両、走行、制御、適用、技術</a:t>
            </a:r>
            <a:endParaRPr lang="zh-CN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E34A24-F6AA-B60F-0418-3B61275B88C2}"/>
              </a:ext>
            </a:extLst>
          </p:cNvPr>
          <p:cNvSpPr txBox="1"/>
          <p:nvPr/>
        </p:nvSpPr>
        <p:spPr>
          <a:xfrm>
            <a:off x="464025" y="5874520"/>
            <a:ext cx="10829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ja-JP" sz="1600" dirty="0"/>
              <a:t>※</a:t>
            </a:r>
            <a:r>
              <a:rPr lang="ja-JP" altLang="en-US" sz="1600" dirty="0"/>
              <a:t>次のステップには同じサブグループの下の特許データを</a:t>
            </a:r>
            <a:r>
              <a:rPr lang="en-US" altLang="ja-JP" sz="1600" dirty="0"/>
              <a:t>TF-IDF</a:t>
            </a:r>
            <a:r>
              <a:rPr lang="ja-JP" altLang="en-US" sz="1600" dirty="0"/>
              <a:t>によってキーワードリストを生成する</a:t>
            </a:r>
          </a:p>
        </p:txBody>
      </p:sp>
    </p:spTree>
    <p:extLst>
      <p:ext uri="{BB962C8B-B14F-4D97-AF65-F5344CB8AC3E}">
        <p14:creationId xmlns:p14="http://schemas.microsoft.com/office/powerpoint/2010/main" val="332301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3CA64-637F-A181-3F97-D5B7B1B7A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A9C4F6A-6819-90CD-CD73-A3BFC7044D78}"/>
              </a:ext>
            </a:extLst>
          </p:cNvPr>
          <p:cNvSpPr txBox="1"/>
          <p:nvPr/>
        </p:nvSpPr>
        <p:spPr>
          <a:xfrm>
            <a:off x="464025" y="511790"/>
            <a:ext cx="10638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キーワードリストを基づいて</a:t>
            </a:r>
            <a:r>
              <a:rPr lang="en-US" altLang="ja-JP" dirty="0"/>
              <a:t>IPC</a:t>
            </a:r>
            <a:r>
              <a:rPr lang="ja-JP" altLang="en-US" dirty="0"/>
              <a:t>コードの推定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571E53-244E-1CFF-2026-0E4F930F0F5D}"/>
              </a:ext>
            </a:extLst>
          </p:cNvPr>
          <p:cNvSpPr txBox="1"/>
          <p:nvPr/>
        </p:nvSpPr>
        <p:spPr>
          <a:xfrm>
            <a:off x="580030" y="1139588"/>
            <a:ext cx="10829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ja-JP" altLang="en-US" dirty="0"/>
              <a:t>本ページは、如何にキーワードリストを活用して</a:t>
            </a:r>
            <a:r>
              <a:rPr lang="en-US" altLang="ja-JP" dirty="0"/>
              <a:t>IPC</a:t>
            </a:r>
            <a:r>
              <a:rPr lang="ja-JP" altLang="en-US" dirty="0"/>
              <a:t>コードの推定精度を向上させるのかを検討します。</a:t>
            </a:r>
          </a:p>
        </p:txBody>
      </p:sp>
      <p:pic>
        <p:nvPicPr>
          <p:cNvPr id="6" name="图形 5" descr="男侦探 轮廓">
            <a:extLst>
              <a:ext uri="{FF2B5EF4-FFF2-40B4-BE49-F238E27FC236}">
                <a16:creationId xmlns:a16="http://schemas.microsoft.com/office/drawing/2014/main" id="{FC220243-385E-C272-15F0-16E225712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6041" y="1933144"/>
            <a:ext cx="664186" cy="66418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EA8E83C-5C13-7585-B36D-02AB95F4E845}"/>
              </a:ext>
            </a:extLst>
          </p:cNvPr>
          <p:cNvSpPr/>
          <p:nvPr/>
        </p:nvSpPr>
        <p:spPr>
          <a:xfrm>
            <a:off x="2214349" y="1841013"/>
            <a:ext cx="1781033" cy="342922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検索内容入力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13" name="图形 12" descr="人工智能 轮廓">
            <a:extLst>
              <a:ext uri="{FF2B5EF4-FFF2-40B4-BE49-F238E27FC236}">
                <a16:creationId xmlns:a16="http://schemas.microsoft.com/office/drawing/2014/main" id="{D873D45C-23D8-27EF-6BFC-BFBBDB8035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49505" y="1933144"/>
            <a:ext cx="664185" cy="664186"/>
          </a:xfrm>
          <a:prstGeom prst="rect">
            <a:avLst/>
          </a:prstGeom>
        </p:spPr>
      </p:pic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14D1596-FB79-FD7B-E784-156FBF7AA5AB}"/>
              </a:ext>
            </a:extLst>
          </p:cNvPr>
          <p:cNvCxnSpPr>
            <a:stCxn id="6" idx="3"/>
            <a:endCxn id="13" idx="1"/>
          </p:cNvCxnSpPr>
          <p:nvPr/>
        </p:nvCxnSpPr>
        <p:spPr>
          <a:xfrm>
            <a:off x="1360227" y="2265237"/>
            <a:ext cx="348927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C82427CD-9109-291B-024B-F88A3FDF4F61}"/>
              </a:ext>
            </a:extLst>
          </p:cNvPr>
          <p:cNvSpPr/>
          <p:nvPr/>
        </p:nvSpPr>
        <p:spPr>
          <a:xfrm>
            <a:off x="2214348" y="2346540"/>
            <a:ext cx="1781033" cy="342922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意図確認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E8BA7C03-D64F-EC8C-4527-0CFD19A465E9}"/>
              </a:ext>
            </a:extLst>
          </p:cNvPr>
          <p:cNvCxnSpPr>
            <a:cxnSpLocks/>
            <a:stCxn id="13" idx="2"/>
            <a:endCxn id="26" idx="0"/>
          </p:cNvCxnSpPr>
          <p:nvPr/>
        </p:nvCxnSpPr>
        <p:spPr>
          <a:xfrm rot="5400000">
            <a:off x="3272051" y="1617535"/>
            <a:ext cx="929753" cy="28893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03494341-6C83-EB02-D3EE-3BAF6FAFDF3F}"/>
              </a:ext>
            </a:extLst>
          </p:cNvPr>
          <p:cNvSpPr/>
          <p:nvPr/>
        </p:nvSpPr>
        <p:spPr>
          <a:xfrm>
            <a:off x="1119116" y="3527083"/>
            <a:ext cx="2346277" cy="526302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Sub Class Desc</a:t>
            </a:r>
            <a:r>
              <a:rPr lang="ja-JP" altLang="en-US" sz="1400" dirty="0">
                <a:solidFill>
                  <a:schemeClr val="tx1"/>
                </a:solidFill>
              </a:rPr>
              <a:t>による</a:t>
            </a:r>
            <a:r>
              <a:rPr lang="en-US" altLang="ja-JP" sz="1400" dirty="0">
                <a:solidFill>
                  <a:schemeClr val="tx1"/>
                </a:solidFill>
              </a:rPr>
              <a:t>Subgroup Code</a:t>
            </a:r>
            <a:r>
              <a:rPr lang="ja-JP" altLang="en-US" sz="1400" dirty="0">
                <a:solidFill>
                  <a:schemeClr val="tx1"/>
                </a:solidFill>
              </a:rPr>
              <a:t>群選定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002D2CB-54E6-25FE-384F-2B69E92543FE}"/>
              </a:ext>
            </a:extLst>
          </p:cNvPr>
          <p:cNvSpPr/>
          <p:nvPr/>
        </p:nvSpPr>
        <p:spPr>
          <a:xfrm>
            <a:off x="5783240" y="3527083"/>
            <a:ext cx="2346277" cy="526302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Keyword</a:t>
            </a:r>
            <a:r>
              <a:rPr lang="ja-JP" altLang="en-US" sz="1400" dirty="0">
                <a:solidFill>
                  <a:schemeClr val="tx1"/>
                </a:solidFill>
              </a:rPr>
              <a:t> </a:t>
            </a:r>
            <a:r>
              <a:rPr lang="en-US" altLang="ja-JP" sz="1400" dirty="0">
                <a:solidFill>
                  <a:schemeClr val="tx1"/>
                </a:solidFill>
              </a:rPr>
              <a:t>list</a:t>
            </a:r>
            <a:r>
              <a:rPr lang="ja-JP" altLang="en-US" sz="1400" dirty="0">
                <a:solidFill>
                  <a:schemeClr val="tx1"/>
                </a:solidFill>
              </a:rPr>
              <a:t>によるベクトル検索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6AECBC2-21DA-C426-2C77-0760D5798A12}"/>
              </a:ext>
            </a:extLst>
          </p:cNvPr>
          <p:cNvSpPr/>
          <p:nvPr/>
        </p:nvSpPr>
        <p:spPr>
          <a:xfrm>
            <a:off x="5285095" y="2627595"/>
            <a:ext cx="1781033" cy="342922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キーワード生成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93BA20F-337D-5372-2A34-D118B8D10776}"/>
              </a:ext>
            </a:extLst>
          </p:cNvPr>
          <p:cNvSpPr/>
          <p:nvPr/>
        </p:nvSpPr>
        <p:spPr>
          <a:xfrm>
            <a:off x="3995381" y="5098359"/>
            <a:ext cx="2346277" cy="526302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Subgroup</a:t>
            </a:r>
            <a:r>
              <a:rPr lang="ja-JP" altLang="en-US" sz="1400" dirty="0">
                <a:solidFill>
                  <a:schemeClr val="tx1"/>
                </a:solidFill>
              </a:rPr>
              <a:t>による</a:t>
            </a:r>
            <a:r>
              <a:rPr lang="en-US" altLang="ja-JP" sz="1400" dirty="0">
                <a:solidFill>
                  <a:schemeClr val="tx1"/>
                </a:solidFill>
              </a:rPr>
              <a:t>Main group</a:t>
            </a:r>
            <a:r>
              <a:rPr lang="ja-JP" altLang="en-US" sz="1400" dirty="0">
                <a:solidFill>
                  <a:schemeClr val="tx1"/>
                </a:solidFill>
              </a:rPr>
              <a:t>推定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F7284F27-D7AA-B37F-44FB-D67E6720C4A3}"/>
              </a:ext>
            </a:extLst>
          </p:cNvPr>
          <p:cNvCxnSpPr>
            <a:cxnSpLocks/>
            <a:stCxn id="26" idx="2"/>
            <a:endCxn id="36" idx="0"/>
          </p:cNvCxnSpPr>
          <p:nvPr/>
        </p:nvCxnSpPr>
        <p:spPr>
          <a:xfrm rot="16200000" flipH="1">
            <a:off x="3207900" y="3137739"/>
            <a:ext cx="1044974" cy="28762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3CC58DB2-2400-ABB5-0AF2-ADE5B1934E75}"/>
              </a:ext>
            </a:extLst>
          </p:cNvPr>
          <p:cNvCxnSpPr>
            <a:cxnSpLocks/>
            <a:stCxn id="13" idx="2"/>
            <a:endCxn id="30" idx="0"/>
          </p:cNvCxnSpPr>
          <p:nvPr/>
        </p:nvCxnSpPr>
        <p:spPr>
          <a:xfrm rot="16200000" flipH="1">
            <a:off x="5604112" y="2174815"/>
            <a:ext cx="929753" cy="17747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8212CCA7-37A2-B0D5-00B0-FBBD08F1245F}"/>
              </a:ext>
            </a:extLst>
          </p:cNvPr>
          <p:cNvCxnSpPr>
            <a:cxnSpLocks/>
            <a:stCxn id="30" idx="2"/>
            <a:endCxn id="36" idx="0"/>
          </p:cNvCxnSpPr>
          <p:nvPr/>
        </p:nvCxnSpPr>
        <p:spPr>
          <a:xfrm rot="5400000">
            <a:off x="5539963" y="3681943"/>
            <a:ext cx="1044974" cy="17878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632C4A56-744E-4D97-0570-57F75AA133BA}"/>
              </a:ext>
            </a:extLst>
          </p:cNvPr>
          <p:cNvCxnSpPr>
            <a:cxnSpLocks/>
            <a:stCxn id="36" idx="3"/>
            <a:endCxn id="63" idx="2"/>
          </p:cNvCxnSpPr>
          <p:nvPr/>
        </p:nvCxnSpPr>
        <p:spPr>
          <a:xfrm flipV="1">
            <a:off x="6341658" y="4053385"/>
            <a:ext cx="3687739" cy="13081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C8B02648-7308-7535-0C9B-DB932CBD99F5}"/>
              </a:ext>
            </a:extLst>
          </p:cNvPr>
          <p:cNvSpPr/>
          <p:nvPr/>
        </p:nvSpPr>
        <p:spPr>
          <a:xfrm>
            <a:off x="8856258" y="3527083"/>
            <a:ext cx="2346277" cy="526302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Main group</a:t>
            </a:r>
            <a:r>
              <a:rPr lang="ja-JP" altLang="en-US" sz="1400" dirty="0">
                <a:solidFill>
                  <a:schemeClr val="tx1"/>
                </a:solidFill>
              </a:rPr>
              <a:t>によるキーワード存在性チェック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364665C4-B316-E358-2616-D8755DED6ACA}"/>
              </a:ext>
            </a:extLst>
          </p:cNvPr>
          <p:cNvCxnSpPr>
            <a:cxnSpLocks/>
            <a:stCxn id="36" idx="3"/>
            <a:endCxn id="70" idx="2"/>
          </p:cNvCxnSpPr>
          <p:nvPr/>
        </p:nvCxnSpPr>
        <p:spPr>
          <a:xfrm flipV="1">
            <a:off x="6341658" y="2597330"/>
            <a:ext cx="2012477" cy="276418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0" name="图形 69" descr="人工智能 轮廓">
            <a:extLst>
              <a:ext uri="{FF2B5EF4-FFF2-40B4-BE49-F238E27FC236}">
                <a16:creationId xmlns:a16="http://schemas.microsoft.com/office/drawing/2014/main" id="{D29820BC-2418-84F6-124B-24C43C9117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2042" y="1933144"/>
            <a:ext cx="664185" cy="664186"/>
          </a:xfrm>
          <a:prstGeom prst="rect">
            <a:avLst/>
          </a:prstGeom>
        </p:spPr>
      </p:pic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F5E9F545-4C3F-F953-B5E6-819347A748B6}"/>
              </a:ext>
            </a:extLst>
          </p:cNvPr>
          <p:cNvCxnSpPr>
            <a:cxnSpLocks/>
            <a:stCxn id="63" idx="0"/>
            <a:endCxn id="70" idx="2"/>
          </p:cNvCxnSpPr>
          <p:nvPr/>
        </p:nvCxnSpPr>
        <p:spPr>
          <a:xfrm rot="16200000" flipV="1">
            <a:off x="8726890" y="2224576"/>
            <a:ext cx="929753" cy="16752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0B3608B5-312B-EA25-38DA-F78B6B3E50EE}"/>
              </a:ext>
            </a:extLst>
          </p:cNvPr>
          <p:cNvCxnSpPr>
            <a:cxnSpLocks/>
            <a:stCxn id="70" idx="3"/>
            <a:endCxn id="77" idx="1"/>
          </p:cNvCxnSpPr>
          <p:nvPr/>
        </p:nvCxnSpPr>
        <p:spPr>
          <a:xfrm flipV="1">
            <a:off x="8686227" y="2265224"/>
            <a:ext cx="1954485" cy="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7" name="图形 76" descr="男侦探 轮廓">
            <a:extLst>
              <a:ext uri="{FF2B5EF4-FFF2-40B4-BE49-F238E27FC236}">
                <a16:creationId xmlns:a16="http://schemas.microsoft.com/office/drawing/2014/main" id="{25F87443-960C-5ACF-BDCE-1B0075691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12" y="1933131"/>
            <a:ext cx="664186" cy="664186"/>
          </a:xfrm>
          <a:prstGeom prst="rect">
            <a:avLst/>
          </a:prstGeom>
        </p:spPr>
      </p:pic>
      <p:sp>
        <p:nvSpPr>
          <p:cNvPr id="79" name="矩形 78">
            <a:extLst>
              <a:ext uri="{FF2B5EF4-FFF2-40B4-BE49-F238E27FC236}">
                <a16:creationId xmlns:a16="http://schemas.microsoft.com/office/drawing/2014/main" id="{0AA36BB3-A432-1F13-C858-288015703806}"/>
              </a:ext>
            </a:extLst>
          </p:cNvPr>
          <p:cNvSpPr/>
          <p:nvPr/>
        </p:nvSpPr>
        <p:spPr>
          <a:xfrm>
            <a:off x="8772952" y="1841000"/>
            <a:ext cx="1781033" cy="342922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検索式生成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520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588</Words>
  <Application>Microsoft Office PowerPoint</Application>
  <PresentationFormat>宽屏</PresentationFormat>
  <Paragraphs>56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天鑰 呉</dc:creator>
  <cp:lastModifiedBy>天鑰 呉</cp:lastModifiedBy>
  <cp:revision>77</cp:revision>
  <dcterms:created xsi:type="dcterms:W3CDTF">2025-06-05T06:38:14Z</dcterms:created>
  <dcterms:modified xsi:type="dcterms:W3CDTF">2025-06-05T12:51:37Z</dcterms:modified>
</cp:coreProperties>
</file>